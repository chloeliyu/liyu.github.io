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66" r:id="rId4"/>
    <p:sldId id="267" r:id="rId5"/>
    <p:sldId id="268" r:id="rId6"/>
    <p:sldId id="258" r:id="rId7"/>
    <p:sldId id="269" r:id="rId8"/>
    <p:sldId id="259" r:id="rId9"/>
    <p:sldId id="270" r:id="rId10"/>
    <p:sldId id="271" r:id="rId11"/>
    <p:sldId id="272" r:id="rId12"/>
    <p:sldId id="273" r:id="rId13"/>
    <p:sldId id="274" r:id="rId14"/>
    <p:sldId id="275" r:id="rId15"/>
    <p:sldId id="276" r:id="rId16"/>
    <p:sldId id="277" r:id="rId17"/>
    <p:sldId id="278" r:id="rId18"/>
    <p:sldId id="279" r:id="rId19"/>
    <p:sldId id="280" r:id="rId20"/>
    <p:sldId id="260" r:id="rId21"/>
    <p:sldId id="285" r:id="rId22"/>
    <p:sldId id="286" r:id="rId23"/>
    <p:sldId id="293" r:id="rId24"/>
    <p:sldId id="281" r:id="rId25"/>
    <p:sldId id="287" r:id="rId26"/>
    <p:sldId id="282" r:id="rId27"/>
    <p:sldId id="295" r:id="rId28"/>
    <p:sldId id="289" r:id="rId29"/>
    <p:sldId id="292" r:id="rId30"/>
    <p:sldId id="291" r:id="rId31"/>
    <p:sldId id="261" r:id="rId32"/>
    <p:sldId id="290" r:id="rId33"/>
    <p:sldId id="288" r:id="rId34"/>
    <p:sldId id="263" r:id="rId35"/>
    <p:sldId id="296" r:id="rId36"/>
    <p:sldId id="297" r:id="rId37"/>
    <p:sldId id="264" r:id="rId38"/>
    <p:sldId id="265" r:id="rId3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555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184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07047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4225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69096" y="-1188720"/>
            <a:ext cx="5486400" cy="5486400"/>
          </a:xfrm>
          <a:prstGeom prst="ellipse">
            <a:avLst/>
          </a:prstGeom>
          <a:solidFill>
            <a:srgbClr val="26306E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291840"/>
            <a:ext cx="3291840" cy="3291840"/>
          </a:xfrm>
          <a:prstGeom prst="ellipse">
            <a:avLst/>
          </a:prstGeom>
          <a:solidFill>
            <a:srgbClr val="222B6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87179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ADC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LINGUISTIC</a:t>
            </a:r>
            <a:r>
              <a:rPr lang="zh-CN" altLang="en-US" sz="1400" b="1" kern="0" spc="300" dirty="0">
                <a:solidFill>
                  <a:srgbClr val="CADC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</a:t>
            </a:r>
            <a:r>
              <a:rPr lang="en-US" altLang="zh-CN" sz="1400" b="1" kern="0" spc="300" dirty="0">
                <a:solidFill>
                  <a:srgbClr val="CADC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TYPOLOGY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65960"/>
            <a:ext cx="8686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</a:rPr>
              <a:t>语序类型学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2461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C9A2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Greenberg（1963）语言共性研究 · 语序部分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77240" y="5989320"/>
            <a:ext cx="2011680" cy="0"/>
          </a:xfrm>
          <a:prstGeom prst="line">
            <a:avLst/>
          </a:prstGeom>
          <a:noFill/>
          <a:ln w="25400">
            <a:solidFill>
              <a:srgbClr val="C9A24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6126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8891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WHU </a:t>
            </a:r>
            <a:r>
              <a:rPr lang="en-US" sz="1600" dirty="0" err="1">
                <a:solidFill>
                  <a:srgbClr val="8891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语言类型学</a:t>
            </a:r>
            <a:r>
              <a:rPr lang="en-US" sz="1600" dirty="0">
                <a:solidFill>
                  <a:srgbClr val="8891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·  </a:t>
            </a:r>
            <a:r>
              <a:rPr lang="en-US" sz="1600" dirty="0" err="1">
                <a:solidFill>
                  <a:srgbClr val="8891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LinType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9A24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   </a:t>
            </a:r>
            <a:r>
              <a:rPr lang="en-US" sz="1200" b="1" kern="0" spc="150" dirty="0">
                <a:solidFill>
                  <a:srgbClr val="C9A2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背景与方法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背景与方法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跨语言比较的经验基础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097780" cy="1943100"/>
          </a:xfrm>
          <a:prstGeom prst="roundRect">
            <a:avLst>
              <a:gd name="adj" fmla="val 3294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185416"/>
            <a:ext cx="45491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551176"/>
            <a:ext cx="454914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约瑟夫·格林伯格（Joseph H. Greenberg）于 1963 </a:t>
            </a:r>
            <a:r>
              <a:rPr lang="en-US" sz="1600" dirty="0" err="1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年发表《某些主要跟语序有关的语法共性</a:t>
            </a:r>
            <a:r>
              <a:rPr lang="en-US" sz="16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》</a:t>
            </a:r>
            <a:r>
              <a:rPr lang="zh-CN" altLang="en-US" sz="16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，其中共性</a:t>
            </a:r>
            <a:r>
              <a:rPr lang="en-US" altLang="zh-CN" sz="16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1-7</a:t>
            </a:r>
            <a:r>
              <a:rPr lang="zh-CN" altLang="en-US" sz="16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与基本语序相关，共性</a:t>
            </a:r>
            <a:r>
              <a:rPr lang="en-US" altLang="zh-CN" sz="16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8-25</a:t>
            </a:r>
            <a:r>
              <a:rPr lang="zh-CN" altLang="en-US" sz="16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与句法和句子中的局部成分语序有关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66460" y="1965960"/>
            <a:ext cx="5097780" cy="1943100"/>
          </a:xfrm>
          <a:prstGeom prst="roundRect">
            <a:avLst>
              <a:gd name="adj" fmla="val 3294"/>
            </a:avLst>
          </a:prstGeom>
          <a:solidFill>
            <a:srgbClr val="F4F6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240780" y="2185416"/>
            <a:ext cx="45491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抽样范围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240780" y="2606040"/>
            <a:ext cx="454914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从全球主要语系中选取约三十种语言作为抽样，兼顾谱系与地理上的多样性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4229100"/>
            <a:ext cx="5097780" cy="1943100"/>
          </a:xfrm>
          <a:prstGeom prst="roundRect">
            <a:avLst>
              <a:gd name="adj" fmla="val 3294"/>
            </a:avLst>
          </a:prstGeom>
          <a:solidFill>
            <a:srgbClr val="F4F6F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4448556"/>
            <a:ext cx="45491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研究方法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808446" y="4869180"/>
            <a:ext cx="454914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采用归纳类型学方法：先描写单语言的结构特征，再跨语言比较、归纳共性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966460" y="4229100"/>
            <a:ext cx="5097780" cy="1943100"/>
          </a:xfrm>
          <a:prstGeom prst="roundRect">
            <a:avLst>
              <a:gd name="adj" fmla="val 3294"/>
            </a:avLst>
          </a:prstGeom>
          <a:solidFill>
            <a:srgbClr val="C9A24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40780" y="4448556"/>
            <a:ext cx="45491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蕴含共性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240780" y="4869180"/>
            <a:ext cx="454914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5B4A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若语言具有特征 A，则倾向于具有特征 B（implicational universal）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E3E6EE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0773CBDC-AC9E-AA75-EBF2-ED3C8C1CD710}"/>
              </a:ext>
            </a:extLst>
          </p:cNvPr>
          <p:cNvSpPr txBox="1"/>
          <p:nvPr/>
        </p:nvSpPr>
        <p:spPr>
          <a:xfrm>
            <a:off x="548640" y="731520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</a:rPr>
              <a:t>Greenberg共性</a:t>
            </a:r>
            <a:r>
              <a:rPr lang="en-US" altLang="zh-CN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</a:rPr>
              <a:t>1-25</a:t>
            </a:r>
            <a:r>
              <a:rPr lang="zh-CN" altLang="en-US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</a:rPr>
              <a:t>概览</a:t>
            </a:r>
            <a:endParaRPr lang="en-US" sz="2800" dirty="0"/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DEB54B0B-910F-0CC0-2A76-A47177D79A7D}"/>
              </a:ext>
            </a:extLst>
          </p:cNvPr>
          <p:cNvSpPr/>
          <p:nvPr/>
        </p:nvSpPr>
        <p:spPr>
          <a:xfrm>
            <a:off x="394915" y="1411357"/>
            <a:ext cx="5683195" cy="5128591"/>
          </a:xfrm>
          <a:prstGeom prst="roundRect">
            <a:avLst>
              <a:gd name="adj" fmla="val 329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 sz="2000" dirty="0">
              <a:solidFill>
                <a:srgbClr val="CADCFC"/>
              </a:solidFill>
              <a:latin typeface="Microsoft YaHei" pitchFamily="34" charset="0"/>
              <a:ea typeface="Microsoft YaHei" pitchFamily="34" charset="-122"/>
            </a:endParaRPr>
          </a:p>
          <a:p>
            <a:r>
              <a:rPr lang="en-US" sz="2000" dirty="0" err="1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</a:rPr>
              <a:t>基本语序</a:t>
            </a:r>
            <a:r>
              <a:rPr lang="zh-CN" altLang="en-US" sz="20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</a:rPr>
              <a:t>（</a:t>
            </a:r>
            <a:r>
              <a:rPr lang="en-US" altLang="zh-CN" sz="20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</a:rPr>
              <a:t>Uni</a:t>
            </a:r>
            <a:r>
              <a:rPr lang="zh-CN" altLang="en-US" sz="20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</a:rPr>
              <a:t> </a:t>
            </a:r>
            <a:r>
              <a:rPr lang="en-US" altLang="zh-CN" sz="20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</a:rPr>
              <a:t>1-7)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</a:rPr>
              <a:t>1.</a:t>
            </a:r>
            <a:r>
              <a:rPr lang="zh-CN" altLang="en-US" sz="20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</a:rPr>
              <a:t> 带有名词性主语和宾语的陈述句中，优势语序几乎总是主语处于宾语前</a:t>
            </a:r>
            <a:endParaRPr lang="en-US" altLang="zh-CN" sz="2000" dirty="0">
              <a:solidFill>
                <a:srgbClr val="CADCFC"/>
              </a:solidFill>
              <a:latin typeface="Microsoft YaHei" pitchFamily="34" charset="0"/>
              <a:ea typeface="Microsoft YaHei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</a:rPr>
              <a:t>2.</a:t>
            </a:r>
            <a:r>
              <a:rPr lang="zh-CN" altLang="en-US" sz="20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</a:rPr>
              <a:t> 使用前置词的语言中，领属语几乎总是后置于中心名词，而使用后置词的语言，领属语几乎总是前置于中心名词</a:t>
            </a:r>
            <a:endParaRPr lang="en-US" altLang="zh-CN" sz="2000" dirty="0">
              <a:solidFill>
                <a:schemeClr val="bg1"/>
              </a:solidFill>
              <a:latin typeface="Microsoft YaHei" pitchFamily="34" charset="0"/>
              <a:ea typeface="Microsoft YaHei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</a:rPr>
              <a:t>3.</a:t>
            </a:r>
            <a:r>
              <a:rPr lang="zh-CN" altLang="en-US" sz="20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</a:rPr>
              <a:t> 优势语序为</a:t>
            </a:r>
            <a:r>
              <a:rPr lang="en-US" altLang="zh-CN" sz="20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</a:rPr>
              <a:t>VSO</a:t>
            </a:r>
            <a:r>
              <a:rPr lang="zh-CN" altLang="en-US" sz="20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</a:rPr>
              <a:t>的语言，总是使用前置词</a:t>
            </a:r>
            <a:endParaRPr lang="en-US" altLang="zh-CN" sz="2000" dirty="0">
              <a:solidFill>
                <a:schemeClr val="bg1"/>
              </a:solidFill>
              <a:latin typeface="Microsoft YaHei" pitchFamily="34" charset="0"/>
              <a:ea typeface="Microsoft YaHei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</a:rPr>
              <a:t>4.</a:t>
            </a:r>
            <a:r>
              <a:rPr lang="zh-CN" altLang="en-US" sz="20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</a:rPr>
              <a:t> 采取</a:t>
            </a:r>
            <a:r>
              <a:rPr lang="en-US" altLang="zh-CN" sz="20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</a:rPr>
              <a:t>SOV</a:t>
            </a:r>
            <a:r>
              <a:rPr lang="zh-CN" altLang="en-US" sz="20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</a:rPr>
              <a:t>为常规语序的语言，在远远超过随机频率的多数情况下，使用后置词</a:t>
            </a:r>
            <a:endParaRPr lang="en-US" altLang="zh-CN" sz="2000" dirty="0">
              <a:solidFill>
                <a:schemeClr val="bg1"/>
              </a:solidFill>
              <a:latin typeface="Microsoft YaHei" pitchFamily="34" charset="0"/>
              <a:ea typeface="Microsoft YaHei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bg1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EE3C0369-B740-B7F0-89B4-E4B168189003}"/>
              </a:ext>
            </a:extLst>
          </p:cNvPr>
          <p:cNvSpPr/>
          <p:nvPr/>
        </p:nvSpPr>
        <p:spPr>
          <a:xfrm>
            <a:off x="6290433" y="1411356"/>
            <a:ext cx="5683195" cy="5128591"/>
          </a:xfrm>
          <a:prstGeom prst="roundRect">
            <a:avLst>
              <a:gd name="adj" fmla="val 329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 altLang="zh-CN" sz="2000" dirty="0">
              <a:solidFill>
                <a:srgbClr val="CADCFC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BA135E-9615-CC00-DCCD-5A9B111233E4}"/>
              </a:ext>
            </a:extLst>
          </p:cNvPr>
          <p:cNvSpPr txBox="1"/>
          <p:nvPr/>
        </p:nvSpPr>
        <p:spPr>
          <a:xfrm>
            <a:off x="6508803" y="1648379"/>
            <a:ext cx="5246453" cy="4654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</a:rPr>
              <a:t>5.</a:t>
            </a:r>
            <a:r>
              <a:rPr lang="zh-CN" altLang="en-US" sz="20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</a:rPr>
              <a:t> 如果一种语言以</a:t>
            </a:r>
            <a:r>
              <a:rPr lang="en-US" altLang="zh-CN" sz="20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</a:rPr>
              <a:t>SOV</a:t>
            </a:r>
            <a:r>
              <a:rPr lang="zh-CN" altLang="en-US" sz="20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</a:rPr>
              <a:t>为优势语序，并且领属语后置于核心名词，那么形容词也后置于核心名词</a:t>
            </a:r>
            <a:endParaRPr lang="en-US" altLang="zh-CN" sz="2000" dirty="0">
              <a:solidFill>
                <a:schemeClr val="bg1"/>
              </a:solidFill>
              <a:latin typeface="Microsoft YaHei" pitchFamily="34" charset="0"/>
              <a:ea typeface="Microsoft YaHei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</a:rPr>
              <a:t>6.</a:t>
            </a:r>
            <a:r>
              <a:rPr lang="zh-CN" altLang="en-US" sz="20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</a:rPr>
              <a:t> 所有以</a:t>
            </a:r>
            <a:r>
              <a:rPr lang="en-US" altLang="zh-CN" sz="20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</a:rPr>
              <a:t>VSO</a:t>
            </a:r>
            <a:r>
              <a:rPr lang="zh-CN" altLang="en-US" sz="20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</a:rPr>
              <a:t>为优势语序的语言，都可以把</a:t>
            </a:r>
            <a:r>
              <a:rPr lang="en-US" altLang="zh-CN" sz="20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</a:rPr>
              <a:t>SVO</a:t>
            </a:r>
            <a:r>
              <a:rPr lang="zh-CN" altLang="en-US" sz="20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</a:rPr>
              <a:t>作为可能的或唯一的一种替换性基本语序</a:t>
            </a:r>
            <a:endParaRPr lang="en-US" altLang="zh-CN" sz="2000" dirty="0">
              <a:solidFill>
                <a:schemeClr val="bg1"/>
              </a:solidFill>
              <a:latin typeface="Microsoft YaHei" pitchFamily="34" charset="0"/>
              <a:ea typeface="Microsoft YaHei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</a:rPr>
              <a:t>7.</a:t>
            </a:r>
            <a:r>
              <a:rPr lang="zh-CN" altLang="en-US" sz="20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</a:rPr>
              <a:t> 在以</a:t>
            </a:r>
            <a:r>
              <a:rPr lang="en-US" altLang="zh-CN" sz="20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</a:rPr>
              <a:t>SOV</a:t>
            </a:r>
            <a:r>
              <a:rPr lang="zh-CN" altLang="en-US" sz="20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</a:rPr>
              <a:t>为优势语序的语言中，如果没有或仅有</a:t>
            </a:r>
            <a:r>
              <a:rPr lang="en-US" altLang="zh-CN" sz="20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</a:rPr>
              <a:t>OSV</a:t>
            </a:r>
            <a:r>
              <a:rPr lang="zh-CN" altLang="en-US" sz="20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</a:rPr>
              <a:t>为其替换性语序，那么动词所带的一切状语都处于动词之前。（</a:t>
            </a:r>
            <a:r>
              <a:rPr lang="en-US" altLang="zh-CN" sz="20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</a:rPr>
              <a:t>III</a:t>
            </a:r>
            <a:r>
              <a:rPr lang="zh-CN" altLang="en-US" sz="20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</a:rPr>
              <a:t>型的严格次类）</a:t>
            </a:r>
            <a:endParaRPr lang="en-US" sz="2000" dirty="0">
              <a:solidFill>
                <a:schemeClr val="bg1"/>
              </a:solidFill>
              <a:latin typeface="Microsoft YaHei" pitchFamily="34" charset="0"/>
              <a:ea typeface="Microsoft YaHei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865595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2">
            <a:extLst>
              <a:ext uri="{FF2B5EF4-FFF2-40B4-BE49-F238E27FC236}">
                <a16:creationId xmlns:a16="http://schemas.microsoft.com/office/drawing/2014/main" id="{23A942DA-9B44-D5BF-FDA3-1078F490158C}"/>
              </a:ext>
            </a:extLst>
          </p:cNvPr>
          <p:cNvSpPr/>
          <p:nvPr/>
        </p:nvSpPr>
        <p:spPr>
          <a:xfrm>
            <a:off x="221643" y="531740"/>
            <a:ext cx="5751774" cy="6057902"/>
          </a:xfrm>
          <a:prstGeom prst="roundRect">
            <a:avLst>
              <a:gd name="adj" fmla="val 3294"/>
            </a:avLst>
          </a:prstGeom>
          <a:solidFill>
            <a:srgbClr val="C9A24B"/>
          </a:solidFill>
          <a:ln/>
        </p:spPr>
        <p:txBody>
          <a:bodyPr/>
          <a:lstStyle/>
          <a:p>
            <a:r>
              <a:rPr lang="zh-CN" altLang="en-US" sz="1800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</a:rPr>
              <a:t>句法（</a:t>
            </a:r>
            <a:r>
              <a:rPr lang="en-US" altLang="zh-CN" sz="1800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</a:rPr>
              <a:t>Uni</a:t>
            </a:r>
            <a:r>
              <a:rPr lang="zh-CN" altLang="en-US" sz="1800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</a:rPr>
              <a:t> </a:t>
            </a:r>
            <a:r>
              <a:rPr lang="en-US" altLang="zh-CN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</a:rPr>
              <a:t>8</a:t>
            </a:r>
            <a:r>
              <a:rPr lang="en-US" altLang="zh-CN" sz="1800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</a:rPr>
              <a:t>-25)</a:t>
            </a:r>
          </a:p>
          <a:p>
            <a:pPr>
              <a:lnSpc>
                <a:spcPct val="125000"/>
              </a:lnSpc>
            </a:pPr>
            <a:r>
              <a:rPr lang="en-US" altLang="zh-CN" dirty="0">
                <a:solidFill>
                  <a:srgbClr val="5B4A16"/>
                </a:solidFill>
                <a:latin typeface="Microsoft YaHei" pitchFamily="34" charset="0"/>
                <a:ea typeface="Microsoft YaHei" pitchFamily="34" charset="-122"/>
              </a:rPr>
              <a:t>8.</a:t>
            </a:r>
            <a:r>
              <a:rPr lang="zh-CN" altLang="en-US" dirty="0">
                <a:solidFill>
                  <a:srgbClr val="5B4A16"/>
                </a:solidFill>
                <a:latin typeface="Microsoft YaHei" pitchFamily="34" charset="0"/>
                <a:ea typeface="Microsoft YaHei" pitchFamily="34" charset="-122"/>
              </a:rPr>
              <a:t> 如果可以根据语调模式区分是非疑问句和其相应的陈述句，那么语调模式中的每一种语调上的区别性特征表现在句末，而不是句首</a:t>
            </a:r>
            <a:endParaRPr lang="en-US" altLang="zh-CN" dirty="0">
              <a:solidFill>
                <a:srgbClr val="5B4A16"/>
              </a:solidFill>
              <a:latin typeface="Microsoft YaHei" pitchFamily="34" charset="0"/>
              <a:ea typeface="Microsoft YaHei" pitchFamily="34" charset="-122"/>
            </a:endParaRPr>
          </a:p>
          <a:p>
            <a:r>
              <a:rPr lang="en-US" altLang="zh-CN" sz="1800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</a:rPr>
              <a:t>9.</a:t>
            </a:r>
            <a:r>
              <a:rPr lang="zh-CN" altLang="en-US" sz="1800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</a:rPr>
              <a:t> </a:t>
            </a:r>
            <a:r>
              <a:rPr lang="zh-CN" altLang="en-US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</a:rPr>
              <a:t>在远远超过随机频率的多数情况下，涉及全句的疑问小词或词缀，在前置词语言中居于句首，在后置词语言中居于句末</a:t>
            </a:r>
            <a:endParaRPr lang="en-US" altLang="zh-CN" dirty="0">
              <a:solidFill>
                <a:srgbClr val="002060"/>
              </a:solidFill>
              <a:latin typeface="Microsoft YaHei" pitchFamily="34" charset="0"/>
              <a:ea typeface="Microsoft YaHei" pitchFamily="34" charset="-122"/>
            </a:endParaRPr>
          </a:p>
          <a:p>
            <a:r>
              <a:rPr lang="en-US" altLang="zh-CN" sz="1800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</a:rPr>
              <a:t>10.</a:t>
            </a:r>
            <a:r>
              <a:rPr lang="zh-CN" altLang="en-US" sz="1800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</a:rPr>
              <a:t> 疑问小词或词缀如果指向句中某一特定的词，几乎总是跟在这个词的后头。以</a:t>
            </a:r>
            <a:r>
              <a:rPr lang="en-US" altLang="zh-CN" sz="1800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</a:rPr>
              <a:t>VSO</a:t>
            </a:r>
            <a:r>
              <a:rPr lang="zh-CN" altLang="en-US" sz="1800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</a:rPr>
              <a:t>为优势语序的语言中不出现这样的小词</a:t>
            </a:r>
            <a:endParaRPr lang="en-US" altLang="zh-CN" sz="1800" dirty="0">
              <a:solidFill>
                <a:srgbClr val="002060"/>
              </a:solidFill>
              <a:latin typeface="Microsoft YaHei" pitchFamily="34" charset="0"/>
              <a:ea typeface="Microsoft YaHei" pitchFamily="34" charset="-122"/>
            </a:endParaRPr>
          </a:p>
          <a:p>
            <a:pPr>
              <a:lnSpc>
                <a:spcPct val="125000"/>
              </a:lnSpc>
            </a:pPr>
            <a:r>
              <a:rPr lang="en-US" altLang="zh-CN" dirty="0">
                <a:solidFill>
                  <a:srgbClr val="5B4A16"/>
                </a:solidFill>
                <a:latin typeface="Microsoft YaHei" pitchFamily="34" charset="0"/>
                <a:ea typeface="Microsoft YaHei" pitchFamily="34" charset="-122"/>
              </a:rPr>
              <a:t>11.</a:t>
            </a:r>
            <a:r>
              <a:rPr lang="zh-CN" altLang="en-US" dirty="0">
                <a:solidFill>
                  <a:srgbClr val="5B4A16"/>
                </a:solidFill>
                <a:latin typeface="Microsoft YaHei" pitchFamily="34" charset="0"/>
                <a:ea typeface="Microsoft YaHei" pitchFamily="34" charset="-122"/>
              </a:rPr>
              <a:t> 只有在疑问词或疑问短语通常居于句首的语言中，才会颠倒陈述的语序，使动词置于主语之前；只有特殊疑问句的情况如此，是非疑问句才会出现同样的语序颠倒</a:t>
            </a:r>
            <a:endParaRPr lang="en-US" altLang="zh-CN" dirty="0">
              <a:solidFill>
                <a:srgbClr val="5B4A16"/>
              </a:solidFill>
              <a:latin typeface="Microsoft YaHei" pitchFamily="34" charset="0"/>
              <a:ea typeface="Microsoft YaHei" pitchFamily="34" charset="-122"/>
            </a:endParaRPr>
          </a:p>
          <a:p>
            <a:r>
              <a:rPr lang="en-US" altLang="zh-CN" sz="1800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</a:rPr>
              <a:t>12.</a:t>
            </a:r>
            <a:r>
              <a:rPr lang="zh-CN" altLang="en-US" sz="1800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</a:rPr>
              <a:t> 陈述句中以</a:t>
            </a:r>
            <a:r>
              <a:rPr lang="en-US" altLang="zh-CN" sz="1800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</a:rPr>
              <a:t>VSO</a:t>
            </a:r>
            <a:r>
              <a:rPr lang="zh-CN" altLang="en-US" sz="1800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</a:rPr>
              <a:t>为优势语序的语言，其特指疑问句中总把疑问词或疑问短语放到句首。陈述句中以</a:t>
            </a:r>
            <a:r>
              <a:rPr lang="en-US" altLang="zh-CN" sz="1800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</a:rPr>
              <a:t>SOV</a:t>
            </a:r>
            <a:r>
              <a:rPr lang="zh-CN" altLang="en-US" sz="1800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</a:rPr>
              <a:t>为优势语序的语言，不会有这样的变换</a:t>
            </a:r>
            <a:endParaRPr lang="en-US" altLang="zh-CN" sz="1800" dirty="0">
              <a:solidFill>
                <a:srgbClr val="002060"/>
              </a:solidFill>
              <a:latin typeface="Microsoft YaHei" pitchFamily="34" charset="0"/>
              <a:ea typeface="Microsoft YaHei" pitchFamily="34" charset="-122"/>
            </a:endParaRPr>
          </a:p>
          <a:p>
            <a:r>
              <a:rPr lang="en-US" altLang="zh-CN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</a:rPr>
              <a:t>13.</a:t>
            </a:r>
            <a:r>
              <a:rPr lang="zh-CN" altLang="en-US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</a:rPr>
              <a:t> 如果名词性宾语总在动词之前，那么从属于主要动词的从句动词也要置于主要动词之前</a:t>
            </a:r>
            <a:endParaRPr lang="en-US" altLang="zh-CN" dirty="0">
              <a:solidFill>
                <a:srgbClr val="002060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sp>
        <p:nvSpPr>
          <p:cNvPr id="5" name="Shape 12">
            <a:extLst>
              <a:ext uri="{FF2B5EF4-FFF2-40B4-BE49-F238E27FC236}">
                <a16:creationId xmlns:a16="http://schemas.microsoft.com/office/drawing/2014/main" id="{B66AB8C8-3D48-59C6-D9A5-65FF3FC53844}"/>
              </a:ext>
            </a:extLst>
          </p:cNvPr>
          <p:cNvSpPr/>
          <p:nvPr/>
        </p:nvSpPr>
        <p:spPr>
          <a:xfrm>
            <a:off x="6096000" y="531741"/>
            <a:ext cx="5612296" cy="6057902"/>
          </a:xfrm>
          <a:prstGeom prst="roundRect">
            <a:avLst>
              <a:gd name="adj" fmla="val 3294"/>
            </a:avLst>
          </a:prstGeom>
          <a:solidFill>
            <a:srgbClr val="C9A24B"/>
          </a:solidFill>
          <a:ln/>
        </p:spPr>
        <p:txBody>
          <a:bodyPr/>
          <a:lstStyle/>
          <a:p>
            <a:endParaRPr lang="en-US" altLang="zh-CN" sz="1800" dirty="0">
              <a:solidFill>
                <a:srgbClr val="002060"/>
              </a:solidFill>
              <a:latin typeface="Microsoft YaHei" pitchFamily="34" charset="0"/>
              <a:ea typeface="Microsoft YaHei" pitchFamily="34" charset="-122"/>
            </a:endParaRPr>
          </a:p>
          <a:p>
            <a:r>
              <a:rPr lang="en-US" altLang="zh-CN" dirty="0">
                <a:solidFill>
                  <a:srgbClr val="5B4A16"/>
                </a:solidFill>
                <a:latin typeface="Microsoft YaHei" pitchFamily="34" charset="0"/>
                <a:ea typeface="Microsoft YaHei" pitchFamily="34" charset="-122"/>
              </a:rPr>
              <a:t>14.</a:t>
            </a:r>
            <a:r>
              <a:rPr lang="zh-CN" altLang="en-US" dirty="0">
                <a:solidFill>
                  <a:srgbClr val="5B4A16"/>
                </a:solidFill>
                <a:latin typeface="Microsoft YaHei" pitchFamily="34" charset="0"/>
                <a:ea typeface="Microsoft YaHei" pitchFamily="34" charset="-122"/>
              </a:rPr>
              <a:t> 在条件陈述句中，所有语言都以条件从句处于结论之前为正常语序</a:t>
            </a:r>
            <a:endParaRPr lang="en-US" altLang="zh-CN" dirty="0">
              <a:solidFill>
                <a:srgbClr val="002060"/>
              </a:solidFill>
              <a:latin typeface="Microsoft YaHei" pitchFamily="34" charset="0"/>
              <a:ea typeface="Microsoft YaHei" pitchFamily="34" charset="-122"/>
            </a:endParaRPr>
          </a:p>
          <a:p>
            <a:r>
              <a:rPr lang="en-US" altLang="zh-CN" sz="1800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</a:rPr>
              <a:t>15.</a:t>
            </a:r>
            <a:r>
              <a:rPr lang="zh-CN" altLang="en-US" sz="1800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</a:rPr>
              <a:t> 除了名词性宾语总是居于动词之前的</a:t>
            </a:r>
            <a:r>
              <a:rPr lang="zh-CN" altLang="en-US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</a:rPr>
              <a:t>那</a:t>
            </a:r>
            <a:r>
              <a:rPr lang="zh-CN" altLang="en-US" sz="1800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</a:rPr>
              <a:t>些语言之外，表达意愿和目的的从句动词形式总是置于主要动词之后</a:t>
            </a:r>
            <a:endParaRPr lang="en-US" altLang="zh-CN" sz="1800" dirty="0">
              <a:solidFill>
                <a:srgbClr val="002060"/>
              </a:solidFill>
              <a:latin typeface="Microsoft YaHei" pitchFamily="34" charset="0"/>
              <a:ea typeface="Microsoft YaHei" pitchFamily="34" charset="-122"/>
            </a:endParaRPr>
          </a:p>
          <a:p>
            <a:r>
              <a:rPr lang="en-US" altLang="zh-CN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</a:rPr>
              <a:t>16.</a:t>
            </a:r>
            <a:r>
              <a:rPr lang="zh-CN" altLang="en-US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</a:rPr>
              <a:t> 以</a:t>
            </a:r>
            <a:r>
              <a:rPr lang="en-US" altLang="zh-CN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</a:rPr>
              <a:t>VSO</a:t>
            </a:r>
            <a:r>
              <a:rPr lang="zh-CN" altLang="en-US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</a:rPr>
              <a:t>为优势语序的语言中，有屈折变化的助动词总是前置于主要动词。在以</a:t>
            </a:r>
            <a:r>
              <a:rPr lang="en-US" altLang="zh-CN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</a:rPr>
              <a:t>SOV</a:t>
            </a:r>
            <a:r>
              <a:rPr lang="zh-CN" altLang="en-US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</a:rPr>
              <a:t>为优势语序的语言中，有屈折变化的助动词总是跟在主要动词之后</a:t>
            </a:r>
            <a:endParaRPr lang="en-US" altLang="zh-CN" dirty="0">
              <a:solidFill>
                <a:srgbClr val="002060"/>
              </a:solidFill>
              <a:latin typeface="Microsoft YaHei" pitchFamily="34" charset="0"/>
              <a:ea typeface="Microsoft YaHei" pitchFamily="34" charset="-122"/>
            </a:endParaRPr>
          </a:p>
          <a:p>
            <a:r>
              <a:rPr lang="en-US" altLang="zh-CN" sz="1800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</a:rPr>
              <a:t>17.</a:t>
            </a:r>
            <a:r>
              <a:rPr lang="zh-CN" altLang="en-US" sz="1800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</a:rPr>
              <a:t> 除了偶然出现的情况外，优势语序为</a:t>
            </a:r>
            <a:r>
              <a:rPr lang="en-US" altLang="zh-CN" sz="1800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</a:rPr>
              <a:t>VSO</a:t>
            </a:r>
            <a:r>
              <a:rPr lang="zh-CN" altLang="en-US" sz="1800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</a:rPr>
              <a:t>的语言绝大多数是形容词居于名词之后</a:t>
            </a:r>
            <a:endParaRPr lang="en-US" altLang="zh-CN" sz="1800" dirty="0">
              <a:solidFill>
                <a:srgbClr val="002060"/>
              </a:solidFill>
              <a:latin typeface="Microsoft YaHei" pitchFamily="34" charset="0"/>
              <a:ea typeface="Microsoft YaHei" pitchFamily="34" charset="-122"/>
            </a:endParaRPr>
          </a:p>
          <a:p>
            <a:r>
              <a:rPr lang="en-US" altLang="zh-CN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</a:rPr>
              <a:t>18.</a:t>
            </a:r>
            <a:r>
              <a:rPr lang="zh-CN" altLang="en-US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</a:rPr>
              <a:t> 当描写性形容词前置于名词时，除了偶然出现的情况外，绝大多数情况是指别词和数词也处于名词之前</a:t>
            </a:r>
            <a:endParaRPr lang="en-US" altLang="zh-CN" dirty="0">
              <a:solidFill>
                <a:srgbClr val="002060"/>
              </a:solidFill>
              <a:latin typeface="Microsoft YaHei" pitchFamily="34" charset="0"/>
              <a:ea typeface="Microsoft YaHei" pitchFamily="34" charset="-122"/>
            </a:endParaRPr>
          </a:p>
          <a:p>
            <a:r>
              <a:rPr lang="en-US" altLang="zh-CN" sz="1800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</a:rPr>
              <a:t>19.</a:t>
            </a:r>
            <a:r>
              <a:rPr lang="zh-CN" altLang="en-US" sz="1800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</a:rPr>
              <a:t> 当一般规则是描写性形容词后置时，可能会有少数形容词常常前置；但一般规则是描写性形容词前置时，则不存在例外</a:t>
            </a:r>
            <a:endParaRPr lang="en-US" altLang="zh-CN" sz="1800" dirty="0">
              <a:solidFill>
                <a:srgbClr val="002060"/>
              </a:solidFill>
              <a:latin typeface="Microsoft YaHei" pitchFamily="34" charset="0"/>
              <a:ea typeface="Microsoft YaHei" pitchFamily="34" charset="-122"/>
            </a:endParaRPr>
          </a:p>
          <a:p>
            <a:r>
              <a:rPr lang="en-US" altLang="zh-CN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</a:rPr>
              <a:t>20.</a:t>
            </a:r>
            <a:r>
              <a:rPr lang="zh-CN" altLang="en-US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</a:rPr>
              <a:t> 当任何一个或者所有的下述成分（指别词、数词、描写性形容词）居于名词之前时，它们总以这种语序出现。如果它们后置，语序或者依旧，或者完全相反</a:t>
            </a:r>
            <a:endParaRPr lang="en-US" altLang="zh-CN" dirty="0">
              <a:solidFill>
                <a:srgbClr val="002060"/>
              </a:solidFill>
              <a:latin typeface="Microsoft YaHei" pitchFamily="34" charset="0"/>
              <a:ea typeface="Microsoft YaHei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676771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2">
            <a:extLst>
              <a:ext uri="{FF2B5EF4-FFF2-40B4-BE49-F238E27FC236}">
                <a16:creationId xmlns:a16="http://schemas.microsoft.com/office/drawing/2014/main" id="{E68A718B-39FE-BF39-E82E-58413458C041}"/>
              </a:ext>
            </a:extLst>
          </p:cNvPr>
          <p:cNvSpPr/>
          <p:nvPr/>
        </p:nvSpPr>
        <p:spPr>
          <a:xfrm>
            <a:off x="619539" y="514349"/>
            <a:ext cx="5612296" cy="5888935"/>
          </a:xfrm>
          <a:prstGeom prst="roundRect">
            <a:avLst>
              <a:gd name="adj" fmla="val 3294"/>
            </a:avLst>
          </a:prstGeom>
          <a:solidFill>
            <a:srgbClr val="C9A24B"/>
          </a:solidFill>
          <a:ln/>
        </p:spPr>
        <p:txBody>
          <a:bodyPr/>
          <a:lstStyle/>
          <a:p>
            <a:r>
              <a:rPr lang="en-US" altLang="zh-CN" sz="1800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</a:rPr>
              <a:t>21.</a:t>
            </a:r>
            <a:r>
              <a:rPr lang="zh-CN" altLang="en-US" sz="1800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</a:rPr>
              <a:t> 如果某些或所有副词跟在它们所修饰的形容词后，那么这种语言中的形容词也处于名词之后，而且以动词前置于名词性宾语为优势语序</a:t>
            </a:r>
            <a:endParaRPr lang="en-US" altLang="zh-CN" dirty="0">
              <a:solidFill>
                <a:srgbClr val="002060"/>
              </a:solidFill>
              <a:latin typeface="Microsoft YaHei" pitchFamily="34" charset="0"/>
              <a:ea typeface="Microsoft YaHei" pitchFamily="34" charset="-122"/>
            </a:endParaRPr>
          </a:p>
          <a:p>
            <a:r>
              <a:rPr lang="en-US" altLang="zh-CN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</a:rPr>
              <a:t>22.</a:t>
            </a:r>
            <a:r>
              <a:rPr lang="zh-CN" altLang="en-US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</a:rPr>
              <a:t> 在形容词比较结构中，如果唯一的或可能交替的语序之一是“基准</a:t>
            </a:r>
            <a:r>
              <a:rPr lang="en-US" altLang="zh-CN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</a:rPr>
              <a:t>-</a:t>
            </a:r>
            <a:r>
              <a:rPr lang="zh-CN" altLang="en-US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</a:rPr>
              <a:t>标记</a:t>
            </a:r>
            <a:r>
              <a:rPr lang="en-US" altLang="zh-CN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</a:rPr>
              <a:t>-</a:t>
            </a:r>
            <a:r>
              <a:rPr lang="zh-CN" altLang="en-US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</a:rPr>
              <a:t>形容词”的话，那么这语言是后置词语言。如果唯一的语序是“形容词</a:t>
            </a:r>
            <a:r>
              <a:rPr lang="en-US" altLang="zh-CN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</a:rPr>
              <a:t>-</a:t>
            </a:r>
            <a:r>
              <a:rPr lang="zh-CN" altLang="en-US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</a:rPr>
              <a:t>标记</a:t>
            </a:r>
            <a:r>
              <a:rPr lang="en-US" altLang="zh-CN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</a:rPr>
              <a:t>-</a:t>
            </a:r>
            <a:r>
              <a:rPr lang="zh-CN" altLang="en-US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</a:rPr>
              <a:t>基准”的话，那么这种语言除了偶然出现的情况外，绝大多数是前置词语言</a:t>
            </a:r>
            <a:endParaRPr lang="en-US" altLang="zh-CN" dirty="0">
              <a:solidFill>
                <a:srgbClr val="002060"/>
              </a:solidFill>
              <a:latin typeface="Microsoft YaHei" pitchFamily="34" charset="0"/>
              <a:ea typeface="Microsoft YaHei" pitchFamily="34" charset="-122"/>
            </a:endParaRPr>
          </a:p>
          <a:p>
            <a:r>
              <a:rPr lang="en-US" altLang="zh-CN" sz="1800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</a:rPr>
              <a:t>23.</a:t>
            </a:r>
            <a:r>
              <a:rPr lang="zh-CN" altLang="en-US" sz="1800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</a:rPr>
              <a:t> 如果同位结构中专用名词一般前置于普通名词，那么这种语言里的中心名词也前置于从属它的领属语成分。如果普通名词一般前置于专用名词。那么，从属的领属语成分绝大多数处于它的中心名词之前</a:t>
            </a:r>
            <a:endParaRPr lang="en-US" altLang="zh-CN" sz="1800" dirty="0">
              <a:solidFill>
                <a:srgbClr val="002060"/>
              </a:solidFill>
              <a:latin typeface="Microsoft YaHei" pitchFamily="34" charset="0"/>
              <a:ea typeface="Microsoft YaHei" pitchFamily="34" charset="-122"/>
            </a:endParaRPr>
          </a:p>
          <a:p>
            <a:r>
              <a:rPr lang="en-US" altLang="zh-CN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</a:rPr>
              <a:t>24.</a:t>
            </a:r>
            <a:r>
              <a:rPr lang="zh-CN" altLang="en-US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</a:rPr>
              <a:t> 如果关系从句前置于名词是唯一的或者是可交替的结构，那么这种语言或使用后置词，或形容词前置于名词，也可能二者兼有</a:t>
            </a:r>
            <a:endParaRPr lang="en-US" altLang="zh-CN" dirty="0">
              <a:solidFill>
                <a:srgbClr val="002060"/>
              </a:solidFill>
              <a:latin typeface="Microsoft YaHei" pitchFamily="34" charset="0"/>
              <a:ea typeface="Microsoft YaHei" pitchFamily="34" charset="-122"/>
            </a:endParaRPr>
          </a:p>
          <a:p>
            <a:r>
              <a:rPr lang="en-US" altLang="zh-CN" sz="1800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</a:rPr>
              <a:t>25.</a:t>
            </a:r>
            <a:r>
              <a:rPr lang="zh-CN" altLang="en-US" sz="1800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</a:rPr>
              <a:t> 如果代词性宾语后置于动词，那么名词性宾语也同样后置。</a:t>
            </a:r>
            <a:endParaRPr lang="en-US" altLang="zh-CN" sz="1800" dirty="0">
              <a:solidFill>
                <a:srgbClr val="002060"/>
              </a:solidFill>
              <a:latin typeface="Microsoft YaHei" pitchFamily="34" charset="0"/>
              <a:ea typeface="Microsoft YaHei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761228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9A24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   </a:t>
            </a:r>
            <a:r>
              <a:rPr lang="en-US" sz="1200" b="1" kern="0" spc="150" dirty="0">
                <a:solidFill>
                  <a:srgbClr val="C9A2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基本语序类型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基本语序类型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六种逻辑排列，三种成为常见类型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337560" cy="1463040"/>
          </a:xfrm>
          <a:prstGeom prst="roundRect">
            <a:avLst>
              <a:gd name="adj" fmla="val 4375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231136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SOV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5176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主语—宾语—谓语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160520" y="2011680"/>
            <a:ext cx="3337560" cy="1463040"/>
          </a:xfrm>
          <a:prstGeom prst="roundRect">
            <a:avLst>
              <a:gd name="adj" fmla="val 4375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434840" y="2231136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SVO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434840" y="265176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主语—谓语—宾语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7772400" y="2011680"/>
            <a:ext cx="3337560" cy="1463040"/>
          </a:xfrm>
          <a:prstGeom prst="roundRect">
            <a:avLst>
              <a:gd name="adj" fmla="val 4375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046720" y="2231136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VSO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8046720" y="265176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谓语—主语—宾语</a:t>
            </a:r>
            <a:endParaRPr lang="en-US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794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罕见类型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206240"/>
            <a:ext cx="3337560" cy="1143000"/>
          </a:xfrm>
          <a:prstGeom prst="roundRect">
            <a:avLst>
              <a:gd name="adj" fmla="val 5600"/>
            </a:avLst>
          </a:prstGeom>
          <a:ln w="12700">
            <a:solidFill>
              <a:srgbClr val="C7CED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34340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A64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VOS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75488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谓语—宾语—主语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160520" y="4206240"/>
            <a:ext cx="3337560" cy="1143000"/>
          </a:xfrm>
          <a:prstGeom prst="roundRect">
            <a:avLst>
              <a:gd name="adj" fmla="val 5600"/>
            </a:avLst>
          </a:prstGeom>
          <a:ln w="12700">
            <a:solidFill>
              <a:srgbClr val="C7CED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160520" y="434340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A64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OVS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4160520" y="475488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宾语—谓语—主语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7772400" y="4206240"/>
            <a:ext cx="3337560" cy="1143000"/>
          </a:xfrm>
          <a:prstGeom prst="roundRect">
            <a:avLst>
              <a:gd name="adj" fmla="val 5600"/>
            </a:avLst>
          </a:prstGeom>
          <a:ln w="12700">
            <a:solidFill>
              <a:srgbClr val="C7CED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0" y="434340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A64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OSV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0" y="475488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宾语—主语—谓语</a:t>
            </a:r>
            <a:endParaRPr lang="en-US" dirty="0"/>
          </a:p>
        </p:txBody>
      </p:sp>
      <p:sp>
        <p:nvSpPr>
          <p:cNvPr id="24" name="Text 22"/>
          <p:cNvSpPr txBox="1"/>
          <p:nvPr/>
        </p:nvSpPr>
        <p:spPr>
          <a:xfrm>
            <a:off x="594360" y="5663317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SOV 与 SVO 两类合计覆盖了世界上绝大多数语言，VSO 次之；OVS、OSV 极为罕见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E3E6EE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B608E4-EE14-F8EF-5378-3FC0B97A73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487" y="1584188"/>
            <a:ext cx="5295900" cy="45085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6B7D74D-6C2D-9805-B9FF-63673C83300C}"/>
              </a:ext>
            </a:extLst>
          </p:cNvPr>
          <p:cNvSpPr txBox="1"/>
          <p:nvPr/>
        </p:nvSpPr>
        <p:spPr>
          <a:xfrm>
            <a:off x="844825" y="765312"/>
            <a:ext cx="27467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WALS</a:t>
            </a:r>
            <a:r>
              <a:rPr lang="zh-CN" altLang="en-US" sz="2400" dirty="0"/>
              <a:t>：</a:t>
            </a:r>
            <a:r>
              <a:rPr lang="en-US" altLang="zh-CN" sz="2400" dirty="0"/>
              <a:t>1376</a:t>
            </a:r>
            <a:r>
              <a:rPr lang="zh-CN" altLang="en-US" sz="2400" dirty="0"/>
              <a:t>个语言</a:t>
            </a:r>
            <a:endParaRPr lang="en-US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3ABF725-963F-127D-1996-447FA51A56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3105" y="1842605"/>
            <a:ext cx="6649321" cy="3520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3994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9A24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   </a:t>
            </a:r>
            <a:r>
              <a:rPr lang="en-US" sz="1200" b="1" kern="0" spc="150" dirty="0">
                <a:solidFill>
                  <a:srgbClr val="C9A2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共性一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共性一：主语先于宾语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格林伯格的Universal</a:t>
            </a:r>
            <a:r>
              <a:rPr lang="en-US" sz="14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64794" y="2066025"/>
            <a:ext cx="7894015" cy="100584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75861" y="2098548"/>
            <a:ext cx="9784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在带有名词性主语和宾语的陈述句中，占优势的语序几乎总是主语先于宾语。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464794" y="3384550"/>
            <a:ext cx="781016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30000"/>
              </a:lnSpc>
              <a:spcAft>
                <a:spcPts val="1400"/>
              </a:spcAft>
              <a:buSzPct val="100000"/>
              <a:buChar char="■"/>
            </a:pPr>
            <a:r>
              <a:rPr lang="en-US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六种逻辑排列中，主语先于宾语的三种（SOV、SVO、VSO）远比主语居后的三种（OSV、OVS、VOS）常见</a:t>
            </a:r>
            <a:endParaRPr lang="en-US" dirty="0"/>
          </a:p>
          <a:p>
            <a:pPr marL="228600" indent="-228600">
              <a:lnSpc>
                <a:spcPct val="130000"/>
              </a:lnSpc>
              <a:spcAft>
                <a:spcPts val="1400"/>
              </a:spcAft>
              <a:buSzPct val="100000"/>
              <a:buChar char="■"/>
            </a:pPr>
            <a:r>
              <a:rPr lang="en-US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这一倾向跨越语系、地理区域，具有很强的跨语言稳定性</a:t>
            </a:r>
            <a:endParaRPr lang="en-US" dirty="0"/>
          </a:p>
          <a:p>
            <a:pPr marL="228600" indent="-228600">
              <a:lnSpc>
                <a:spcPct val="130000"/>
              </a:lnSpc>
              <a:spcAft>
                <a:spcPts val="1400"/>
              </a:spcAft>
              <a:buSzPct val="100000"/>
              <a:buChar char="■"/>
            </a:pPr>
            <a:r>
              <a:rPr lang="en-US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反映出信息结构与认知加工上的普遍偏好：施事、话题类成分倾向于先于受事出现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E3E6EE"/>
            </a:solidFill>
            <a:prstDash val="solid"/>
          </a:ln>
        </p:spPr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C6F3C38-11DC-194E-EEE3-DC2B117A44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8809" y="2109205"/>
            <a:ext cx="3733800" cy="31115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539869D-4ABF-F759-DB27-933A2362F430}"/>
              </a:ext>
            </a:extLst>
          </p:cNvPr>
          <p:cNvSpPr txBox="1"/>
          <p:nvPr/>
        </p:nvSpPr>
        <p:spPr>
          <a:xfrm>
            <a:off x="8726556" y="5374886"/>
            <a:ext cx="3165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GramBank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altLang="zh-CN" dirty="0"/>
              <a:t>GB130-S</a:t>
            </a:r>
            <a:r>
              <a:rPr lang="zh-CN" altLang="en-US" dirty="0"/>
              <a:t>和</a:t>
            </a:r>
            <a:r>
              <a:rPr lang="en-US" altLang="zh-CN" dirty="0"/>
              <a:t>V</a:t>
            </a:r>
            <a:r>
              <a:rPr lang="zh-CN" altLang="en-US" dirty="0"/>
              <a:t>的语序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>
            <a:extLst>
              <a:ext uri="{FF2B5EF4-FFF2-40B4-BE49-F238E27FC236}">
                <a16:creationId xmlns:a16="http://schemas.microsoft.com/office/drawing/2014/main" id="{7167F29F-2F7B-39D7-3D30-76BF48CEC499}"/>
              </a:ext>
            </a:extLst>
          </p:cNvPr>
          <p:cNvSpPr txBox="1"/>
          <p:nvPr/>
        </p:nvSpPr>
        <p:spPr>
          <a:xfrm>
            <a:off x="548640" y="731520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基本语序可以预测什么</a:t>
            </a:r>
            <a:r>
              <a:rPr lang="zh-CN" altLang="en-US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？</a:t>
            </a:r>
            <a:r>
              <a:rPr lang="en-US" altLang="zh-CN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OV/VO</a:t>
            </a:r>
            <a:r>
              <a:rPr lang="zh-CN" altLang="en-US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类型学</a:t>
            </a:r>
            <a:endParaRPr lang="en-US" sz="2800" dirty="0"/>
          </a:p>
        </p:txBody>
      </p:sp>
      <p:sp>
        <p:nvSpPr>
          <p:cNvPr id="5" name="Shape 12">
            <a:extLst>
              <a:ext uri="{FF2B5EF4-FFF2-40B4-BE49-F238E27FC236}">
                <a16:creationId xmlns:a16="http://schemas.microsoft.com/office/drawing/2014/main" id="{67D50BA8-5704-6BC0-1943-285823EC5137}"/>
              </a:ext>
            </a:extLst>
          </p:cNvPr>
          <p:cNvSpPr/>
          <p:nvPr/>
        </p:nvSpPr>
        <p:spPr>
          <a:xfrm>
            <a:off x="639085" y="1485899"/>
            <a:ext cx="5364150" cy="2386785"/>
          </a:xfrm>
          <a:prstGeom prst="roundRect">
            <a:avLst>
              <a:gd name="adj" fmla="val 3294"/>
            </a:avLst>
          </a:prstGeom>
          <a:solidFill>
            <a:srgbClr val="C9A24B"/>
          </a:solidFill>
          <a:ln/>
        </p:spPr>
        <p:txBody>
          <a:bodyPr/>
          <a:lstStyle/>
          <a:p>
            <a:r>
              <a:rPr lang="en-US" sz="2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</a:rPr>
              <a:t>Greenberg</a:t>
            </a:r>
            <a:r>
              <a:rPr lang="zh-CN" altLang="en-US" sz="2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</a:rPr>
              <a:t>（</a:t>
            </a:r>
            <a:r>
              <a:rPr lang="en-US" altLang="zh-CN" sz="2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</a:rPr>
              <a:t>1963/1966)</a:t>
            </a:r>
            <a:r>
              <a:rPr lang="zh-CN" altLang="en-US" sz="2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</a:rPr>
              <a:t>：</a:t>
            </a:r>
            <a:r>
              <a:rPr lang="en-US" altLang="zh-CN" sz="2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</a:rPr>
              <a:t>30</a:t>
            </a:r>
            <a:r>
              <a:rPr lang="zh-CN" altLang="en-US" sz="2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</a:rPr>
              <a:t>个语言</a:t>
            </a:r>
            <a:endParaRPr lang="en-US" altLang="zh-CN" sz="2000" b="1" dirty="0">
              <a:solidFill>
                <a:srgbClr val="1E2761"/>
              </a:solidFill>
              <a:latin typeface="Microsoft YaHei" pitchFamily="34" charset="0"/>
              <a:ea typeface="Microsoft YaHei" pitchFamily="34" charset="-122"/>
            </a:endParaRPr>
          </a:p>
          <a:p>
            <a:endParaRPr lang="en-US" altLang="zh-CN" sz="2000" b="1" dirty="0">
              <a:solidFill>
                <a:srgbClr val="1E2761"/>
              </a:solidFill>
              <a:latin typeface="Microsoft YaHei" pitchFamily="34" charset="0"/>
              <a:ea typeface="Microsoft YaHei" pitchFamily="34" charset="-122"/>
            </a:endParaRPr>
          </a:p>
          <a:p>
            <a:pPr>
              <a:lnSpc>
                <a:spcPct val="125000"/>
              </a:lnSpc>
            </a:pPr>
            <a:r>
              <a:rPr lang="en-US" sz="2000" dirty="0" err="1">
                <a:solidFill>
                  <a:srgbClr val="5B4A16"/>
                </a:solidFill>
                <a:latin typeface="Microsoft YaHei" pitchFamily="34" charset="0"/>
                <a:ea typeface="Microsoft YaHei" pitchFamily="34" charset="-122"/>
              </a:rPr>
              <a:t>与S</a:t>
            </a:r>
            <a:r>
              <a:rPr lang="en-US" altLang="zh-CN" sz="2000" dirty="0" err="1">
                <a:solidFill>
                  <a:srgbClr val="5B4A16"/>
                </a:solidFill>
                <a:latin typeface="Microsoft YaHei" pitchFamily="34" charset="0"/>
                <a:ea typeface="Microsoft YaHei" pitchFamily="34" charset="-122"/>
              </a:rPr>
              <a:t>,V,O</a:t>
            </a:r>
            <a:r>
              <a:rPr lang="zh-CN" altLang="en-US" sz="2000" dirty="0">
                <a:solidFill>
                  <a:srgbClr val="5B4A16"/>
                </a:solidFill>
                <a:latin typeface="Microsoft YaHei" pitchFamily="34" charset="0"/>
                <a:ea typeface="Microsoft YaHei" pitchFamily="34" charset="-122"/>
              </a:rPr>
              <a:t>的语序相关的语序参项包括</a:t>
            </a:r>
            <a:r>
              <a:rPr lang="en-US" altLang="zh-CN" sz="2000" dirty="0">
                <a:solidFill>
                  <a:srgbClr val="5B4A16"/>
                </a:solidFill>
                <a:latin typeface="Microsoft YaHei" pitchFamily="34" charset="0"/>
                <a:ea typeface="Microsoft YaHei" pitchFamily="34" charset="-122"/>
              </a:rPr>
              <a:t>:</a:t>
            </a:r>
            <a:r>
              <a:rPr lang="zh-CN" altLang="en-US" sz="2000" dirty="0">
                <a:solidFill>
                  <a:srgbClr val="5B4A16"/>
                </a:solidFill>
                <a:latin typeface="Microsoft YaHei" pitchFamily="34" charset="0"/>
                <a:ea typeface="Microsoft YaHei" pitchFamily="34" charset="-122"/>
              </a:rPr>
              <a:t> 附置词、形容词</a:t>
            </a:r>
            <a:r>
              <a:rPr lang="en-US" altLang="zh-CN" sz="2000" dirty="0">
                <a:solidFill>
                  <a:srgbClr val="5B4A16"/>
                </a:solidFill>
                <a:latin typeface="Microsoft YaHei" pitchFamily="34" charset="0"/>
                <a:ea typeface="Microsoft YaHei" pitchFamily="34" charset="-122"/>
              </a:rPr>
              <a:t>-</a:t>
            </a:r>
            <a:r>
              <a:rPr lang="zh-CN" altLang="en-US" sz="2000" dirty="0">
                <a:solidFill>
                  <a:srgbClr val="5B4A16"/>
                </a:solidFill>
                <a:latin typeface="Microsoft YaHei" pitchFamily="34" charset="0"/>
                <a:ea typeface="Microsoft YaHei" pitchFamily="34" charset="-122"/>
              </a:rPr>
              <a:t>核心名词、动词</a:t>
            </a:r>
            <a:r>
              <a:rPr lang="en-US" altLang="zh-CN" sz="2000" dirty="0">
                <a:solidFill>
                  <a:srgbClr val="5B4A16"/>
                </a:solidFill>
                <a:latin typeface="Microsoft YaHei" pitchFamily="34" charset="0"/>
                <a:ea typeface="Microsoft YaHei" pitchFamily="34" charset="-122"/>
              </a:rPr>
              <a:t>-</a:t>
            </a:r>
            <a:r>
              <a:rPr lang="zh-CN" altLang="en-US" sz="2000" dirty="0">
                <a:solidFill>
                  <a:srgbClr val="5B4A16"/>
                </a:solidFill>
                <a:latin typeface="Microsoft YaHei" pitchFamily="34" charset="0"/>
                <a:ea typeface="Microsoft YaHei" pitchFamily="34" charset="-122"/>
              </a:rPr>
              <a:t>状语、疑问词、从句动词</a:t>
            </a:r>
            <a:r>
              <a:rPr lang="en-US" altLang="zh-CN" sz="2000" dirty="0">
                <a:solidFill>
                  <a:srgbClr val="5B4A16"/>
                </a:solidFill>
                <a:latin typeface="Microsoft YaHei" pitchFamily="34" charset="0"/>
                <a:ea typeface="Microsoft YaHei" pitchFamily="34" charset="-122"/>
              </a:rPr>
              <a:t>-</a:t>
            </a:r>
            <a:r>
              <a:rPr lang="zh-CN" altLang="en-US" sz="2000" dirty="0">
                <a:solidFill>
                  <a:srgbClr val="5B4A16"/>
                </a:solidFill>
                <a:latin typeface="Microsoft YaHei" pitchFamily="34" charset="0"/>
                <a:ea typeface="Microsoft YaHei" pitchFamily="34" charset="-122"/>
              </a:rPr>
              <a:t>主句动词、助动词</a:t>
            </a:r>
            <a:r>
              <a:rPr lang="en-US" altLang="zh-CN" sz="2000" dirty="0">
                <a:solidFill>
                  <a:srgbClr val="5B4A16"/>
                </a:solidFill>
                <a:latin typeface="Microsoft YaHei" pitchFamily="34" charset="0"/>
                <a:ea typeface="Microsoft YaHei" pitchFamily="34" charset="-122"/>
              </a:rPr>
              <a:t>-</a:t>
            </a:r>
            <a:r>
              <a:rPr lang="zh-CN" altLang="en-US" sz="2000" dirty="0">
                <a:solidFill>
                  <a:srgbClr val="5B4A16"/>
                </a:solidFill>
                <a:latin typeface="Microsoft YaHei" pitchFamily="34" charset="0"/>
                <a:ea typeface="Microsoft YaHei" pitchFamily="34" charset="-122"/>
              </a:rPr>
              <a:t>动词</a:t>
            </a:r>
            <a:endParaRPr lang="en-US" altLang="zh-CN" sz="2000" dirty="0">
              <a:solidFill>
                <a:srgbClr val="5B4A16"/>
              </a:solidFill>
              <a:latin typeface="Microsoft YaHei" pitchFamily="34" charset="0"/>
              <a:ea typeface="Microsoft YaHei" pitchFamily="34" charset="-122"/>
            </a:endParaRPr>
          </a:p>
          <a:p>
            <a:endParaRPr lang="en-US" dirty="0"/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DB515917-D1BC-969E-0796-ADF74CD83FC7}"/>
              </a:ext>
            </a:extLst>
          </p:cNvPr>
          <p:cNvSpPr/>
          <p:nvPr/>
        </p:nvSpPr>
        <p:spPr>
          <a:xfrm>
            <a:off x="639085" y="4060135"/>
            <a:ext cx="5364150" cy="2386785"/>
          </a:xfrm>
          <a:prstGeom prst="roundRect">
            <a:avLst>
              <a:gd name="adj" fmla="val 3294"/>
            </a:avLst>
          </a:prstGeom>
          <a:solidFill>
            <a:srgbClr val="F4F6FB"/>
          </a:solidFill>
          <a:ln/>
        </p:spPr>
        <p:txBody>
          <a:bodyPr/>
          <a:lstStyle/>
          <a:p>
            <a:pPr>
              <a:lnSpc>
                <a:spcPct val="125000"/>
              </a:lnSpc>
            </a:pPr>
            <a:r>
              <a:rPr lang="en-US" sz="16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</a:rPr>
              <a:t>Matthew</a:t>
            </a:r>
            <a:r>
              <a:rPr lang="zh-CN" altLang="en-US" sz="16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</a:rPr>
              <a:t> </a:t>
            </a:r>
            <a:r>
              <a:rPr lang="en-US" altLang="zh-CN" sz="16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</a:rPr>
              <a:t>Dryer</a:t>
            </a:r>
            <a:r>
              <a:rPr lang="zh-CN" altLang="en-US" sz="16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</a:rPr>
              <a:t> </a:t>
            </a:r>
            <a:r>
              <a:rPr lang="en-US" altLang="zh-CN" sz="16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</a:rPr>
              <a:t>(1992)</a:t>
            </a:r>
            <a:r>
              <a:rPr lang="zh-CN" altLang="en-US" sz="16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</a:rPr>
              <a:t> </a:t>
            </a:r>
            <a:r>
              <a:rPr lang="en-US" altLang="zh-CN" sz="16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</a:rPr>
              <a:t>the</a:t>
            </a:r>
            <a:r>
              <a:rPr lang="zh-CN" altLang="en-US" sz="16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</a:rPr>
              <a:t> </a:t>
            </a:r>
            <a:r>
              <a:rPr lang="en-US" altLang="zh-CN" sz="16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</a:rPr>
              <a:t>Greenbergian</a:t>
            </a:r>
            <a:r>
              <a:rPr lang="zh-CN" altLang="en-US" sz="16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</a:rPr>
              <a:t> </a:t>
            </a:r>
            <a:r>
              <a:rPr lang="en-US" altLang="zh-CN" sz="16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</a:rPr>
              <a:t>word</a:t>
            </a:r>
            <a:r>
              <a:rPr lang="zh-CN" altLang="en-US" sz="16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</a:rPr>
              <a:t> </a:t>
            </a:r>
            <a:r>
              <a:rPr lang="en-US" altLang="zh-CN" sz="16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</a:rPr>
              <a:t>order</a:t>
            </a:r>
            <a:r>
              <a:rPr lang="zh-CN" altLang="en-US" sz="16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</a:rPr>
              <a:t> </a:t>
            </a:r>
            <a:r>
              <a:rPr lang="en-US" altLang="zh-CN" sz="16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</a:rPr>
              <a:t>correlations.</a:t>
            </a:r>
            <a:r>
              <a:rPr lang="zh-CN" altLang="en-US" sz="16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</a:rPr>
              <a:t> </a:t>
            </a:r>
            <a:r>
              <a:rPr lang="en-US" altLang="zh-CN" sz="16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</a:rPr>
              <a:t>Language</a:t>
            </a:r>
            <a:r>
              <a:rPr lang="zh-CN" altLang="en-US" sz="16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</a:rPr>
              <a:t> </a:t>
            </a:r>
            <a:r>
              <a:rPr lang="en-US" altLang="zh-CN" sz="16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</a:rPr>
              <a:t>68(1)</a:t>
            </a:r>
            <a:r>
              <a:rPr lang="zh-CN" altLang="en-US" sz="16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</a:rPr>
              <a:t>，</a:t>
            </a:r>
            <a:r>
              <a:rPr lang="en-US" altLang="zh-CN" sz="16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</a:rPr>
              <a:t>81-138.</a:t>
            </a:r>
          </a:p>
          <a:p>
            <a:endParaRPr lang="en-US" altLang="zh-CN" dirty="0"/>
          </a:p>
          <a:p>
            <a:r>
              <a:rPr lang="zh-CN" altLang="en-US" sz="2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</a:rPr>
              <a:t>提出</a:t>
            </a:r>
            <a:r>
              <a:rPr lang="en-US" altLang="zh-CN" sz="2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</a:rPr>
              <a:t>OV/VO</a:t>
            </a:r>
            <a:r>
              <a:rPr lang="zh-CN" altLang="en-US" sz="2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</a:rPr>
              <a:t>类型学：</a:t>
            </a:r>
            <a:r>
              <a:rPr lang="en-US" altLang="zh-CN" sz="2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</a:rPr>
              <a:t>625</a:t>
            </a:r>
            <a:r>
              <a:rPr lang="zh-CN" altLang="en-US" sz="2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</a:rPr>
              <a:t>个语言</a:t>
            </a:r>
            <a:endParaRPr lang="en-US" altLang="zh-CN" sz="2000" b="1" dirty="0">
              <a:solidFill>
                <a:srgbClr val="1E2761"/>
              </a:solidFill>
              <a:latin typeface="Microsoft YaHei" pitchFamily="34" charset="0"/>
              <a:ea typeface="Microsoft YaHei" pitchFamily="34" charset="-122"/>
            </a:endParaRPr>
          </a:p>
          <a:p>
            <a:endParaRPr lang="en-US" altLang="zh-CN" sz="2000" b="1" dirty="0">
              <a:solidFill>
                <a:srgbClr val="1E2761"/>
              </a:solidFill>
              <a:latin typeface="Microsoft YaHei" pitchFamily="34" charset="0"/>
              <a:ea typeface="Microsoft YaHei" pitchFamily="34" charset="-122"/>
            </a:endParaRPr>
          </a:p>
          <a:p>
            <a:r>
              <a:rPr lang="zh-CN" altLang="en-US" sz="20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</a:rPr>
              <a:t>“动词式成分”</a:t>
            </a:r>
            <a:r>
              <a:rPr lang="en-US" altLang="zh-CN" sz="20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</a:rPr>
              <a:t>(V</a:t>
            </a:r>
            <a:r>
              <a:rPr lang="zh-CN" altLang="en-US" sz="20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</a:rPr>
              <a:t> </a:t>
            </a:r>
            <a:r>
              <a:rPr lang="en-US" altLang="zh-CN" sz="20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</a:rPr>
              <a:t>patterner)</a:t>
            </a:r>
          </a:p>
          <a:p>
            <a:r>
              <a:rPr lang="en-US" altLang="zh-CN" sz="20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</a:rPr>
              <a:t>“</a:t>
            </a:r>
            <a:r>
              <a:rPr lang="zh-CN" altLang="en-US" sz="20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</a:rPr>
              <a:t>宾语式成分</a:t>
            </a:r>
            <a:r>
              <a:rPr lang="en-US" altLang="zh-CN" sz="20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</a:rPr>
              <a:t>”(O</a:t>
            </a:r>
            <a:r>
              <a:rPr lang="zh-CN" altLang="en-US" sz="20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</a:rPr>
              <a:t> </a:t>
            </a:r>
            <a:r>
              <a:rPr lang="en-US" altLang="zh-CN" sz="20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</a:rPr>
              <a:t>patterner)</a:t>
            </a:r>
            <a:endParaRPr lang="en-US" altLang="zh-CN" sz="1600" dirty="0">
              <a:solidFill>
                <a:srgbClr val="5A6472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sp>
        <p:nvSpPr>
          <p:cNvPr id="10" name="Shape 15">
            <a:extLst>
              <a:ext uri="{FF2B5EF4-FFF2-40B4-BE49-F238E27FC236}">
                <a16:creationId xmlns:a16="http://schemas.microsoft.com/office/drawing/2014/main" id="{11AADA08-E5F5-79BD-90DC-2F6F4EE26618}"/>
              </a:ext>
            </a:extLst>
          </p:cNvPr>
          <p:cNvSpPr/>
          <p:nvPr/>
        </p:nvSpPr>
        <p:spPr>
          <a:xfrm>
            <a:off x="6501681" y="1513519"/>
            <a:ext cx="4341910" cy="101102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r>
              <a:rPr lang="zh-CN" altLang="en-US" sz="20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</a:rPr>
              <a:t> 在更大规模的语言样本中检验了     </a:t>
            </a:r>
            <a:r>
              <a:rPr lang="en-US" altLang="zh-CN" sz="20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</a:rPr>
              <a:t>OV/VO</a:t>
            </a:r>
            <a:r>
              <a:rPr lang="zh-CN" altLang="en-US" sz="20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</a:rPr>
              <a:t>基本语序的预测力：</a:t>
            </a:r>
            <a:endParaRPr lang="en-US" altLang="zh-CN" sz="2000" dirty="0">
              <a:solidFill>
                <a:schemeClr val="bg1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E8B69B-42AC-8D32-C220-DCB5CA571943}"/>
              </a:ext>
            </a:extLst>
          </p:cNvPr>
          <p:cNvSpPr txBox="1"/>
          <p:nvPr/>
        </p:nvSpPr>
        <p:spPr>
          <a:xfrm>
            <a:off x="6501681" y="3041687"/>
            <a:ext cx="54168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00206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动词式成分总是和动词出现在同一侧，</a:t>
            </a:r>
            <a:endParaRPr lang="en-US" altLang="zh-CN" sz="2400" dirty="0">
              <a:solidFill>
                <a:srgbClr val="002060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r>
              <a:rPr lang="zh-CN" altLang="en-US" sz="2400" dirty="0">
                <a:solidFill>
                  <a:srgbClr val="00206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宾语式成分总是和宾语出现在同一侧</a:t>
            </a:r>
            <a:endParaRPr lang="en-US" sz="2400" dirty="0">
              <a:solidFill>
                <a:srgbClr val="002060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5272F0E-D3A5-319F-A8F1-F7C6979926BB}"/>
              </a:ext>
            </a:extLst>
          </p:cNvPr>
          <p:cNvSpPr txBox="1"/>
          <p:nvPr/>
        </p:nvSpPr>
        <p:spPr>
          <a:xfrm>
            <a:off x="6483182" y="4389832"/>
            <a:ext cx="54538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Greenberg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提出的基本语序的预测力得到了支持，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尤其前置词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-VO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与后置词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-OV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的语序相关性非常稳固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29B20A-4461-0C6E-2346-583FE53F6297}"/>
              </a:ext>
            </a:extLst>
          </p:cNvPr>
          <p:cNvSpPr txBox="1"/>
          <p:nvPr/>
        </p:nvSpPr>
        <p:spPr>
          <a:xfrm>
            <a:off x="6448248" y="5474186"/>
            <a:ext cx="57437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Greenberg提出的另一些参项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，如形容词和名词的语序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与动宾语序的相关性就没有那么强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30BA3DE4-949C-AD44-EF1E-87B3B65B722C}"/>
              </a:ext>
            </a:extLst>
          </p:cNvPr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9A24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</a:t>
            </a:r>
            <a:r>
              <a:rPr lang="en-US" altLang="zh-CN" sz="1200" b="1" kern="0" spc="150" dirty="0">
                <a:solidFill>
                  <a:srgbClr val="C9A24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r>
              <a:rPr lang="en-US" sz="1200" b="1" kern="0" spc="150" dirty="0">
                <a:solidFill>
                  <a:srgbClr val="C9A24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 </a:t>
            </a:r>
            <a:r>
              <a:rPr lang="en-US" sz="1200" b="1" kern="0" spc="150" dirty="0">
                <a:solidFill>
                  <a:srgbClr val="C9A24B"/>
                </a:solidFill>
                <a:latin typeface="Microsoft YaHei" pitchFamily="34" charset="0"/>
                <a:ea typeface="Microsoft YaHei" pitchFamily="34" charset="-122"/>
                <a:cs typeface="Helvetica Neue" pitchFamily="34" charset="-120"/>
              </a:rPr>
              <a:t>OV</a:t>
            </a:r>
            <a:r>
              <a:rPr lang="en-US" altLang="zh-CN" sz="1200" b="1" kern="0" spc="150" dirty="0">
                <a:solidFill>
                  <a:srgbClr val="C9A24B"/>
                </a:solidFill>
                <a:latin typeface="Microsoft YaHei" pitchFamily="34" charset="0"/>
                <a:ea typeface="Microsoft YaHei" pitchFamily="34" charset="-122"/>
                <a:cs typeface="Helvetica Neue" pitchFamily="34" charset="-120"/>
              </a:rPr>
              <a:t>/VO</a:t>
            </a:r>
            <a:r>
              <a:rPr lang="zh-CN" altLang="en-US" sz="1200" b="1" kern="0" spc="150" dirty="0">
                <a:solidFill>
                  <a:srgbClr val="C9A24B"/>
                </a:solidFill>
                <a:latin typeface="Microsoft YaHei" pitchFamily="34" charset="0"/>
                <a:ea typeface="Microsoft YaHei" pitchFamily="34" charset="-122"/>
                <a:cs typeface="Helvetica Neue" pitchFamily="34" charset="-120"/>
              </a:rPr>
              <a:t>类型学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12867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 animBg="1"/>
      <p:bldP spid="11" grpId="0"/>
      <p:bldP spid="12" grpId="0"/>
      <p:bldP spid="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>
            <a:extLst>
              <a:ext uri="{FF2B5EF4-FFF2-40B4-BE49-F238E27FC236}">
                <a16:creationId xmlns:a16="http://schemas.microsoft.com/office/drawing/2014/main" id="{7167F29F-2F7B-39D7-3D30-76BF48CEC499}"/>
              </a:ext>
            </a:extLst>
          </p:cNvPr>
          <p:cNvSpPr txBox="1"/>
          <p:nvPr/>
        </p:nvSpPr>
        <p:spPr>
          <a:xfrm>
            <a:off x="548640" y="731520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基本语序可以预测什么</a:t>
            </a:r>
            <a:r>
              <a:rPr lang="zh-CN" altLang="en-US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？</a:t>
            </a:r>
            <a:r>
              <a:rPr lang="en-US" altLang="zh-CN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OV/VO</a:t>
            </a:r>
            <a:r>
              <a:rPr lang="zh-CN" altLang="en-US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类型学</a:t>
            </a:r>
            <a:endParaRPr lang="en-US" sz="28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1B9F8BC-0D54-F86C-99A2-4BB60E4BFB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7756951"/>
              </p:ext>
            </p:extLst>
          </p:nvPr>
        </p:nvGraphicFramePr>
        <p:xfrm>
          <a:off x="1146312" y="1480505"/>
          <a:ext cx="9528312" cy="466705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749827">
                  <a:extLst>
                    <a:ext uri="{9D8B030D-6E8A-4147-A177-3AD203B41FA5}">
                      <a16:colId xmlns:a16="http://schemas.microsoft.com/office/drawing/2014/main" val="3761688975"/>
                    </a:ext>
                  </a:extLst>
                </a:gridCol>
                <a:gridCol w="3127513">
                  <a:extLst>
                    <a:ext uri="{9D8B030D-6E8A-4147-A177-3AD203B41FA5}">
                      <a16:colId xmlns:a16="http://schemas.microsoft.com/office/drawing/2014/main" val="3470048135"/>
                    </a:ext>
                  </a:extLst>
                </a:gridCol>
                <a:gridCol w="3650972">
                  <a:extLst>
                    <a:ext uri="{9D8B030D-6E8A-4147-A177-3AD203B41FA5}">
                      <a16:colId xmlns:a16="http://schemas.microsoft.com/office/drawing/2014/main" val="507413137"/>
                    </a:ext>
                  </a:extLst>
                </a:gridCol>
              </a:tblGrid>
              <a:tr h="467762">
                <a:tc>
                  <a:txBody>
                    <a:bodyPr/>
                    <a:lstStyle/>
                    <a:p>
                      <a:r>
                        <a:rPr lang="en-US" sz="2400" dirty="0" err="1"/>
                        <a:t>动词式成分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/>
                        <a:t>宾语式成分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/>
                        <a:t>例子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4439439"/>
                  </a:ext>
                </a:extLst>
              </a:tr>
              <a:tr h="467762">
                <a:tc>
                  <a:txBody>
                    <a:bodyPr/>
                    <a:lstStyle/>
                    <a:p>
                      <a:r>
                        <a:rPr lang="en-US" sz="2400" dirty="0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/>
                        <a:t>ate</a:t>
                      </a:r>
                      <a:r>
                        <a:rPr lang="en-US" altLang="zh-CN" sz="2400" dirty="0" err="1"/>
                        <a:t>+the</a:t>
                      </a:r>
                      <a:r>
                        <a:rPr lang="zh-CN" altLang="en-US" sz="2400" dirty="0"/>
                        <a:t> </a:t>
                      </a:r>
                      <a:r>
                        <a:rPr lang="en-US" altLang="zh-CN" sz="2400" dirty="0"/>
                        <a:t>sandwich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9800419"/>
                  </a:ext>
                </a:extLst>
              </a:tr>
              <a:tr h="406685">
                <a:tc>
                  <a:txBody>
                    <a:bodyPr/>
                    <a:lstStyle/>
                    <a:p>
                      <a:r>
                        <a:rPr lang="en-US" sz="2400" dirty="0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S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(there)</a:t>
                      </a:r>
                      <a:r>
                        <a:rPr lang="zh-CN" altLang="en-US" sz="2400" dirty="0"/>
                        <a:t> </a:t>
                      </a:r>
                      <a:r>
                        <a:rPr lang="en-US" altLang="zh-CN" sz="2400" dirty="0"/>
                        <a:t>entered</a:t>
                      </a:r>
                      <a:r>
                        <a:rPr lang="zh-CN" altLang="en-US" sz="2400" dirty="0"/>
                        <a:t> </a:t>
                      </a:r>
                      <a:r>
                        <a:rPr lang="en-US" altLang="zh-CN" sz="2400" dirty="0"/>
                        <a:t>+</a:t>
                      </a:r>
                      <a:r>
                        <a:rPr lang="zh-CN" altLang="en-US" sz="2400" dirty="0"/>
                        <a:t> </a:t>
                      </a:r>
                      <a:r>
                        <a:rPr lang="en-US" altLang="zh-CN" sz="2400" dirty="0"/>
                        <a:t>a</a:t>
                      </a:r>
                      <a:r>
                        <a:rPr lang="zh-CN" altLang="en-US" sz="2400" dirty="0"/>
                        <a:t> </a:t>
                      </a:r>
                      <a:r>
                        <a:rPr lang="en-US" altLang="zh-CN" sz="2400" dirty="0"/>
                        <a:t>tall</a:t>
                      </a:r>
                      <a:r>
                        <a:rPr lang="zh-CN" altLang="en-US" sz="2400" dirty="0"/>
                        <a:t> </a:t>
                      </a:r>
                      <a:r>
                        <a:rPr lang="en-US" altLang="zh-CN" sz="2400" dirty="0"/>
                        <a:t>man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3233461"/>
                  </a:ext>
                </a:extLst>
              </a:tr>
              <a:tr h="467762">
                <a:tc>
                  <a:txBody>
                    <a:bodyPr/>
                    <a:lstStyle/>
                    <a:p>
                      <a:r>
                        <a:rPr lang="zh-CN" altLang="en-US" sz="2400" dirty="0"/>
                        <a:t>附置词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/>
                        <a:t>名词短语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on</a:t>
                      </a:r>
                      <a:r>
                        <a:rPr lang="zh-CN" altLang="en-US" sz="2400" dirty="0"/>
                        <a:t> </a:t>
                      </a:r>
                      <a:r>
                        <a:rPr lang="en-US" altLang="zh-CN" sz="2400" dirty="0"/>
                        <a:t>+</a:t>
                      </a:r>
                      <a:r>
                        <a:rPr lang="zh-CN" altLang="en-US" sz="2400" dirty="0"/>
                        <a:t> </a:t>
                      </a:r>
                      <a:r>
                        <a:rPr lang="en-US" altLang="zh-CN" sz="2400" dirty="0"/>
                        <a:t>the</a:t>
                      </a:r>
                      <a:r>
                        <a:rPr lang="zh-CN" altLang="en-US" sz="2400" dirty="0"/>
                        <a:t> </a:t>
                      </a:r>
                      <a:r>
                        <a:rPr lang="en-US" altLang="zh-CN" sz="2400" dirty="0"/>
                        <a:t>table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9964666"/>
                  </a:ext>
                </a:extLst>
              </a:tr>
              <a:tr h="467762">
                <a:tc>
                  <a:txBody>
                    <a:bodyPr/>
                    <a:lstStyle/>
                    <a:p>
                      <a:r>
                        <a:rPr lang="en-US" sz="2400" dirty="0" err="1"/>
                        <a:t>系动词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/>
                        <a:t>谓语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is</a:t>
                      </a:r>
                      <a:r>
                        <a:rPr lang="zh-CN" altLang="en-US" sz="2400" dirty="0"/>
                        <a:t> </a:t>
                      </a:r>
                      <a:r>
                        <a:rPr lang="en-US" altLang="zh-CN" sz="2400" dirty="0"/>
                        <a:t>+</a:t>
                      </a:r>
                      <a:r>
                        <a:rPr lang="zh-CN" altLang="en-US" sz="2400" dirty="0"/>
                        <a:t> </a:t>
                      </a:r>
                      <a:r>
                        <a:rPr lang="en-US" altLang="zh-CN" sz="2400" dirty="0"/>
                        <a:t>teacher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1635917"/>
                  </a:ext>
                </a:extLst>
              </a:tr>
              <a:tr h="467762"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‘want’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/>
                        <a:t>动词短语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wants</a:t>
                      </a:r>
                      <a:r>
                        <a:rPr lang="zh-CN" altLang="en-US" sz="2400" dirty="0"/>
                        <a:t> </a:t>
                      </a:r>
                      <a:r>
                        <a:rPr lang="en-US" altLang="zh-CN" sz="2400" dirty="0"/>
                        <a:t>+</a:t>
                      </a:r>
                      <a:r>
                        <a:rPr lang="zh-CN" altLang="en-US" sz="2400" dirty="0"/>
                        <a:t> </a:t>
                      </a:r>
                      <a:r>
                        <a:rPr lang="en-US" altLang="zh-CN" sz="2400" dirty="0"/>
                        <a:t>to</a:t>
                      </a:r>
                      <a:r>
                        <a:rPr lang="zh-CN" altLang="en-US" sz="2400" dirty="0"/>
                        <a:t> </a:t>
                      </a:r>
                      <a:r>
                        <a:rPr lang="en-US" altLang="zh-CN" sz="2400" dirty="0"/>
                        <a:t>see</a:t>
                      </a:r>
                      <a:r>
                        <a:rPr lang="zh-CN" altLang="en-US" sz="2400" dirty="0"/>
                        <a:t> </a:t>
                      </a:r>
                      <a:r>
                        <a:rPr lang="en-US" altLang="zh-CN" sz="2400" dirty="0"/>
                        <a:t>Mary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8974805"/>
                  </a:ext>
                </a:extLst>
              </a:tr>
              <a:tr h="467762">
                <a:tc>
                  <a:txBody>
                    <a:bodyPr/>
                    <a:lstStyle/>
                    <a:p>
                      <a:r>
                        <a:rPr lang="en-US" sz="2400" dirty="0" err="1"/>
                        <a:t>时</a:t>
                      </a:r>
                      <a:r>
                        <a:rPr lang="en-US" altLang="zh-CN" sz="2400" dirty="0"/>
                        <a:t>/</a:t>
                      </a:r>
                      <a:r>
                        <a:rPr lang="zh-CN" altLang="en-US" sz="2400" dirty="0"/>
                        <a:t>体助动词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/>
                        <a:t>动词短语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has</a:t>
                      </a:r>
                      <a:r>
                        <a:rPr lang="zh-CN" altLang="en-US" sz="2400" dirty="0"/>
                        <a:t> </a:t>
                      </a:r>
                      <a:r>
                        <a:rPr lang="en-US" altLang="zh-CN" sz="2400" dirty="0"/>
                        <a:t>+</a:t>
                      </a:r>
                      <a:r>
                        <a:rPr lang="zh-CN" altLang="en-US" sz="2400" dirty="0"/>
                        <a:t> </a:t>
                      </a:r>
                      <a:r>
                        <a:rPr lang="en-US" altLang="zh-CN" sz="2400" dirty="0"/>
                        <a:t>eaten</a:t>
                      </a:r>
                      <a:r>
                        <a:rPr lang="zh-CN" altLang="en-US" sz="2400" dirty="0"/>
                        <a:t> </a:t>
                      </a:r>
                      <a:r>
                        <a:rPr lang="en-US" altLang="zh-CN" sz="2400" dirty="0"/>
                        <a:t>dinner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8272930"/>
                  </a:ext>
                </a:extLst>
              </a:tr>
              <a:tr h="467762">
                <a:tc>
                  <a:txBody>
                    <a:bodyPr/>
                    <a:lstStyle/>
                    <a:p>
                      <a:r>
                        <a:rPr lang="en-US" sz="2400" dirty="0" err="1"/>
                        <a:t>否定助动词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/>
                        <a:t>动词短语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-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6606748"/>
                  </a:ext>
                </a:extLst>
              </a:tr>
              <a:tr h="467762">
                <a:tc>
                  <a:txBody>
                    <a:bodyPr/>
                    <a:lstStyle/>
                    <a:p>
                      <a:r>
                        <a:rPr lang="en-US" sz="2400" dirty="0" err="1"/>
                        <a:t>标句词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/>
                        <a:t>小句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that</a:t>
                      </a:r>
                      <a:r>
                        <a:rPr lang="zh-CN" altLang="en-US" sz="2400" dirty="0"/>
                        <a:t> </a:t>
                      </a:r>
                      <a:r>
                        <a:rPr lang="en-US" altLang="zh-CN" sz="2400" dirty="0"/>
                        <a:t>+</a:t>
                      </a:r>
                      <a:r>
                        <a:rPr lang="zh-CN" altLang="en-US" sz="2400" dirty="0"/>
                        <a:t> </a:t>
                      </a:r>
                      <a:r>
                        <a:rPr lang="en-US" altLang="zh-CN" sz="2400" dirty="0"/>
                        <a:t>John</a:t>
                      </a:r>
                      <a:r>
                        <a:rPr lang="zh-CN" altLang="en-US" sz="2400" dirty="0"/>
                        <a:t> </a:t>
                      </a:r>
                      <a:r>
                        <a:rPr lang="en-US" altLang="zh-CN" sz="2400" dirty="0"/>
                        <a:t>is</a:t>
                      </a:r>
                      <a:r>
                        <a:rPr lang="zh-CN" altLang="en-US" sz="2400" dirty="0"/>
                        <a:t> </a:t>
                      </a:r>
                      <a:r>
                        <a:rPr lang="en-US" altLang="zh-CN" sz="2400" dirty="0"/>
                        <a:t>sick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881819"/>
                  </a:ext>
                </a:extLst>
              </a:tr>
              <a:tr h="467762">
                <a:tc>
                  <a:txBody>
                    <a:bodyPr/>
                    <a:lstStyle/>
                    <a:p>
                      <a:r>
                        <a:rPr lang="en-US" sz="2400" dirty="0" err="1">
                          <a:solidFill>
                            <a:srgbClr val="7030A0"/>
                          </a:solidFill>
                        </a:rPr>
                        <a:t>疑问词</a:t>
                      </a:r>
                      <a:endParaRPr lang="en-US" sz="2400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>
                          <a:solidFill>
                            <a:srgbClr val="7030A0"/>
                          </a:solidFill>
                        </a:rPr>
                        <a:t>小句</a:t>
                      </a:r>
                      <a:endParaRPr lang="en-US" sz="2400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-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95057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30426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7A99D7B-A4F6-BB57-5840-F6A03561B4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2090239"/>
              </p:ext>
            </p:extLst>
          </p:nvPr>
        </p:nvGraphicFramePr>
        <p:xfrm>
          <a:off x="1146312" y="1480505"/>
          <a:ext cx="9528312" cy="419929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176104">
                  <a:extLst>
                    <a:ext uri="{9D8B030D-6E8A-4147-A177-3AD203B41FA5}">
                      <a16:colId xmlns:a16="http://schemas.microsoft.com/office/drawing/2014/main" val="3761688975"/>
                    </a:ext>
                  </a:extLst>
                </a:gridCol>
                <a:gridCol w="3176104">
                  <a:extLst>
                    <a:ext uri="{9D8B030D-6E8A-4147-A177-3AD203B41FA5}">
                      <a16:colId xmlns:a16="http://schemas.microsoft.com/office/drawing/2014/main" val="3470048135"/>
                    </a:ext>
                  </a:extLst>
                </a:gridCol>
                <a:gridCol w="3176104">
                  <a:extLst>
                    <a:ext uri="{9D8B030D-6E8A-4147-A177-3AD203B41FA5}">
                      <a16:colId xmlns:a16="http://schemas.microsoft.com/office/drawing/2014/main" val="507413137"/>
                    </a:ext>
                  </a:extLst>
                </a:gridCol>
              </a:tblGrid>
              <a:tr h="467762">
                <a:tc>
                  <a:txBody>
                    <a:bodyPr/>
                    <a:lstStyle/>
                    <a:p>
                      <a:r>
                        <a:rPr lang="en-US" sz="2400" dirty="0" err="1"/>
                        <a:t>动词式成分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/>
                        <a:t>宾语式成分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/>
                        <a:t>例子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4439439"/>
                  </a:ext>
                </a:extLst>
              </a:tr>
              <a:tr h="467762">
                <a:tc>
                  <a:txBody>
                    <a:bodyPr/>
                    <a:lstStyle/>
                    <a:p>
                      <a:r>
                        <a:rPr lang="en-US" sz="2400" dirty="0" err="1"/>
                        <a:t>状语从句标记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/>
                        <a:t>小句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because</a:t>
                      </a:r>
                      <a:r>
                        <a:rPr lang="zh-CN" altLang="en-US" sz="2400" dirty="0"/>
                        <a:t> </a:t>
                      </a:r>
                      <a:r>
                        <a:rPr lang="en-US" altLang="zh-CN" sz="2400" dirty="0"/>
                        <a:t>+</a:t>
                      </a:r>
                      <a:r>
                        <a:rPr lang="zh-CN" altLang="en-US" sz="2400" dirty="0"/>
                        <a:t> </a:t>
                      </a:r>
                      <a:r>
                        <a:rPr lang="en-US" altLang="zh-CN" sz="2400" dirty="0"/>
                        <a:t>Bob</a:t>
                      </a:r>
                      <a:r>
                        <a:rPr lang="zh-CN" altLang="en-US" sz="2400" dirty="0"/>
                        <a:t> </a:t>
                      </a:r>
                      <a:r>
                        <a:rPr lang="en-US" altLang="zh-CN" sz="2400" dirty="0"/>
                        <a:t>has</a:t>
                      </a:r>
                      <a:r>
                        <a:rPr lang="zh-CN" altLang="en-US" sz="2400" dirty="0"/>
                        <a:t> </a:t>
                      </a:r>
                      <a:r>
                        <a:rPr lang="en-US" altLang="zh-CN" sz="2400" dirty="0"/>
                        <a:t>left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9800419"/>
                  </a:ext>
                </a:extLst>
              </a:tr>
              <a:tr h="406685">
                <a:tc>
                  <a:txBody>
                    <a:bodyPr/>
                    <a:lstStyle/>
                    <a:p>
                      <a:r>
                        <a:rPr lang="en-US" sz="2400" dirty="0" err="1"/>
                        <a:t>冠词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/>
                        <a:t>名词短语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the</a:t>
                      </a:r>
                      <a:r>
                        <a:rPr lang="zh-CN" altLang="en-US" sz="2400" dirty="0"/>
                        <a:t> </a:t>
                      </a:r>
                      <a:r>
                        <a:rPr lang="en-US" altLang="zh-CN" sz="2400" dirty="0"/>
                        <a:t>+</a:t>
                      </a:r>
                      <a:r>
                        <a:rPr lang="zh-CN" altLang="en-US" sz="2400" dirty="0"/>
                        <a:t> </a:t>
                      </a:r>
                      <a:r>
                        <a:rPr lang="en-US" altLang="zh-CN" sz="2400" dirty="0"/>
                        <a:t>tall</a:t>
                      </a:r>
                      <a:r>
                        <a:rPr lang="zh-CN" altLang="en-US" sz="2400" dirty="0"/>
                        <a:t> </a:t>
                      </a:r>
                      <a:r>
                        <a:rPr lang="en-US" altLang="zh-CN" sz="2400" dirty="0"/>
                        <a:t>man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3233461"/>
                  </a:ext>
                </a:extLst>
              </a:tr>
              <a:tr h="467762">
                <a:tc>
                  <a:txBody>
                    <a:bodyPr/>
                    <a:lstStyle/>
                    <a:p>
                      <a:r>
                        <a:rPr lang="en-US" sz="2400" dirty="0" err="1"/>
                        <a:t>复数词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/>
                        <a:t>名词短语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-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9964666"/>
                  </a:ext>
                </a:extLst>
              </a:tr>
              <a:tr h="467762">
                <a:tc>
                  <a:txBody>
                    <a:bodyPr/>
                    <a:lstStyle/>
                    <a:p>
                      <a:r>
                        <a:rPr lang="en-US" sz="2400" dirty="0" err="1">
                          <a:solidFill>
                            <a:srgbClr val="7030A0"/>
                          </a:solidFill>
                        </a:rPr>
                        <a:t>名词</a:t>
                      </a:r>
                      <a:endParaRPr lang="en-US" sz="2400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>
                          <a:solidFill>
                            <a:srgbClr val="7030A0"/>
                          </a:solidFill>
                        </a:rPr>
                        <a:t>领有者</a:t>
                      </a:r>
                      <a:endParaRPr lang="en-US" sz="2400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father</a:t>
                      </a:r>
                      <a:r>
                        <a:rPr lang="zh-CN" altLang="en-US" sz="2400" dirty="0"/>
                        <a:t> </a:t>
                      </a:r>
                      <a:r>
                        <a:rPr lang="en-US" altLang="zh-CN" sz="2400" dirty="0"/>
                        <a:t>+</a:t>
                      </a:r>
                      <a:r>
                        <a:rPr lang="zh-CN" altLang="en-US" sz="2400" dirty="0"/>
                        <a:t> </a:t>
                      </a:r>
                      <a:r>
                        <a:rPr lang="en-US" altLang="zh-CN" sz="2400" dirty="0"/>
                        <a:t>of</a:t>
                      </a:r>
                      <a:r>
                        <a:rPr lang="zh-CN" altLang="en-US" sz="2400" dirty="0"/>
                        <a:t> </a:t>
                      </a:r>
                      <a:r>
                        <a:rPr lang="en-US" altLang="zh-CN" sz="2400" dirty="0"/>
                        <a:t>John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1635917"/>
                  </a:ext>
                </a:extLst>
              </a:tr>
              <a:tr h="467762">
                <a:tc>
                  <a:txBody>
                    <a:bodyPr/>
                    <a:lstStyle/>
                    <a:p>
                      <a:r>
                        <a:rPr lang="en-US" sz="2400" dirty="0" err="1">
                          <a:solidFill>
                            <a:srgbClr val="7030A0"/>
                          </a:solidFill>
                        </a:rPr>
                        <a:t>名词</a:t>
                      </a:r>
                      <a:endParaRPr lang="en-US" sz="2400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>
                          <a:solidFill>
                            <a:srgbClr val="7030A0"/>
                          </a:solidFill>
                        </a:rPr>
                        <a:t>关系小句</a:t>
                      </a:r>
                      <a:endParaRPr lang="en-US" sz="2400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movies</a:t>
                      </a:r>
                      <a:r>
                        <a:rPr lang="zh-CN" altLang="en-US" sz="2400" dirty="0"/>
                        <a:t> </a:t>
                      </a:r>
                      <a:r>
                        <a:rPr lang="en-US" altLang="zh-CN" sz="2400" dirty="0"/>
                        <a:t>+</a:t>
                      </a:r>
                      <a:r>
                        <a:rPr lang="zh-CN" altLang="en-US" sz="2400" dirty="0"/>
                        <a:t> </a:t>
                      </a:r>
                      <a:r>
                        <a:rPr lang="en-US" altLang="zh-CN" sz="2400" dirty="0"/>
                        <a:t>that</a:t>
                      </a:r>
                      <a:r>
                        <a:rPr lang="zh-CN" altLang="en-US" sz="2400" dirty="0"/>
                        <a:t> </a:t>
                      </a:r>
                      <a:r>
                        <a:rPr lang="en-US" altLang="zh-CN" sz="2400" dirty="0"/>
                        <a:t>we</a:t>
                      </a:r>
                      <a:r>
                        <a:rPr lang="zh-CN" altLang="en-US" sz="2400" dirty="0"/>
                        <a:t> </a:t>
                      </a:r>
                      <a:r>
                        <a:rPr lang="en-US" altLang="zh-CN" sz="2400" dirty="0"/>
                        <a:t>saw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8974805"/>
                  </a:ext>
                </a:extLst>
              </a:tr>
              <a:tr h="467762">
                <a:tc>
                  <a:txBody>
                    <a:bodyPr/>
                    <a:lstStyle/>
                    <a:p>
                      <a:r>
                        <a:rPr lang="en-US" sz="2400" dirty="0" err="1">
                          <a:solidFill>
                            <a:srgbClr val="7030A0"/>
                          </a:solidFill>
                        </a:rPr>
                        <a:t>形容词</a:t>
                      </a:r>
                      <a:endParaRPr lang="en-US" sz="2400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>
                          <a:solidFill>
                            <a:srgbClr val="7030A0"/>
                          </a:solidFill>
                        </a:rPr>
                        <a:t>比较基准</a:t>
                      </a:r>
                      <a:endParaRPr lang="en-US" sz="2400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taller</a:t>
                      </a:r>
                      <a:r>
                        <a:rPr lang="zh-CN" altLang="en-US" sz="2400" dirty="0"/>
                        <a:t> </a:t>
                      </a:r>
                      <a:r>
                        <a:rPr lang="en-US" altLang="zh-CN" sz="2400" dirty="0"/>
                        <a:t>+</a:t>
                      </a:r>
                      <a:r>
                        <a:rPr lang="zh-CN" altLang="en-US" sz="2400" dirty="0"/>
                        <a:t> </a:t>
                      </a:r>
                      <a:r>
                        <a:rPr lang="en-US" altLang="zh-CN" sz="2400" dirty="0"/>
                        <a:t>than</a:t>
                      </a:r>
                      <a:r>
                        <a:rPr lang="zh-CN" altLang="en-US" sz="2400" dirty="0"/>
                        <a:t> </a:t>
                      </a:r>
                      <a:r>
                        <a:rPr lang="en-US" altLang="zh-CN" sz="2400" dirty="0"/>
                        <a:t>Bob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8272930"/>
                  </a:ext>
                </a:extLst>
              </a:tr>
              <a:tr h="467762">
                <a:tc>
                  <a:txBody>
                    <a:bodyPr/>
                    <a:lstStyle/>
                    <a:p>
                      <a:r>
                        <a:rPr lang="en-US" sz="2400" dirty="0" err="1"/>
                        <a:t>动词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/>
                        <a:t>介词短语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slept</a:t>
                      </a:r>
                      <a:r>
                        <a:rPr lang="zh-CN" altLang="en-US" sz="2400" dirty="0"/>
                        <a:t> </a:t>
                      </a:r>
                      <a:r>
                        <a:rPr lang="en-US" altLang="zh-CN" sz="2400" dirty="0"/>
                        <a:t>+</a:t>
                      </a:r>
                      <a:r>
                        <a:rPr lang="zh-CN" altLang="en-US" sz="2400" dirty="0"/>
                        <a:t> </a:t>
                      </a:r>
                      <a:r>
                        <a:rPr lang="en-US" altLang="zh-CN" sz="2400" dirty="0"/>
                        <a:t>on</a:t>
                      </a:r>
                      <a:r>
                        <a:rPr lang="zh-CN" altLang="en-US" sz="2400" dirty="0"/>
                        <a:t> </a:t>
                      </a:r>
                      <a:r>
                        <a:rPr lang="en-US" altLang="zh-CN" sz="2400" dirty="0"/>
                        <a:t>the</a:t>
                      </a:r>
                      <a:r>
                        <a:rPr lang="zh-CN" altLang="en-US" sz="2400" dirty="0"/>
                        <a:t> </a:t>
                      </a:r>
                      <a:r>
                        <a:rPr lang="en-US" altLang="zh-CN" sz="2400" dirty="0"/>
                        <a:t>floor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6606748"/>
                  </a:ext>
                </a:extLst>
              </a:tr>
              <a:tr h="467762">
                <a:tc>
                  <a:txBody>
                    <a:bodyPr/>
                    <a:lstStyle/>
                    <a:p>
                      <a:r>
                        <a:rPr lang="en-US" sz="2400" dirty="0" err="1"/>
                        <a:t>动词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/>
                        <a:t>方式副词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ran</a:t>
                      </a:r>
                      <a:r>
                        <a:rPr lang="zh-CN" altLang="en-US" sz="2400" dirty="0"/>
                        <a:t> </a:t>
                      </a:r>
                      <a:r>
                        <a:rPr lang="en-US" altLang="zh-CN" sz="2400" dirty="0"/>
                        <a:t>+</a:t>
                      </a:r>
                      <a:r>
                        <a:rPr lang="zh-CN" altLang="en-US" sz="2400" dirty="0"/>
                        <a:t> </a:t>
                      </a:r>
                      <a:r>
                        <a:rPr lang="en-US" altLang="zh-CN" sz="2400" dirty="0"/>
                        <a:t>slowly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881819"/>
                  </a:ext>
                </a:extLst>
              </a:tr>
            </a:tbl>
          </a:graphicData>
        </a:graphic>
      </p:graphicFrame>
      <p:sp>
        <p:nvSpPr>
          <p:cNvPr id="3" name="Text 1">
            <a:extLst>
              <a:ext uri="{FF2B5EF4-FFF2-40B4-BE49-F238E27FC236}">
                <a16:creationId xmlns:a16="http://schemas.microsoft.com/office/drawing/2014/main" id="{9959C8AC-56A1-AAF0-214F-B9E074100586}"/>
              </a:ext>
            </a:extLst>
          </p:cNvPr>
          <p:cNvSpPr txBox="1"/>
          <p:nvPr/>
        </p:nvSpPr>
        <p:spPr>
          <a:xfrm>
            <a:off x="548640" y="731520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基本语序可以预测什么</a:t>
            </a:r>
            <a:r>
              <a:rPr lang="zh-CN" altLang="en-US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？</a:t>
            </a:r>
            <a:r>
              <a:rPr lang="en-US" altLang="zh-CN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OV/VO</a:t>
            </a:r>
            <a:r>
              <a:rPr lang="zh-CN" altLang="en-US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类型学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508611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D1392085-5809-7CA3-1E8F-14065CA6212F}"/>
              </a:ext>
            </a:extLst>
          </p:cNvPr>
          <p:cNvSpPr txBox="1"/>
          <p:nvPr/>
        </p:nvSpPr>
        <p:spPr>
          <a:xfrm>
            <a:off x="548640" y="731520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OV</a:t>
            </a:r>
            <a:r>
              <a:rPr lang="zh-CN" altLang="en-US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型语言</a:t>
            </a:r>
            <a:r>
              <a:rPr lang="en-US" altLang="zh-CN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</a:t>
            </a:r>
            <a:r>
              <a:rPr lang="zh-CN" altLang="en-US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赫瓦希语（</a:t>
            </a:r>
            <a:r>
              <a:rPr lang="en-US" altLang="zh-CN" sz="2800" b="1" dirty="0" err="1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Khwarshi</a:t>
            </a:r>
            <a:r>
              <a:rPr lang="zh-CN" altLang="en-US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，高加索语系</a:t>
            </a:r>
            <a:r>
              <a:rPr lang="en-US" altLang="zh-CN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)</a:t>
            </a:r>
            <a:endParaRPr lang="en-US" sz="2800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285D80B5-C606-1268-C2D0-E5DCE595E1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7066" y="1928697"/>
            <a:ext cx="3683000" cy="3848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9FBE9F4-3FBB-2850-B5BE-F4FD94C5937A}"/>
              </a:ext>
            </a:extLst>
          </p:cNvPr>
          <p:cNvSpPr txBox="1"/>
          <p:nvPr/>
        </p:nvSpPr>
        <p:spPr>
          <a:xfrm>
            <a:off x="10600608" y="4048701"/>
            <a:ext cx="10229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>
                <a:solidFill>
                  <a:srgbClr val="C00000"/>
                </a:solidFill>
              </a:rPr>
              <a:t>khwarshi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F418CD4-D923-627E-05A2-02A9E96F7E08}"/>
              </a:ext>
            </a:extLst>
          </p:cNvPr>
          <p:cNvCxnSpPr/>
          <p:nvPr/>
        </p:nvCxnSpPr>
        <p:spPr>
          <a:xfrm flipH="1">
            <a:off x="9221056" y="4233367"/>
            <a:ext cx="1404731" cy="10601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21FFCF38-EC33-B4DE-8092-69723E8158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05" y="2163885"/>
            <a:ext cx="7772400" cy="16888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FB4C24D-520D-9784-0038-ECA5E22BBD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735" y="4555674"/>
            <a:ext cx="7772400" cy="1346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A205DB6-14B7-B028-9386-EDB2EF6CDF60}"/>
              </a:ext>
            </a:extLst>
          </p:cNvPr>
          <p:cNvSpPr txBox="1"/>
          <p:nvPr/>
        </p:nvSpPr>
        <p:spPr>
          <a:xfrm>
            <a:off x="757527" y="1739765"/>
            <a:ext cx="7210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OV</a:t>
            </a:r>
            <a:r>
              <a:rPr lang="en-US" altLang="zh-CN" sz="2800" b="1" dirty="0">
                <a:solidFill>
                  <a:srgbClr val="002060"/>
                </a:solidFill>
              </a:rPr>
              <a:t>: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34DBFB-27BC-40D8-F494-3E2F4D60096C}"/>
              </a:ext>
            </a:extLst>
          </p:cNvPr>
          <p:cNvSpPr txBox="1"/>
          <p:nvPr/>
        </p:nvSpPr>
        <p:spPr>
          <a:xfrm>
            <a:off x="696904" y="4032454"/>
            <a:ext cx="17386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002060"/>
                </a:solidFill>
              </a:rPr>
              <a:t>后置词</a:t>
            </a:r>
            <a:r>
              <a:rPr lang="en-US" altLang="zh-CN" sz="2800" b="1" dirty="0">
                <a:solidFill>
                  <a:srgbClr val="002060"/>
                </a:solidFill>
              </a:rPr>
              <a:t>Po:</a:t>
            </a:r>
            <a:endParaRPr lang="en-US" sz="28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57894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4B0B7021-DE3F-5C11-72D1-1580666291AA}"/>
              </a:ext>
            </a:extLst>
          </p:cNvPr>
          <p:cNvSpPr txBox="1"/>
          <p:nvPr/>
        </p:nvSpPr>
        <p:spPr>
          <a:xfrm>
            <a:off x="548640" y="731520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OV</a:t>
            </a:r>
            <a:r>
              <a:rPr lang="zh-CN" altLang="en-US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型语言</a:t>
            </a:r>
            <a:r>
              <a:rPr lang="en-US" altLang="zh-CN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</a:t>
            </a:r>
            <a:r>
              <a:rPr lang="zh-CN" altLang="en-US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赫瓦希语（</a:t>
            </a:r>
            <a:r>
              <a:rPr lang="en-US" altLang="zh-CN" sz="2800" b="1" dirty="0" err="1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Khwarshi</a:t>
            </a:r>
            <a:r>
              <a:rPr lang="zh-CN" altLang="en-US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，高加索语系</a:t>
            </a:r>
            <a:r>
              <a:rPr lang="en-US" altLang="zh-CN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)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8F289E-22D1-04BA-B3DC-CF1F6A2A4518}"/>
              </a:ext>
            </a:extLst>
          </p:cNvPr>
          <p:cNvSpPr txBox="1"/>
          <p:nvPr/>
        </p:nvSpPr>
        <p:spPr>
          <a:xfrm>
            <a:off x="990857" y="1665879"/>
            <a:ext cx="30299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002060"/>
                </a:solidFill>
              </a:rPr>
              <a:t>领属语</a:t>
            </a:r>
            <a:r>
              <a:rPr lang="en-US" altLang="zh-CN" sz="2800" b="1" dirty="0">
                <a:solidFill>
                  <a:srgbClr val="002060"/>
                </a:solidFill>
              </a:rPr>
              <a:t>Gen-</a:t>
            </a:r>
            <a:r>
              <a:rPr lang="zh-CN" altLang="en-US" sz="2800" b="1" dirty="0">
                <a:solidFill>
                  <a:srgbClr val="002060"/>
                </a:solidFill>
              </a:rPr>
              <a:t>名词</a:t>
            </a:r>
            <a:r>
              <a:rPr lang="en-US" altLang="zh-CN" sz="2800" b="1" dirty="0">
                <a:solidFill>
                  <a:srgbClr val="002060"/>
                </a:solidFill>
              </a:rPr>
              <a:t>N:</a:t>
            </a:r>
            <a:endParaRPr lang="en-US" sz="2800" b="1" dirty="0">
              <a:solidFill>
                <a:srgbClr val="00206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11F260-2256-2908-6EC9-B8D5CF597A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6690" y="2285470"/>
            <a:ext cx="9054549" cy="15836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90278E7-F44A-EC54-1716-5195E2217A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6689" y="4586463"/>
            <a:ext cx="9298059" cy="162513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0E5C6CE-C4F9-AFA5-FCED-D20C95D584DD}"/>
              </a:ext>
            </a:extLst>
          </p:cNvPr>
          <p:cNvSpPr txBox="1"/>
          <p:nvPr/>
        </p:nvSpPr>
        <p:spPr>
          <a:xfrm>
            <a:off x="990857" y="4056087"/>
            <a:ext cx="33232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002060"/>
                </a:solidFill>
              </a:rPr>
              <a:t>方式副词</a:t>
            </a:r>
            <a:r>
              <a:rPr lang="en-US" altLang="zh-CN" sz="2800" b="1" dirty="0">
                <a:solidFill>
                  <a:srgbClr val="002060"/>
                </a:solidFill>
              </a:rPr>
              <a:t>Adv-</a:t>
            </a:r>
            <a:r>
              <a:rPr lang="zh-CN" altLang="en-US" sz="2800" b="1" dirty="0">
                <a:solidFill>
                  <a:srgbClr val="002060"/>
                </a:solidFill>
              </a:rPr>
              <a:t>动词</a:t>
            </a:r>
            <a:r>
              <a:rPr lang="en-US" altLang="zh-CN" sz="2800" b="1" dirty="0">
                <a:solidFill>
                  <a:srgbClr val="002060"/>
                </a:solidFill>
              </a:rPr>
              <a:t>V:</a:t>
            </a:r>
            <a:endParaRPr lang="en-US" sz="28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70807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CDC2667F-02F5-28E6-80A3-BB23CA1235F1}"/>
              </a:ext>
            </a:extLst>
          </p:cNvPr>
          <p:cNvSpPr txBox="1"/>
          <p:nvPr/>
        </p:nvSpPr>
        <p:spPr>
          <a:xfrm>
            <a:off x="548640" y="731520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OV</a:t>
            </a:r>
            <a:r>
              <a:rPr lang="zh-CN" altLang="en-US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型语言</a:t>
            </a:r>
            <a:r>
              <a:rPr lang="en-US" altLang="zh-CN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</a:t>
            </a:r>
            <a:r>
              <a:rPr lang="zh-CN" altLang="en-US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赫瓦希语（</a:t>
            </a:r>
            <a:r>
              <a:rPr lang="en-US" altLang="zh-CN" sz="2800" b="1" dirty="0" err="1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Khwarshi</a:t>
            </a:r>
            <a:r>
              <a:rPr lang="zh-CN" altLang="en-US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，高加索语系</a:t>
            </a:r>
            <a:r>
              <a:rPr lang="en-US" altLang="zh-CN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)</a:t>
            </a:r>
            <a:endParaRPr lang="en-US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B4E880-F4AF-6F46-81F9-1E36A85301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76" y="2447320"/>
            <a:ext cx="9524848" cy="16026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17FA682-37C4-D00E-6B7D-D4C6A03CD276}"/>
              </a:ext>
            </a:extLst>
          </p:cNvPr>
          <p:cNvSpPr txBox="1"/>
          <p:nvPr/>
        </p:nvSpPr>
        <p:spPr>
          <a:xfrm>
            <a:off x="990857" y="1810057"/>
            <a:ext cx="36960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002060"/>
                </a:solidFill>
              </a:rPr>
              <a:t>比较基准</a:t>
            </a:r>
            <a:r>
              <a:rPr lang="en-US" altLang="zh-CN" sz="2800" b="1" dirty="0">
                <a:solidFill>
                  <a:srgbClr val="002060"/>
                </a:solidFill>
              </a:rPr>
              <a:t>St-</a:t>
            </a:r>
            <a:r>
              <a:rPr lang="zh-CN" altLang="en-US" sz="2800" b="1" dirty="0">
                <a:solidFill>
                  <a:srgbClr val="002060"/>
                </a:solidFill>
              </a:rPr>
              <a:t>形容词</a:t>
            </a:r>
            <a:r>
              <a:rPr lang="en-US" altLang="zh-CN" sz="2800" b="1" dirty="0">
                <a:solidFill>
                  <a:srgbClr val="002060"/>
                </a:solidFill>
              </a:rPr>
              <a:t>Adj:</a:t>
            </a:r>
            <a:endParaRPr lang="en-US" sz="2800" b="1" dirty="0">
              <a:solidFill>
                <a:srgbClr val="00206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3D3941D-C82D-DA7B-D8CD-1B6395B018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76" y="4736539"/>
            <a:ext cx="9524848" cy="162020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E90102F-AFAE-A70E-5FAC-4EB1F5D3CE44}"/>
              </a:ext>
            </a:extLst>
          </p:cNvPr>
          <p:cNvSpPr txBox="1"/>
          <p:nvPr/>
        </p:nvSpPr>
        <p:spPr>
          <a:xfrm>
            <a:off x="990857" y="4068924"/>
            <a:ext cx="31238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002060"/>
                </a:solidFill>
              </a:rPr>
              <a:t>介词短语</a:t>
            </a:r>
            <a:r>
              <a:rPr lang="en-US" altLang="zh-CN" sz="2800" b="1" dirty="0">
                <a:solidFill>
                  <a:srgbClr val="002060"/>
                </a:solidFill>
              </a:rPr>
              <a:t>PP-</a:t>
            </a:r>
            <a:r>
              <a:rPr lang="zh-CN" altLang="en-US" sz="2800" b="1" dirty="0">
                <a:solidFill>
                  <a:srgbClr val="002060"/>
                </a:solidFill>
              </a:rPr>
              <a:t>动词</a:t>
            </a:r>
            <a:r>
              <a:rPr lang="en-US" altLang="zh-CN" sz="2800" b="1" dirty="0">
                <a:solidFill>
                  <a:srgbClr val="002060"/>
                </a:solidFill>
              </a:rPr>
              <a:t>V:</a:t>
            </a:r>
            <a:endParaRPr lang="en-US" sz="28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75099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1DF1B19C-5C1D-A01D-8037-176677E1D796}"/>
              </a:ext>
            </a:extLst>
          </p:cNvPr>
          <p:cNvSpPr txBox="1"/>
          <p:nvPr/>
        </p:nvSpPr>
        <p:spPr>
          <a:xfrm>
            <a:off x="548640" y="731520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OV</a:t>
            </a:r>
            <a:r>
              <a:rPr lang="zh-CN" altLang="en-US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型语言</a:t>
            </a:r>
            <a:r>
              <a:rPr lang="en-US" altLang="zh-CN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</a:t>
            </a:r>
            <a:r>
              <a:rPr lang="zh-CN" altLang="en-US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赫瓦希语（</a:t>
            </a:r>
            <a:r>
              <a:rPr lang="en-US" altLang="zh-CN" sz="2800" b="1" dirty="0" err="1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Khwarshi</a:t>
            </a:r>
            <a:r>
              <a:rPr lang="zh-CN" altLang="en-US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，高加索语系</a:t>
            </a:r>
            <a:r>
              <a:rPr lang="en-US" altLang="zh-CN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)</a:t>
            </a:r>
            <a:endParaRPr lang="en-US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482CEB-5876-DB8D-8FC6-CD2B31FFAA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190" y="2435485"/>
            <a:ext cx="9859620" cy="164327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11A509E-D82B-253E-4847-6DC0E8DE9198}"/>
              </a:ext>
            </a:extLst>
          </p:cNvPr>
          <p:cNvSpPr txBox="1"/>
          <p:nvPr/>
        </p:nvSpPr>
        <p:spPr>
          <a:xfrm>
            <a:off x="831831" y="1756154"/>
            <a:ext cx="39047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002060"/>
                </a:solidFill>
              </a:rPr>
              <a:t>动词</a:t>
            </a:r>
            <a:r>
              <a:rPr lang="en-US" altLang="zh-CN" sz="2800" b="1" dirty="0">
                <a:solidFill>
                  <a:srgbClr val="002060"/>
                </a:solidFill>
              </a:rPr>
              <a:t>V-(</a:t>
            </a:r>
            <a:r>
              <a:rPr lang="zh-CN" altLang="en-US" sz="2800" b="1" dirty="0">
                <a:solidFill>
                  <a:srgbClr val="002060"/>
                </a:solidFill>
              </a:rPr>
              <a:t>时体</a:t>
            </a:r>
            <a:r>
              <a:rPr lang="en-US" altLang="zh-CN" sz="2800" b="1" dirty="0">
                <a:solidFill>
                  <a:srgbClr val="002060"/>
                </a:solidFill>
              </a:rPr>
              <a:t>)</a:t>
            </a:r>
            <a:r>
              <a:rPr lang="zh-CN" altLang="en-US" sz="2800" b="1" dirty="0">
                <a:solidFill>
                  <a:srgbClr val="002060"/>
                </a:solidFill>
              </a:rPr>
              <a:t>助动词</a:t>
            </a:r>
            <a:r>
              <a:rPr lang="en-US" altLang="zh-CN" sz="2800" b="1" dirty="0">
                <a:solidFill>
                  <a:srgbClr val="002060"/>
                </a:solidFill>
              </a:rPr>
              <a:t>Aux:</a:t>
            </a:r>
            <a:endParaRPr lang="en-US" sz="28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27186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71D49394-D47A-8EB9-FB3D-793555C15922}"/>
              </a:ext>
            </a:extLst>
          </p:cNvPr>
          <p:cNvSpPr txBox="1"/>
          <p:nvPr/>
        </p:nvSpPr>
        <p:spPr>
          <a:xfrm>
            <a:off x="548640" y="731520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VO</a:t>
            </a:r>
            <a:r>
              <a:rPr lang="zh-CN" altLang="en-US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型语言</a:t>
            </a:r>
            <a:r>
              <a:rPr lang="en-US" altLang="zh-CN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</a:t>
            </a:r>
            <a:r>
              <a:rPr lang="zh-CN" altLang="en-US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萨波特克语（</a:t>
            </a:r>
            <a:r>
              <a:rPr lang="en-US" altLang="zh-CN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Zapotec</a:t>
            </a:r>
            <a:r>
              <a:rPr lang="zh-CN" altLang="en-US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，欧托</a:t>
            </a:r>
            <a:r>
              <a:rPr lang="en-US" altLang="zh-CN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</a:t>
            </a:r>
            <a:r>
              <a:rPr lang="zh-CN" altLang="en-US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曼格语系</a:t>
            </a:r>
            <a:r>
              <a:rPr lang="en-US" altLang="zh-CN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)</a:t>
            </a:r>
            <a:endParaRPr lang="en-US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82495A-29F2-A4B6-2C53-0DEE600F50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1172" y="2002719"/>
            <a:ext cx="4640956" cy="34041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06A0EDC-E0B0-CEFC-2FF8-FB9AC1FD77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872" y="3077469"/>
            <a:ext cx="7772400" cy="155120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F948EDB-57BC-82CE-59A1-A3972514BE6C}"/>
              </a:ext>
            </a:extLst>
          </p:cNvPr>
          <p:cNvSpPr txBox="1"/>
          <p:nvPr/>
        </p:nvSpPr>
        <p:spPr>
          <a:xfrm>
            <a:off x="744275" y="2278484"/>
            <a:ext cx="7307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rgbClr val="002060"/>
                </a:solidFill>
              </a:rPr>
              <a:t>VO:</a:t>
            </a:r>
            <a:endParaRPr lang="en-US" sz="28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06446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29FC4BDF-9D94-4738-9660-5AB865F5E68A}"/>
              </a:ext>
            </a:extLst>
          </p:cNvPr>
          <p:cNvSpPr txBox="1"/>
          <p:nvPr/>
        </p:nvSpPr>
        <p:spPr>
          <a:xfrm>
            <a:off x="548640" y="731520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VO</a:t>
            </a:r>
            <a:r>
              <a:rPr lang="zh-CN" altLang="en-US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型语言</a:t>
            </a:r>
            <a:r>
              <a:rPr lang="en-US" altLang="zh-CN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</a:t>
            </a:r>
            <a:r>
              <a:rPr lang="zh-CN" altLang="en-US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萨波特克语（</a:t>
            </a:r>
            <a:r>
              <a:rPr lang="en-US" altLang="zh-CN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Zapotec</a:t>
            </a:r>
            <a:r>
              <a:rPr lang="zh-CN" altLang="en-US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，欧托</a:t>
            </a:r>
            <a:r>
              <a:rPr lang="en-US" altLang="zh-CN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</a:t>
            </a:r>
            <a:r>
              <a:rPr lang="zh-CN" altLang="en-US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曼格语系</a:t>
            </a:r>
            <a:r>
              <a:rPr lang="en-US" altLang="zh-CN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)</a:t>
            </a:r>
            <a:endParaRPr lang="en-US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95226D-A1F8-DD75-D097-3AD7885428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061" y="2219704"/>
            <a:ext cx="9788211" cy="15771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5C43A56-26F9-00F3-56CE-D18C8AD1B1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061" y="4466926"/>
            <a:ext cx="10068958" cy="165955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5B0713C-6198-037C-557B-57A3F77E959D}"/>
              </a:ext>
            </a:extLst>
          </p:cNvPr>
          <p:cNvSpPr txBox="1"/>
          <p:nvPr/>
        </p:nvSpPr>
        <p:spPr>
          <a:xfrm>
            <a:off x="816173" y="1706951"/>
            <a:ext cx="16802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002060"/>
                </a:solidFill>
              </a:rPr>
              <a:t>前置词</a:t>
            </a:r>
            <a:r>
              <a:rPr lang="en-US" altLang="zh-CN" sz="2800" b="1" dirty="0" err="1">
                <a:solidFill>
                  <a:srgbClr val="002060"/>
                </a:solidFill>
              </a:rPr>
              <a:t>Pr</a:t>
            </a:r>
            <a:r>
              <a:rPr lang="en-US" altLang="zh-CN" sz="2800" b="1" dirty="0">
                <a:solidFill>
                  <a:srgbClr val="002060"/>
                </a:solidFill>
              </a:rPr>
              <a:t>: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034757-C0D2-3FAC-074A-7AF300C20F63}"/>
              </a:ext>
            </a:extLst>
          </p:cNvPr>
          <p:cNvSpPr txBox="1"/>
          <p:nvPr/>
        </p:nvSpPr>
        <p:spPr>
          <a:xfrm>
            <a:off x="816173" y="3870259"/>
            <a:ext cx="30299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002060"/>
                </a:solidFill>
              </a:rPr>
              <a:t>名词</a:t>
            </a:r>
            <a:r>
              <a:rPr lang="en-US" altLang="zh-CN" sz="2800" b="1" dirty="0">
                <a:solidFill>
                  <a:srgbClr val="002060"/>
                </a:solidFill>
              </a:rPr>
              <a:t>N-</a:t>
            </a:r>
            <a:r>
              <a:rPr lang="zh-CN" altLang="en-US" sz="2800" b="1" dirty="0">
                <a:solidFill>
                  <a:srgbClr val="002060"/>
                </a:solidFill>
              </a:rPr>
              <a:t>领属语</a:t>
            </a:r>
            <a:r>
              <a:rPr lang="en-US" altLang="zh-CN" sz="2800" b="1" dirty="0">
                <a:solidFill>
                  <a:srgbClr val="002060"/>
                </a:solidFill>
              </a:rPr>
              <a:t>Gen:</a:t>
            </a:r>
            <a:endParaRPr lang="en-US" sz="28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12822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08A44233-B460-4F1D-DBD2-C24CB17A79DE}"/>
              </a:ext>
            </a:extLst>
          </p:cNvPr>
          <p:cNvSpPr txBox="1"/>
          <p:nvPr/>
        </p:nvSpPr>
        <p:spPr>
          <a:xfrm>
            <a:off x="548640" y="731520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VO</a:t>
            </a:r>
            <a:r>
              <a:rPr lang="zh-CN" altLang="en-US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型语言</a:t>
            </a:r>
            <a:r>
              <a:rPr lang="en-US" altLang="zh-CN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</a:t>
            </a:r>
            <a:r>
              <a:rPr lang="zh-CN" altLang="en-US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萨波特克语（</a:t>
            </a:r>
            <a:r>
              <a:rPr lang="en-US" altLang="zh-CN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Zapotec</a:t>
            </a:r>
            <a:r>
              <a:rPr lang="zh-CN" altLang="en-US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，欧托</a:t>
            </a:r>
            <a:r>
              <a:rPr lang="en-US" altLang="zh-CN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</a:t>
            </a:r>
            <a:r>
              <a:rPr lang="zh-CN" altLang="en-US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曼格语系</a:t>
            </a:r>
            <a:r>
              <a:rPr lang="en-US" altLang="zh-CN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)</a:t>
            </a:r>
            <a:endParaRPr lang="en-US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114D636-74AE-9433-F84E-DF47FFAE4E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40" y="2135416"/>
            <a:ext cx="10736198" cy="180047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C60F93C-7805-5739-2D9A-8AFF773197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483" y="4580935"/>
            <a:ext cx="10832169" cy="170195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B5D153B-368D-BC50-640E-9D0D2E663E27}"/>
              </a:ext>
            </a:extLst>
          </p:cNvPr>
          <p:cNvSpPr txBox="1"/>
          <p:nvPr/>
        </p:nvSpPr>
        <p:spPr>
          <a:xfrm>
            <a:off x="752318" y="1681878"/>
            <a:ext cx="33261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002060"/>
                </a:solidFill>
              </a:rPr>
              <a:t>动词</a:t>
            </a:r>
            <a:r>
              <a:rPr lang="en-US" altLang="zh-CN" sz="2800" b="1" dirty="0">
                <a:solidFill>
                  <a:srgbClr val="002060"/>
                </a:solidFill>
              </a:rPr>
              <a:t>V-</a:t>
            </a:r>
            <a:r>
              <a:rPr lang="zh-CN" altLang="en-US" sz="2800" b="1" dirty="0">
                <a:solidFill>
                  <a:srgbClr val="002060"/>
                </a:solidFill>
              </a:rPr>
              <a:t>方式副词</a:t>
            </a:r>
            <a:r>
              <a:rPr lang="en-US" altLang="zh-CN" sz="2800" b="1" dirty="0">
                <a:solidFill>
                  <a:srgbClr val="002060"/>
                </a:solidFill>
              </a:rPr>
              <a:t>Adv: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4671A0-1692-F3CC-2CE1-86F4B0C3B6D8}"/>
              </a:ext>
            </a:extLst>
          </p:cNvPr>
          <p:cNvSpPr txBox="1"/>
          <p:nvPr/>
        </p:nvSpPr>
        <p:spPr>
          <a:xfrm>
            <a:off x="752318" y="3996805"/>
            <a:ext cx="37048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002060"/>
                </a:solidFill>
              </a:rPr>
              <a:t>形容词</a:t>
            </a:r>
            <a:r>
              <a:rPr lang="en-US" altLang="zh-CN" sz="2800" b="1" dirty="0">
                <a:solidFill>
                  <a:srgbClr val="002060"/>
                </a:solidFill>
              </a:rPr>
              <a:t>Adj-</a:t>
            </a:r>
            <a:r>
              <a:rPr lang="zh-CN" altLang="en-US" sz="2800" b="1" dirty="0">
                <a:solidFill>
                  <a:srgbClr val="002060"/>
                </a:solidFill>
              </a:rPr>
              <a:t>比较基准</a:t>
            </a:r>
            <a:r>
              <a:rPr lang="en-US" altLang="zh-CN" sz="2800" b="1" dirty="0">
                <a:solidFill>
                  <a:srgbClr val="002060"/>
                </a:solidFill>
              </a:rPr>
              <a:t>St:</a:t>
            </a:r>
            <a:endParaRPr lang="en-US" sz="28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08809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52DFD68B-373C-92B9-7C85-2B3409309532}"/>
              </a:ext>
            </a:extLst>
          </p:cNvPr>
          <p:cNvSpPr txBox="1"/>
          <p:nvPr/>
        </p:nvSpPr>
        <p:spPr>
          <a:xfrm>
            <a:off x="548640" y="731520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VO</a:t>
            </a:r>
            <a:r>
              <a:rPr lang="zh-CN" altLang="en-US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型语言</a:t>
            </a:r>
            <a:r>
              <a:rPr lang="en-US" altLang="zh-CN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</a:t>
            </a:r>
            <a:r>
              <a:rPr lang="zh-CN" altLang="en-US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萨波特克语（</a:t>
            </a:r>
            <a:r>
              <a:rPr lang="en-US" altLang="zh-CN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Zapotec</a:t>
            </a:r>
            <a:r>
              <a:rPr lang="zh-CN" altLang="en-US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，欧托</a:t>
            </a:r>
            <a:r>
              <a:rPr lang="en-US" altLang="zh-CN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</a:t>
            </a:r>
            <a:r>
              <a:rPr lang="zh-CN" altLang="en-US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曼格语系</a:t>
            </a:r>
            <a:r>
              <a:rPr lang="en-US" altLang="zh-CN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)</a:t>
            </a:r>
            <a:endParaRPr lang="en-US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4B970C8-DBA2-7FE8-1CE5-E3C3148DF9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838" y="2129798"/>
            <a:ext cx="10776693" cy="176247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D4832EA-B351-9CF8-D344-1FCD321F77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838" y="4468457"/>
            <a:ext cx="10608536" cy="182512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0BDE957-FB4F-697A-3276-4BB453446743}"/>
              </a:ext>
            </a:extLst>
          </p:cNvPr>
          <p:cNvSpPr txBox="1"/>
          <p:nvPr/>
        </p:nvSpPr>
        <p:spPr>
          <a:xfrm>
            <a:off x="814838" y="1613027"/>
            <a:ext cx="31273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002060"/>
                </a:solidFill>
              </a:rPr>
              <a:t>动词</a:t>
            </a:r>
            <a:r>
              <a:rPr lang="en-US" altLang="zh-CN" sz="2800" b="1" dirty="0">
                <a:solidFill>
                  <a:srgbClr val="002060"/>
                </a:solidFill>
              </a:rPr>
              <a:t>V-</a:t>
            </a:r>
            <a:r>
              <a:rPr lang="zh-CN" altLang="en-US" sz="2800" b="1" dirty="0">
                <a:solidFill>
                  <a:srgbClr val="002060"/>
                </a:solidFill>
              </a:rPr>
              <a:t>介词短语</a:t>
            </a:r>
            <a:r>
              <a:rPr lang="en-US" altLang="zh-CN" sz="2800" b="1" dirty="0">
                <a:solidFill>
                  <a:srgbClr val="002060"/>
                </a:solidFill>
              </a:rPr>
              <a:t>PP: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C5AF8E-8823-FA48-EDD2-44A49D0FF496}"/>
              </a:ext>
            </a:extLst>
          </p:cNvPr>
          <p:cNvSpPr txBox="1"/>
          <p:nvPr/>
        </p:nvSpPr>
        <p:spPr>
          <a:xfrm>
            <a:off x="768626" y="3945237"/>
            <a:ext cx="38977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rgbClr val="002060"/>
                </a:solidFill>
              </a:rPr>
              <a:t>(</a:t>
            </a:r>
            <a:r>
              <a:rPr lang="zh-CN" altLang="en-US" sz="2800" b="1" dirty="0">
                <a:solidFill>
                  <a:srgbClr val="002060"/>
                </a:solidFill>
              </a:rPr>
              <a:t>时体</a:t>
            </a:r>
            <a:r>
              <a:rPr lang="en-US" altLang="zh-CN" sz="2800" b="1" dirty="0">
                <a:solidFill>
                  <a:srgbClr val="002060"/>
                </a:solidFill>
              </a:rPr>
              <a:t>)</a:t>
            </a:r>
            <a:r>
              <a:rPr lang="zh-CN" altLang="en-US" sz="2800" b="1" dirty="0">
                <a:solidFill>
                  <a:srgbClr val="002060"/>
                </a:solidFill>
              </a:rPr>
              <a:t>助动词</a:t>
            </a:r>
            <a:r>
              <a:rPr lang="en-US" altLang="zh-CN" sz="2800" b="1" dirty="0">
                <a:solidFill>
                  <a:srgbClr val="002060"/>
                </a:solidFill>
              </a:rPr>
              <a:t>Aux-</a:t>
            </a:r>
            <a:r>
              <a:rPr lang="zh-CN" altLang="en-US" sz="2800" b="1" dirty="0">
                <a:solidFill>
                  <a:srgbClr val="002060"/>
                </a:solidFill>
              </a:rPr>
              <a:t>动词</a:t>
            </a:r>
            <a:r>
              <a:rPr lang="en-US" altLang="zh-CN" sz="2800" b="1" dirty="0">
                <a:solidFill>
                  <a:srgbClr val="002060"/>
                </a:solidFill>
              </a:rPr>
              <a:t>V:</a:t>
            </a:r>
            <a:endParaRPr lang="en-US" sz="28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6561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9A24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</a:t>
            </a:r>
            <a:r>
              <a:rPr lang="en-US" altLang="zh-CN" sz="1200" b="1" kern="0" spc="150" dirty="0">
                <a:solidFill>
                  <a:srgbClr val="C9A24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</a:t>
            </a:r>
            <a:r>
              <a:rPr lang="en-US" sz="1200" b="1" kern="0" spc="150" dirty="0">
                <a:solidFill>
                  <a:srgbClr val="C9A24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 </a:t>
            </a:r>
            <a:r>
              <a:rPr lang="en-US" sz="1200" b="1" kern="0" spc="150" dirty="0" err="1">
                <a:solidFill>
                  <a:srgbClr val="C9A2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共性二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附置词与语序类型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577840" cy="16002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55117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VSO 语序 ⊃ 前置词（Preposition）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97180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共性三：以 VSO 为主导语序的语言，总是使用前置词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4069080"/>
            <a:ext cx="5577840" cy="1600200"/>
          </a:xfrm>
          <a:prstGeom prst="roundRect">
            <a:avLst>
              <a:gd name="adj" fmla="val 4000"/>
            </a:avLst>
          </a:prstGeom>
          <a:solidFill>
            <a:srgbClr val="3A45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428853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SOV 语序 ⊃ 后置词（Postposition）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70916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共性四：以 SOV 为主导语序的语言，以压倒性频率使用后置词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537960" y="2331720"/>
            <a:ext cx="22860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9AA3B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63608" y="2331720"/>
            <a:ext cx="2286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[VSO, </a:t>
            </a:r>
            <a:r>
              <a:rPr lang="en-US" sz="1500" dirty="0" err="1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</a:t>
            </a:r>
            <a:r>
              <a:rPr lang="en-US" sz="1500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]</a:t>
            </a:r>
            <a:r>
              <a:rPr lang="zh-CN" altLang="en-US" sz="1500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：</a:t>
            </a:r>
            <a:r>
              <a:rPr lang="en-US" altLang="zh-CN" sz="1500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823960" y="2331720"/>
            <a:ext cx="22860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9AA3B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823960" y="2331720"/>
            <a:ext cx="2286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*[VSO, ~</a:t>
            </a:r>
            <a:r>
              <a:rPr lang="en-US" sz="1500" dirty="0" err="1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</a:t>
            </a:r>
            <a:r>
              <a:rPr lang="en-US" sz="1500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]</a:t>
            </a:r>
            <a:r>
              <a:rPr lang="zh-CN" altLang="en-US" sz="1500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：</a:t>
            </a:r>
            <a:r>
              <a:rPr lang="en-US" altLang="zh-CN" sz="1500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537960" y="3131820"/>
            <a:ext cx="22860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9AA3B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37960" y="3131820"/>
            <a:ext cx="2286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[~VSO, </a:t>
            </a:r>
            <a:r>
              <a:rPr lang="en-US" sz="1500" dirty="0" err="1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</a:t>
            </a:r>
            <a:r>
              <a:rPr lang="en-US" sz="1500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]</a:t>
            </a:r>
            <a:r>
              <a:rPr lang="zh-CN" altLang="en-US" sz="1500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：</a:t>
            </a:r>
            <a:r>
              <a:rPr lang="en-US" altLang="zh-CN" sz="1500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823960" y="3131820"/>
            <a:ext cx="22860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9AA3B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823960" y="3131820"/>
            <a:ext cx="2286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[~VSO, ~</a:t>
            </a:r>
            <a:r>
              <a:rPr lang="en-US" sz="1500" dirty="0" err="1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</a:t>
            </a:r>
            <a:r>
              <a:rPr lang="en-US" sz="1500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]</a:t>
            </a:r>
            <a:r>
              <a:rPr lang="zh-CN" altLang="en-US" sz="1500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：</a:t>
            </a:r>
            <a:r>
              <a:rPr lang="en-US" altLang="zh-CN" sz="1500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14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537960" y="4069080"/>
            <a:ext cx="22860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9AA3B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37960" y="4069080"/>
            <a:ext cx="2286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[SOV, Po]</a:t>
            </a:r>
            <a:r>
              <a:rPr lang="zh-CN" altLang="en-US" sz="1500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：</a:t>
            </a:r>
            <a:r>
              <a:rPr lang="en-US" altLang="zh-CN" sz="1500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11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823960" y="4069080"/>
            <a:ext cx="22860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9AA3B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823960" y="4069080"/>
            <a:ext cx="2286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*[SOV, ~Po]</a:t>
            </a:r>
            <a:r>
              <a:rPr lang="zh-CN" altLang="en-US" sz="1500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：</a:t>
            </a:r>
            <a:r>
              <a:rPr lang="en-US" altLang="zh-CN" sz="1500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537960" y="4869180"/>
            <a:ext cx="22860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9AA3B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37960" y="4869180"/>
            <a:ext cx="2286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[~SOV, Po]</a:t>
            </a:r>
            <a:r>
              <a:rPr lang="zh-CN" altLang="en-US" sz="1500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：</a:t>
            </a:r>
            <a:r>
              <a:rPr lang="en-US" altLang="zh-CN" sz="1500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8823960" y="4869180"/>
            <a:ext cx="22860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9AA3B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823960" y="4869180"/>
            <a:ext cx="2286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[~SOV, ~Po]</a:t>
            </a:r>
            <a:r>
              <a:rPr lang="zh-CN" altLang="en-US" sz="1500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：</a:t>
            </a:r>
            <a:r>
              <a:rPr lang="en-US" altLang="zh-CN" sz="1500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16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E3E6EE"/>
            </a:solidFill>
            <a:prstDash val="solid"/>
          </a:ln>
        </p:spPr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09E1F31-41A3-3669-037F-923C4D6C38CD}"/>
              </a:ext>
            </a:extLst>
          </p:cNvPr>
          <p:cNvSpPr txBox="1"/>
          <p:nvPr/>
        </p:nvSpPr>
        <p:spPr>
          <a:xfrm>
            <a:off x="6413026" y="1766013"/>
            <a:ext cx="29016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Greenberg</a:t>
            </a:r>
            <a:r>
              <a:rPr lang="zh-CN" altLang="en-US" dirty="0"/>
              <a:t> </a:t>
            </a:r>
            <a:r>
              <a:rPr lang="en-US" altLang="zh-CN" dirty="0"/>
              <a:t>(1963</a:t>
            </a:r>
            <a:r>
              <a:rPr lang="zh-CN" altLang="en-US" dirty="0"/>
              <a:t>）：</a:t>
            </a:r>
            <a:r>
              <a:rPr lang="en-US" altLang="zh-CN" dirty="0"/>
              <a:t>Table</a:t>
            </a:r>
            <a:r>
              <a:rPr lang="zh-CN" altLang="en-US" dirty="0"/>
              <a:t> </a:t>
            </a:r>
            <a:r>
              <a:rPr lang="en-US" altLang="zh-CN" dirty="0"/>
              <a:t>1</a:t>
            </a:r>
            <a:endParaRPr lang="en-US" dirty="0"/>
          </a:p>
        </p:txBody>
      </p:sp>
      <p:sp>
        <p:nvSpPr>
          <p:cNvPr id="32" name="Text 2">
            <a:extLst>
              <a:ext uri="{FF2B5EF4-FFF2-40B4-BE49-F238E27FC236}">
                <a16:creationId xmlns:a16="http://schemas.microsoft.com/office/drawing/2014/main" id="{D6FBD5EE-D3AE-EAD0-9385-A6F22C20313D}"/>
              </a:ext>
            </a:extLst>
          </p:cNvPr>
          <p:cNvSpPr txBox="1"/>
          <p:nvPr/>
        </p:nvSpPr>
        <p:spPr>
          <a:xfrm>
            <a:off x="548640" y="129844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格林伯格的Universal</a:t>
            </a:r>
            <a:r>
              <a:rPr lang="zh-CN" altLang="en-US" sz="14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altLang="zh-CN" sz="14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3&amp;4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731520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附置词与语序类型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577840" cy="16002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55117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VSO 语序 ⊃ 前置词（Preposition）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97180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共性三：以 VSO 为主导语序的语言，总是使用前置词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48640" y="4069080"/>
            <a:ext cx="5577840" cy="1600200"/>
          </a:xfrm>
          <a:prstGeom prst="roundRect">
            <a:avLst>
              <a:gd name="adj" fmla="val 4000"/>
            </a:avLst>
          </a:prstGeom>
          <a:solidFill>
            <a:srgbClr val="3A45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428853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SOV 语序 ⊃ </a:t>
            </a:r>
            <a:r>
              <a:rPr lang="en-US" sz="2000" b="1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后置词（Postposition</a:t>
            </a: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70916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共性四：以 SOV 为主导语序的语言，以压倒性频率使用后置词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537960" y="2331720"/>
            <a:ext cx="22860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9AA3B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63608" y="2331720"/>
            <a:ext cx="2286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[VSO, </a:t>
            </a:r>
            <a:r>
              <a:rPr lang="en-US" sz="1500" dirty="0" err="1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</a:t>
            </a:r>
            <a:r>
              <a:rPr lang="en-US" sz="1500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]</a:t>
            </a:r>
            <a:r>
              <a:rPr lang="zh-CN" altLang="en-US" sz="1500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：</a:t>
            </a:r>
            <a:r>
              <a:rPr lang="en-US" altLang="zh-CN" sz="1500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76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823960" y="2331720"/>
            <a:ext cx="22860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9AA3B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823960" y="2331720"/>
            <a:ext cx="2286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*[VSO, ~</a:t>
            </a:r>
            <a:r>
              <a:rPr lang="en-US" sz="1500" dirty="0" err="1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</a:t>
            </a:r>
            <a:r>
              <a:rPr lang="en-US" sz="1500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]</a:t>
            </a:r>
            <a:r>
              <a:rPr lang="zh-CN" altLang="en-US" sz="1500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：</a:t>
            </a:r>
            <a:r>
              <a:rPr lang="en-US" altLang="zh-CN" sz="1500" dirty="0">
                <a:solidFill>
                  <a:srgbClr val="FF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</a:t>
            </a:r>
            <a:endParaRPr lang="en-US" sz="1500" dirty="0">
              <a:solidFill>
                <a:srgbClr val="FF0000"/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537960" y="3131820"/>
            <a:ext cx="22860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9AA3B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37960" y="3131820"/>
            <a:ext cx="2286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[~VSO, </a:t>
            </a:r>
            <a:r>
              <a:rPr lang="en-US" sz="1500" dirty="0" err="1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</a:t>
            </a:r>
            <a:r>
              <a:rPr lang="en-US" sz="1500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]</a:t>
            </a:r>
            <a:r>
              <a:rPr lang="zh-CN" altLang="en-US" sz="1500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：</a:t>
            </a:r>
            <a:r>
              <a:rPr lang="en-US" altLang="zh-CN" sz="1500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385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823960" y="3131820"/>
            <a:ext cx="22860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9AA3B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823960" y="3131820"/>
            <a:ext cx="2286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[~VSO, ~</a:t>
            </a:r>
            <a:r>
              <a:rPr lang="en-US" sz="1500" dirty="0" err="1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</a:t>
            </a:r>
            <a:r>
              <a:rPr lang="en-US" sz="1500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]</a:t>
            </a:r>
            <a:r>
              <a:rPr lang="zh-CN" altLang="en-US" sz="1500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：</a:t>
            </a:r>
            <a:r>
              <a:rPr lang="en-US" altLang="zh-CN" sz="1500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558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537960" y="4069080"/>
            <a:ext cx="22860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9AA3B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37960" y="4069080"/>
            <a:ext cx="2286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[SOV, Po]</a:t>
            </a:r>
            <a:r>
              <a:rPr lang="zh-CN" altLang="en-US" sz="1500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：</a:t>
            </a:r>
            <a:r>
              <a:rPr lang="en-US" altLang="zh-CN" sz="1500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374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823960" y="4069080"/>
            <a:ext cx="22860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9AA3B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823960" y="4069080"/>
            <a:ext cx="2286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*[SOV, ~Po]</a:t>
            </a:r>
            <a:r>
              <a:rPr lang="zh-CN" altLang="en-US" sz="1500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：</a:t>
            </a:r>
            <a:r>
              <a:rPr lang="en-US" altLang="zh-CN" sz="1500" dirty="0">
                <a:solidFill>
                  <a:srgbClr val="FF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34</a:t>
            </a:r>
            <a:endParaRPr lang="en-US" sz="1500" dirty="0">
              <a:solidFill>
                <a:srgbClr val="FF0000"/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537960" y="4869180"/>
            <a:ext cx="22860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9AA3B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37960" y="4869180"/>
            <a:ext cx="2286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[~SOV, Po]</a:t>
            </a:r>
            <a:r>
              <a:rPr lang="zh-CN" altLang="en-US" sz="1500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：</a:t>
            </a:r>
            <a:r>
              <a:rPr lang="en-US" altLang="zh-CN" sz="1500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103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8823960" y="4869180"/>
            <a:ext cx="22860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9AA3B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823960" y="4869180"/>
            <a:ext cx="2286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[~SOV, ~Po]</a:t>
            </a:r>
            <a:r>
              <a:rPr lang="zh-CN" altLang="en-US" sz="1500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：</a:t>
            </a:r>
            <a:r>
              <a:rPr lang="en-US" altLang="zh-CN" sz="1500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517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E3E6EE"/>
            </a:solidFill>
            <a:prstDash val="solid"/>
          </a:ln>
        </p:spPr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09E1F31-41A3-3669-037F-923C4D6C38CD}"/>
              </a:ext>
            </a:extLst>
          </p:cNvPr>
          <p:cNvSpPr txBox="1"/>
          <p:nvPr/>
        </p:nvSpPr>
        <p:spPr>
          <a:xfrm>
            <a:off x="6413026" y="1766013"/>
            <a:ext cx="1992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WALS:</a:t>
            </a:r>
            <a:r>
              <a:rPr lang="zh-CN" altLang="en-US" dirty="0"/>
              <a:t> </a:t>
            </a:r>
            <a:r>
              <a:rPr lang="en-US" altLang="zh-CN" dirty="0"/>
              <a:t>1028</a:t>
            </a:r>
            <a:r>
              <a:rPr lang="zh-CN" altLang="en-US" dirty="0"/>
              <a:t>个语言</a:t>
            </a:r>
            <a:endParaRPr lang="en-US" dirty="0"/>
          </a:p>
        </p:txBody>
      </p:sp>
      <p:sp>
        <p:nvSpPr>
          <p:cNvPr id="32" name="Text 2">
            <a:extLst>
              <a:ext uri="{FF2B5EF4-FFF2-40B4-BE49-F238E27FC236}">
                <a16:creationId xmlns:a16="http://schemas.microsoft.com/office/drawing/2014/main" id="{D6FBD5EE-D3AE-EAD0-9385-A6F22C20313D}"/>
              </a:ext>
            </a:extLst>
          </p:cNvPr>
          <p:cNvSpPr txBox="1"/>
          <p:nvPr/>
        </p:nvSpPr>
        <p:spPr>
          <a:xfrm>
            <a:off x="548640" y="129844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 err="1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</a:rPr>
              <a:t>更大语言样本</a:t>
            </a:r>
            <a:r>
              <a:rPr lang="en-US" altLang="zh-CN" sz="14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</a:rPr>
              <a:t>:</a:t>
            </a:r>
            <a:r>
              <a:rPr lang="zh-CN" altLang="en-US" sz="14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</a:rPr>
              <a:t> </a:t>
            </a:r>
            <a:r>
              <a:rPr lang="en-US" altLang="zh-CN" sz="1400" dirty="0" err="1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</a:rPr>
              <a:t>wals</a:t>
            </a:r>
            <a:endParaRPr lang="en-US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89D967-9DD9-D960-0397-429677186D55}"/>
              </a:ext>
            </a:extLst>
          </p:cNvPr>
          <p:cNvSpPr txBox="1"/>
          <p:nvPr/>
        </p:nvSpPr>
        <p:spPr>
          <a:xfrm>
            <a:off x="4633623" y="2464748"/>
            <a:ext cx="10866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VO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3AC84F3-12BD-3AEC-14D5-751E47C48092}"/>
              </a:ext>
            </a:extLst>
          </p:cNvPr>
          <p:cNvSpPr txBox="1"/>
          <p:nvPr/>
        </p:nvSpPr>
        <p:spPr>
          <a:xfrm>
            <a:off x="4586811" y="4212014"/>
            <a:ext cx="6846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O</a:t>
            </a:r>
            <a:r>
              <a:rPr lang="en-US" altLang="zh-CN" sz="32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V</a:t>
            </a:r>
            <a:endParaRPr lang="en-US" sz="32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4114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B99A77F-E23C-BC00-99BF-100F47B654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296" y="1056176"/>
            <a:ext cx="7772400" cy="474564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181368F-77A2-145B-C150-862F4636A752}"/>
              </a:ext>
            </a:extLst>
          </p:cNvPr>
          <p:cNvSpPr txBox="1"/>
          <p:nvPr/>
        </p:nvSpPr>
        <p:spPr>
          <a:xfrm>
            <a:off x="8590722" y="2134465"/>
            <a:ext cx="335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wals.info</a:t>
            </a:r>
            <a:r>
              <a:rPr lang="en-US" dirty="0"/>
              <a:t>/combinations/85A_81A#2/16.4/153.0</a:t>
            </a:r>
          </a:p>
        </p:txBody>
      </p:sp>
    </p:spTree>
    <p:extLst>
      <p:ext uri="{BB962C8B-B14F-4D97-AF65-F5344CB8AC3E}">
        <p14:creationId xmlns:p14="http://schemas.microsoft.com/office/powerpoint/2010/main" val="30384288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AA3B3B59-7320-BF61-C1BB-0502B1A8B5F5}"/>
              </a:ext>
            </a:extLst>
          </p:cNvPr>
          <p:cNvSpPr txBox="1"/>
          <p:nvPr/>
        </p:nvSpPr>
        <p:spPr>
          <a:xfrm>
            <a:off x="548640" y="731520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附置词与领属语</a:t>
            </a:r>
            <a:r>
              <a:rPr lang="en-US" altLang="zh-CN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</a:t>
            </a:r>
            <a:r>
              <a:rPr lang="zh-CN" altLang="en-US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名词</a:t>
            </a:r>
            <a:r>
              <a:rPr lang="en-US" sz="2800" b="1" dirty="0" err="1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语序</a:t>
            </a:r>
            <a:endParaRPr lang="en-US" sz="2800" dirty="0"/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BF5C966B-653D-0EDA-376B-8AA218C73C42}"/>
              </a:ext>
            </a:extLst>
          </p:cNvPr>
          <p:cNvSpPr txBox="1"/>
          <p:nvPr/>
        </p:nvSpPr>
        <p:spPr>
          <a:xfrm>
            <a:off x="548640" y="129844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格林伯格的Universa</a:t>
            </a:r>
            <a:r>
              <a:rPr lang="en-US" altLang="zh-CN" sz="1400" dirty="0" err="1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</a:t>
            </a:r>
            <a:r>
              <a:rPr lang="zh-CN" altLang="en-US" sz="14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altLang="zh-CN" sz="14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40419F-3576-EDBA-3EF7-F25F51BF6B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4239" y="1750761"/>
            <a:ext cx="6322301" cy="262271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B266FD4-587D-2055-2251-48C0D811AE75}"/>
              </a:ext>
            </a:extLst>
          </p:cNvPr>
          <p:cNvSpPr txBox="1"/>
          <p:nvPr/>
        </p:nvSpPr>
        <p:spPr>
          <a:xfrm>
            <a:off x="877329" y="1865375"/>
            <a:ext cx="13716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solidFill>
                  <a:srgbClr val="002060"/>
                </a:solidFill>
              </a:rPr>
              <a:t>芬兰语</a:t>
            </a:r>
            <a:endParaRPr lang="en-US" sz="2000" b="1" dirty="0">
              <a:solidFill>
                <a:srgbClr val="00206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D5009F-DBCB-2F51-D7E6-FF9838DCF06C}"/>
              </a:ext>
            </a:extLst>
          </p:cNvPr>
          <p:cNvSpPr txBox="1"/>
          <p:nvPr/>
        </p:nvSpPr>
        <p:spPr>
          <a:xfrm>
            <a:off x="877328" y="4309328"/>
            <a:ext cx="13716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solidFill>
                  <a:srgbClr val="002060"/>
                </a:solidFill>
              </a:rPr>
              <a:t>法语</a:t>
            </a:r>
            <a:endParaRPr lang="en-US" sz="2000" b="1" dirty="0">
              <a:solidFill>
                <a:srgbClr val="00206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66BD64-3E00-7351-0D4E-5A2096A9C519}"/>
              </a:ext>
            </a:extLst>
          </p:cNvPr>
          <p:cNvSpPr txBox="1"/>
          <p:nvPr/>
        </p:nvSpPr>
        <p:spPr>
          <a:xfrm>
            <a:off x="8094579" y="4309328"/>
            <a:ext cx="6139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SVO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30EF1B-BA6E-1669-D4E0-0E9DF398F285}"/>
              </a:ext>
            </a:extLst>
          </p:cNvPr>
          <p:cNvSpPr txBox="1"/>
          <p:nvPr/>
        </p:nvSpPr>
        <p:spPr>
          <a:xfrm>
            <a:off x="8094580" y="2265485"/>
            <a:ext cx="6139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SVO</a:t>
            </a:r>
            <a:endParaRPr lang="en-US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2D1734-D4C3-D08D-63F6-345C3C99DDA3}"/>
              </a:ext>
            </a:extLst>
          </p:cNvPr>
          <p:cNvSpPr txBox="1"/>
          <p:nvPr/>
        </p:nvSpPr>
        <p:spPr>
          <a:xfrm>
            <a:off x="8094580" y="2752148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/>
              <a:t>后置词</a:t>
            </a:r>
            <a:endParaRPr lang="en-US" sz="20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83FC02D-64D0-0573-D140-74F073AF95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1924" y="4476099"/>
            <a:ext cx="3693064" cy="218309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D6141CD-5766-E6A0-9FFC-7630EBD78F6C}"/>
              </a:ext>
            </a:extLst>
          </p:cNvPr>
          <p:cNvSpPr txBox="1"/>
          <p:nvPr/>
        </p:nvSpPr>
        <p:spPr>
          <a:xfrm>
            <a:off x="8094580" y="3197233"/>
            <a:ext cx="853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G</a:t>
            </a:r>
            <a:r>
              <a:rPr lang="en-US" altLang="zh-CN" sz="2000" dirty="0"/>
              <a:t>en-N</a:t>
            </a:r>
            <a:endParaRPr lang="en-US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F3EE604-7E7A-5D4F-A660-1229003D72BE}"/>
              </a:ext>
            </a:extLst>
          </p:cNvPr>
          <p:cNvSpPr txBox="1"/>
          <p:nvPr/>
        </p:nvSpPr>
        <p:spPr>
          <a:xfrm>
            <a:off x="8094579" y="4795991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/>
              <a:t>前置词</a:t>
            </a:r>
            <a:endParaRPr lang="en-US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ED9B991-639F-2317-2596-996152DEBA56}"/>
              </a:ext>
            </a:extLst>
          </p:cNvPr>
          <p:cNvSpPr txBox="1"/>
          <p:nvPr/>
        </p:nvSpPr>
        <p:spPr>
          <a:xfrm>
            <a:off x="8094579" y="5348221"/>
            <a:ext cx="853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N</a:t>
            </a:r>
            <a:r>
              <a:rPr lang="en-US" altLang="zh-CN" sz="2000" dirty="0"/>
              <a:t>-Gen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9446158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3">
            <a:extLst>
              <a:ext uri="{FF2B5EF4-FFF2-40B4-BE49-F238E27FC236}">
                <a16:creationId xmlns:a16="http://schemas.microsoft.com/office/drawing/2014/main" id="{44B71F5C-6957-4BDD-E3EF-C5B97E281D68}"/>
              </a:ext>
            </a:extLst>
          </p:cNvPr>
          <p:cNvSpPr/>
          <p:nvPr/>
        </p:nvSpPr>
        <p:spPr>
          <a:xfrm>
            <a:off x="695095" y="1745844"/>
            <a:ext cx="5577840" cy="1843176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E18C635-8B50-B253-D127-5B10969482FC}"/>
              </a:ext>
            </a:extLst>
          </p:cNvPr>
          <p:cNvSpPr txBox="1"/>
          <p:nvPr/>
        </p:nvSpPr>
        <p:spPr>
          <a:xfrm>
            <a:off x="969415" y="2959116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 err="1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共性二：前置词语言中领属语居后</a:t>
            </a:r>
            <a:r>
              <a:rPr lang="zh-CN" altLang="en-US" sz="16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，后置词语言中领属语居前</a:t>
            </a:r>
            <a:endParaRPr lang="en-US" sz="1600" dirty="0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2B869516-908D-428F-A73A-E85EB6B06F04}"/>
              </a:ext>
            </a:extLst>
          </p:cNvPr>
          <p:cNvSpPr txBox="1"/>
          <p:nvPr/>
        </p:nvSpPr>
        <p:spPr>
          <a:xfrm>
            <a:off x="1097280" y="202735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前置词</a:t>
            </a: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⊃ </a:t>
            </a:r>
            <a:r>
              <a:rPr lang="en-US" sz="2000" b="1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名词</a:t>
            </a:r>
            <a:r>
              <a:rPr lang="en-US" altLang="zh-CN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</a:t>
            </a:r>
            <a:r>
              <a:rPr lang="zh-CN" alt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领属语</a:t>
            </a:r>
            <a:endParaRPr lang="en-US" sz="2000" dirty="0"/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EB915FB9-5D06-F774-28B7-E1E359258F55}"/>
              </a:ext>
            </a:extLst>
          </p:cNvPr>
          <p:cNvSpPr txBox="1"/>
          <p:nvPr/>
        </p:nvSpPr>
        <p:spPr>
          <a:xfrm>
            <a:off x="1097280" y="24747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后置词</a:t>
            </a: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⊃</a:t>
            </a:r>
            <a:r>
              <a:rPr lang="zh-CN" alt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领属语</a:t>
            </a:r>
            <a:r>
              <a:rPr lang="en-US" altLang="zh-CN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</a:t>
            </a:r>
            <a:r>
              <a:rPr lang="en-US" sz="2000" b="1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名词</a:t>
            </a:r>
            <a:endParaRPr lang="en-US" sz="2000" dirty="0"/>
          </a:p>
        </p:txBody>
      </p:sp>
      <p:sp>
        <p:nvSpPr>
          <p:cNvPr id="13" name="Text 1">
            <a:extLst>
              <a:ext uri="{FF2B5EF4-FFF2-40B4-BE49-F238E27FC236}">
                <a16:creationId xmlns:a16="http://schemas.microsoft.com/office/drawing/2014/main" id="{47262C11-8386-1A68-FCBA-25F2A3C35F00}"/>
              </a:ext>
            </a:extLst>
          </p:cNvPr>
          <p:cNvSpPr txBox="1"/>
          <p:nvPr/>
        </p:nvSpPr>
        <p:spPr>
          <a:xfrm>
            <a:off x="548640" y="731520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附置词与领属语</a:t>
            </a:r>
            <a:r>
              <a:rPr lang="en-US" altLang="zh-CN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</a:t>
            </a:r>
            <a:r>
              <a:rPr lang="zh-CN" altLang="en-US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名词</a:t>
            </a:r>
            <a:r>
              <a:rPr lang="en-US" sz="2800" b="1" dirty="0" err="1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语序</a:t>
            </a:r>
            <a:endParaRPr lang="en-US" sz="2800" dirty="0"/>
          </a:p>
        </p:txBody>
      </p:sp>
      <p:sp>
        <p:nvSpPr>
          <p:cNvPr id="17" name="Text 2">
            <a:extLst>
              <a:ext uri="{FF2B5EF4-FFF2-40B4-BE49-F238E27FC236}">
                <a16:creationId xmlns:a16="http://schemas.microsoft.com/office/drawing/2014/main" id="{965A9FD1-82B8-5301-03C2-7FF57A04C14E}"/>
              </a:ext>
            </a:extLst>
          </p:cNvPr>
          <p:cNvSpPr txBox="1"/>
          <p:nvPr/>
        </p:nvSpPr>
        <p:spPr>
          <a:xfrm>
            <a:off x="548640" y="129844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格林伯格的Universa</a:t>
            </a:r>
            <a:r>
              <a:rPr lang="en-US" altLang="zh-CN" sz="1400" dirty="0" err="1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</a:t>
            </a:r>
            <a:r>
              <a:rPr lang="zh-CN" altLang="en-US" sz="14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altLang="zh-CN" sz="14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040E460-25F4-7BD5-2E09-5123081C64FE}"/>
              </a:ext>
            </a:extLst>
          </p:cNvPr>
          <p:cNvSpPr txBox="1"/>
          <p:nvPr/>
        </p:nvSpPr>
        <p:spPr>
          <a:xfrm>
            <a:off x="3611880" y="1924978"/>
            <a:ext cx="10866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VO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9ACAF99-9937-6070-8E2C-527AF8C8C9EB}"/>
              </a:ext>
            </a:extLst>
          </p:cNvPr>
          <p:cNvSpPr txBox="1"/>
          <p:nvPr/>
        </p:nvSpPr>
        <p:spPr>
          <a:xfrm>
            <a:off x="3611880" y="2383727"/>
            <a:ext cx="6846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O</a:t>
            </a:r>
            <a:r>
              <a:rPr lang="en-US" altLang="zh-CN" sz="32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V</a:t>
            </a:r>
            <a:endParaRPr lang="en-US" sz="32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2506D76-1C07-DF41-CC26-4EFED8B14379}"/>
              </a:ext>
            </a:extLst>
          </p:cNvPr>
          <p:cNvSpPr txBox="1"/>
          <p:nvPr/>
        </p:nvSpPr>
        <p:spPr>
          <a:xfrm>
            <a:off x="6811091" y="2840508"/>
            <a:ext cx="3433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Dryer</a:t>
            </a:r>
            <a:r>
              <a:rPr lang="zh-CN" altLang="en-US" dirty="0"/>
              <a:t> </a:t>
            </a:r>
            <a:r>
              <a:rPr lang="en-US" altLang="zh-CN" dirty="0"/>
              <a:t>(1992):</a:t>
            </a:r>
            <a:r>
              <a:rPr lang="zh-CN" altLang="en-US" dirty="0"/>
              <a:t> </a:t>
            </a:r>
            <a:r>
              <a:rPr lang="en-US" altLang="zh-CN" dirty="0"/>
              <a:t>OV/VO</a:t>
            </a:r>
            <a:r>
              <a:rPr lang="zh-CN" altLang="en-US" dirty="0"/>
              <a:t>作为预测项： </a:t>
            </a:r>
            <a:endParaRPr lang="en-US" altLang="zh-CN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643C010F-E97D-C088-F210-C5251E033A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4015" y="3351083"/>
            <a:ext cx="8495621" cy="1843175"/>
          </a:xfrm>
          <a:prstGeom prst="rect">
            <a:avLst/>
          </a:prstGeom>
        </p:spPr>
      </p:pic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AF061D74-3965-E7C6-B8FF-E4C659C53D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0065333"/>
              </p:ext>
            </p:extLst>
          </p:nvPr>
        </p:nvGraphicFramePr>
        <p:xfrm>
          <a:off x="1176359" y="5255721"/>
          <a:ext cx="4206674" cy="1432154"/>
        </p:xfrm>
        <a:graphic>
          <a:graphicData uri="http://schemas.openxmlformats.org/drawingml/2006/table">
            <a:tbl>
              <a:tblPr/>
              <a:tblGrid>
                <a:gridCol w="2103337">
                  <a:extLst>
                    <a:ext uri="{9D8B030D-6E8A-4147-A177-3AD203B41FA5}">
                      <a16:colId xmlns:a16="http://schemas.microsoft.com/office/drawing/2014/main" val="2857927885"/>
                    </a:ext>
                  </a:extLst>
                </a:gridCol>
                <a:gridCol w="2103337">
                  <a:extLst>
                    <a:ext uri="{9D8B030D-6E8A-4147-A177-3AD203B41FA5}">
                      <a16:colId xmlns:a16="http://schemas.microsoft.com/office/drawing/2014/main" val="1901871530"/>
                    </a:ext>
                  </a:extLst>
                </a:gridCol>
              </a:tblGrid>
              <a:tr h="716077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  <a:latin typeface="Helvetica" pitchFamily="2" charset="0"/>
                        </a:rPr>
                        <a:t>[</a:t>
                      </a:r>
                      <a:r>
                        <a:rPr lang="en-US" dirty="0" err="1">
                          <a:effectLst/>
                          <a:latin typeface="Helvetica" pitchFamily="2" charset="0"/>
                        </a:rPr>
                        <a:t>Pr</a:t>
                      </a:r>
                      <a:r>
                        <a:rPr lang="en-US" dirty="0">
                          <a:effectLst/>
                          <a:latin typeface="Helvetica" pitchFamily="2" charset="0"/>
                        </a:rPr>
                        <a:t>, </a:t>
                      </a:r>
                      <a:r>
                        <a:rPr lang="en-US" dirty="0" err="1">
                          <a:effectLst/>
                          <a:latin typeface="Helvetica" pitchFamily="2" charset="0"/>
                        </a:rPr>
                        <a:t>NGen</a:t>
                      </a:r>
                      <a:r>
                        <a:rPr lang="en-US" dirty="0">
                          <a:effectLst/>
                          <a:latin typeface="Helvetica" pitchFamily="2" charset="0"/>
                        </a:rPr>
                        <a:t>]: 351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  <a:latin typeface="Helvetica" pitchFamily="2" charset="0"/>
                        </a:rPr>
                        <a:t>[</a:t>
                      </a:r>
                      <a:r>
                        <a:rPr lang="en-US" dirty="0" err="1">
                          <a:effectLst/>
                          <a:latin typeface="Helvetica" pitchFamily="2" charset="0"/>
                        </a:rPr>
                        <a:t>Pr</a:t>
                      </a:r>
                      <a:r>
                        <a:rPr lang="en-US" dirty="0">
                          <a:effectLst/>
                          <a:latin typeface="Helvetica" pitchFamily="2" charset="0"/>
                        </a:rPr>
                        <a:t>, ~</a:t>
                      </a:r>
                      <a:r>
                        <a:rPr lang="en-US" dirty="0" err="1">
                          <a:effectLst/>
                          <a:latin typeface="Helvetica" pitchFamily="2" charset="0"/>
                        </a:rPr>
                        <a:t>NGen</a:t>
                      </a:r>
                      <a:r>
                        <a:rPr lang="en-US" dirty="0">
                          <a:effectLst/>
                          <a:latin typeface="Helvetica" pitchFamily="2" charset="0"/>
                        </a:rPr>
                        <a:t>]: 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</a:rPr>
                        <a:t>93</a:t>
                      </a:r>
                      <a:endParaRPr lang="en-US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8192253"/>
                  </a:ext>
                </a:extLst>
              </a:tr>
              <a:tr h="716077">
                <a:tc>
                  <a:txBody>
                    <a:bodyPr/>
                    <a:lstStyle/>
                    <a:p>
                      <a:br>
                        <a:rPr lang="en-US" dirty="0">
                          <a:effectLst/>
                          <a:latin typeface="Helvetica" pitchFamily="2" charset="0"/>
                        </a:rPr>
                      </a:br>
                      <a:r>
                        <a:rPr lang="en-US" dirty="0">
                          <a:effectLst/>
                          <a:latin typeface="Helvetica" pitchFamily="2" charset="0"/>
                        </a:rPr>
                        <a:t>[~</a:t>
                      </a:r>
                      <a:r>
                        <a:rPr lang="en-US" dirty="0" err="1">
                          <a:effectLst/>
                          <a:latin typeface="Helvetica" pitchFamily="2" charset="0"/>
                        </a:rPr>
                        <a:t>Pr</a:t>
                      </a:r>
                      <a:r>
                        <a:rPr lang="en-US" dirty="0">
                          <a:effectLst/>
                          <a:latin typeface="Helvetica" pitchFamily="2" charset="0"/>
                        </a:rPr>
                        <a:t>, </a:t>
                      </a:r>
                      <a:r>
                        <a:rPr lang="en-US" dirty="0" err="1">
                          <a:effectLst/>
                          <a:latin typeface="Helvetica" pitchFamily="2" charset="0"/>
                        </a:rPr>
                        <a:t>NGen</a:t>
                      </a:r>
                      <a:r>
                        <a:rPr lang="en-US" dirty="0">
                          <a:effectLst/>
                          <a:latin typeface="Helvetica" pitchFamily="2" charset="0"/>
                        </a:rPr>
                        <a:t>]: 35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br>
                        <a:rPr lang="en-US" dirty="0">
                          <a:effectLst/>
                          <a:latin typeface="Helvetica" pitchFamily="2" charset="0"/>
                        </a:rPr>
                      </a:br>
                      <a:r>
                        <a:rPr lang="en-US" dirty="0">
                          <a:effectLst/>
                          <a:latin typeface="Helvetica" pitchFamily="2" charset="0"/>
                        </a:rPr>
                        <a:t>[~</a:t>
                      </a:r>
                      <a:r>
                        <a:rPr lang="en-US" dirty="0" err="1">
                          <a:effectLst/>
                          <a:latin typeface="Helvetica" pitchFamily="2" charset="0"/>
                        </a:rPr>
                        <a:t>Pr</a:t>
                      </a:r>
                      <a:r>
                        <a:rPr lang="en-US" dirty="0">
                          <a:effectLst/>
                          <a:latin typeface="Helvetica" pitchFamily="2" charset="0"/>
                        </a:rPr>
                        <a:t>, ~</a:t>
                      </a:r>
                      <a:r>
                        <a:rPr lang="en-US" dirty="0" err="1">
                          <a:effectLst/>
                          <a:latin typeface="Helvetica" pitchFamily="2" charset="0"/>
                        </a:rPr>
                        <a:t>NGen</a:t>
                      </a:r>
                      <a:r>
                        <a:rPr lang="en-US" dirty="0">
                          <a:effectLst/>
                          <a:latin typeface="Helvetica" pitchFamily="2" charset="0"/>
                        </a:rPr>
                        <a:t>]: 527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3638384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E606BF28-6E87-5E72-C74D-5DF61173602F}"/>
              </a:ext>
            </a:extLst>
          </p:cNvPr>
          <p:cNvSpPr txBox="1"/>
          <p:nvPr/>
        </p:nvSpPr>
        <p:spPr>
          <a:xfrm>
            <a:off x="1219200" y="4837043"/>
            <a:ext cx="1992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WALS: 1006个语言</a:t>
            </a:r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555D0971-3DEF-0503-14AB-AC4346BE8B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7296046"/>
              </p:ext>
            </p:extLst>
          </p:nvPr>
        </p:nvGraphicFramePr>
        <p:xfrm>
          <a:off x="6550115" y="5255721"/>
          <a:ext cx="4206674" cy="1432154"/>
        </p:xfrm>
        <a:graphic>
          <a:graphicData uri="http://schemas.openxmlformats.org/drawingml/2006/table">
            <a:tbl>
              <a:tblPr/>
              <a:tblGrid>
                <a:gridCol w="2103337">
                  <a:extLst>
                    <a:ext uri="{9D8B030D-6E8A-4147-A177-3AD203B41FA5}">
                      <a16:colId xmlns:a16="http://schemas.microsoft.com/office/drawing/2014/main" val="2857927885"/>
                    </a:ext>
                  </a:extLst>
                </a:gridCol>
                <a:gridCol w="2103337">
                  <a:extLst>
                    <a:ext uri="{9D8B030D-6E8A-4147-A177-3AD203B41FA5}">
                      <a16:colId xmlns:a16="http://schemas.microsoft.com/office/drawing/2014/main" val="1901871530"/>
                    </a:ext>
                  </a:extLst>
                </a:gridCol>
              </a:tblGrid>
              <a:tr h="716077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  <a:latin typeface="Helvetica" pitchFamily="2" charset="0"/>
                        </a:rPr>
                        <a:t>[Po, </a:t>
                      </a:r>
                      <a:r>
                        <a:rPr lang="en-US" dirty="0" err="1">
                          <a:effectLst/>
                          <a:latin typeface="Helvetica" pitchFamily="2" charset="0"/>
                        </a:rPr>
                        <a:t>GenN</a:t>
                      </a:r>
                      <a:r>
                        <a:rPr lang="en-US" dirty="0">
                          <a:effectLst/>
                          <a:latin typeface="Helvetica" pitchFamily="2" charset="0"/>
                        </a:rPr>
                        <a:t>]: 442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  <a:latin typeface="Helvetica" pitchFamily="2" charset="0"/>
                        </a:rPr>
                        <a:t>[Po, ~</a:t>
                      </a:r>
                      <a:r>
                        <a:rPr lang="en-US" dirty="0" err="1">
                          <a:effectLst/>
                          <a:latin typeface="Helvetica" pitchFamily="2" charset="0"/>
                        </a:rPr>
                        <a:t>GenN</a:t>
                      </a:r>
                      <a:r>
                        <a:rPr lang="en-US" dirty="0">
                          <a:effectLst/>
                          <a:latin typeface="Helvetica" pitchFamily="2" charset="0"/>
                        </a:rPr>
                        <a:t>]: 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</a:rPr>
                        <a:t>31</a:t>
                      </a:r>
                      <a:endParaRPr lang="en-US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8192253"/>
                  </a:ext>
                </a:extLst>
              </a:tr>
              <a:tr h="716077">
                <a:tc>
                  <a:txBody>
                    <a:bodyPr/>
                    <a:lstStyle/>
                    <a:p>
                      <a:br>
                        <a:rPr lang="en-US" dirty="0">
                          <a:effectLst/>
                          <a:latin typeface="Helvetica" pitchFamily="2" charset="0"/>
                        </a:rPr>
                      </a:br>
                      <a:r>
                        <a:rPr lang="en-US" dirty="0">
                          <a:effectLst/>
                          <a:latin typeface="Helvetica" pitchFamily="2" charset="0"/>
                        </a:rPr>
                        <a:t>[~Po, </a:t>
                      </a:r>
                      <a:r>
                        <a:rPr lang="en-US" dirty="0" err="1">
                          <a:effectLst/>
                          <a:latin typeface="Helvetica" pitchFamily="2" charset="0"/>
                        </a:rPr>
                        <a:t>GenN</a:t>
                      </a:r>
                      <a:r>
                        <a:rPr lang="en-US" dirty="0">
                          <a:effectLst/>
                          <a:latin typeface="Helvetica" pitchFamily="2" charset="0"/>
                        </a:rPr>
                        <a:t>]: 104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br>
                        <a:rPr lang="en-US" dirty="0">
                          <a:effectLst/>
                          <a:latin typeface="Helvetica" pitchFamily="2" charset="0"/>
                        </a:rPr>
                      </a:br>
                      <a:r>
                        <a:rPr lang="en-US" dirty="0">
                          <a:effectLst/>
                          <a:latin typeface="Helvetica" pitchFamily="2" charset="0"/>
                        </a:rPr>
                        <a:t>[~Po, ~</a:t>
                      </a:r>
                      <a:r>
                        <a:rPr lang="en-US" dirty="0" err="1">
                          <a:effectLst/>
                          <a:latin typeface="Helvetica" pitchFamily="2" charset="0"/>
                        </a:rPr>
                        <a:t>GenN</a:t>
                      </a:r>
                      <a:r>
                        <a:rPr lang="en-US" dirty="0">
                          <a:effectLst/>
                          <a:latin typeface="Helvetica" pitchFamily="2" charset="0"/>
                        </a:rPr>
                        <a:t>]: 429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3638384"/>
                  </a:ext>
                </a:extLst>
              </a:tr>
            </a:tbl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F58BDD77-04A4-9264-E4DA-224228730230}"/>
              </a:ext>
            </a:extLst>
          </p:cNvPr>
          <p:cNvSpPr txBox="1"/>
          <p:nvPr/>
        </p:nvSpPr>
        <p:spPr>
          <a:xfrm>
            <a:off x="7198664" y="1578967"/>
            <a:ext cx="300915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PingFang HK" panose="020B0400000000000000" pitchFamily="34" charset="-120"/>
                <a:ea typeface="PingFang HK" panose="020B0400000000000000" pitchFamily="34" charset="-120"/>
              </a:rPr>
              <a:t>VO~</a:t>
            </a:r>
            <a:r>
              <a:rPr lang="zh-CN" altLang="en-US" sz="2000" dirty="0">
                <a:latin typeface="PingFang HK" panose="020B0400000000000000" pitchFamily="34" charset="-120"/>
                <a:ea typeface="PingFang HK" panose="020B0400000000000000" pitchFamily="34" charset="-120"/>
              </a:rPr>
              <a:t>前置词</a:t>
            </a:r>
            <a:r>
              <a:rPr lang="en-US" altLang="zh-CN" sz="2000" dirty="0">
                <a:latin typeface="PingFang HK" panose="020B0400000000000000" pitchFamily="34" charset="-120"/>
                <a:ea typeface="PingFang HK" panose="020B0400000000000000" pitchFamily="34" charset="-120"/>
              </a:rPr>
              <a:t>~</a:t>
            </a:r>
            <a:r>
              <a:rPr lang="zh-CN" altLang="en-US" sz="2000" dirty="0">
                <a:latin typeface="PingFang HK" panose="020B0400000000000000" pitchFamily="34" charset="-120"/>
                <a:ea typeface="PingFang HK" panose="020B0400000000000000" pitchFamily="34" charset="-120"/>
              </a:rPr>
              <a:t>名词</a:t>
            </a:r>
            <a:r>
              <a:rPr lang="en-US" altLang="zh-CN" sz="2000" dirty="0">
                <a:latin typeface="PingFang HK" panose="020B0400000000000000" pitchFamily="34" charset="-120"/>
                <a:ea typeface="PingFang HK" panose="020B0400000000000000" pitchFamily="34" charset="-120"/>
              </a:rPr>
              <a:t>+</a:t>
            </a:r>
            <a:r>
              <a:rPr lang="zh-CN" altLang="en-US" sz="2000" dirty="0">
                <a:latin typeface="PingFang HK" panose="020B0400000000000000" pitchFamily="34" charset="-120"/>
                <a:ea typeface="PingFang HK" panose="020B0400000000000000" pitchFamily="34" charset="-120"/>
              </a:rPr>
              <a:t>领属语</a:t>
            </a:r>
            <a:endParaRPr lang="en-US" altLang="zh-CN" sz="2000" dirty="0">
              <a:latin typeface="PingFang HK" panose="020B0400000000000000" pitchFamily="34" charset="-120"/>
              <a:ea typeface="PingFang HK" panose="020B0400000000000000" pitchFamily="34" charset="-120"/>
            </a:endParaRPr>
          </a:p>
          <a:p>
            <a:r>
              <a:rPr lang="en-US" altLang="zh-CN" sz="2000" dirty="0">
                <a:latin typeface="PingFang HK" panose="020B0400000000000000" pitchFamily="34" charset="-120"/>
                <a:ea typeface="PingFang HK" panose="020B0400000000000000" pitchFamily="34" charset="-120"/>
              </a:rPr>
              <a:t>OV~</a:t>
            </a:r>
            <a:r>
              <a:rPr lang="zh-CN" altLang="en-US" sz="2000" dirty="0">
                <a:latin typeface="PingFang HK" panose="020B0400000000000000" pitchFamily="34" charset="-120"/>
                <a:ea typeface="PingFang HK" panose="020B0400000000000000" pitchFamily="34" charset="-120"/>
              </a:rPr>
              <a:t>后置词</a:t>
            </a:r>
            <a:r>
              <a:rPr lang="en-US" altLang="zh-CN" sz="2000" dirty="0">
                <a:latin typeface="PingFang HK" panose="020B0400000000000000" pitchFamily="34" charset="-120"/>
                <a:ea typeface="PingFang HK" panose="020B0400000000000000" pitchFamily="34" charset="-120"/>
              </a:rPr>
              <a:t>~</a:t>
            </a:r>
            <a:r>
              <a:rPr lang="zh-CN" altLang="en-US" sz="2000" dirty="0">
                <a:latin typeface="PingFang HK" panose="020B0400000000000000" pitchFamily="34" charset="-120"/>
                <a:ea typeface="PingFang HK" panose="020B0400000000000000" pitchFamily="34" charset="-120"/>
              </a:rPr>
              <a:t>领属语</a:t>
            </a:r>
            <a:r>
              <a:rPr lang="en-US" altLang="zh-CN" sz="2000" dirty="0">
                <a:latin typeface="PingFang HK" panose="020B0400000000000000" pitchFamily="34" charset="-120"/>
                <a:ea typeface="PingFang HK" panose="020B0400000000000000" pitchFamily="34" charset="-120"/>
              </a:rPr>
              <a:t>+</a:t>
            </a:r>
            <a:r>
              <a:rPr lang="zh-CN" altLang="en-US" sz="2000" dirty="0">
                <a:latin typeface="PingFang HK" panose="020B0400000000000000" pitchFamily="34" charset="-120"/>
                <a:ea typeface="PingFang HK" panose="020B0400000000000000" pitchFamily="34" charset="-120"/>
              </a:rPr>
              <a:t>名词</a:t>
            </a:r>
            <a:endParaRPr lang="en-US" sz="2000" dirty="0">
              <a:latin typeface="PingFang HK" panose="020B0400000000000000" pitchFamily="34" charset="-120"/>
              <a:ea typeface="PingFang HK" panose="020B0400000000000000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84034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2" grpId="0"/>
      <p:bldP spid="26" grpId="0"/>
      <p:bldP spid="2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6">
            <a:extLst>
              <a:ext uri="{FF2B5EF4-FFF2-40B4-BE49-F238E27FC236}">
                <a16:creationId xmlns:a16="http://schemas.microsoft.com/office/drawing/2014/main" id="{5C9CF9D2-6752-C128-6928-C16DDDCBFD90}"/>
              </a:ext>
            </a:extLst>
          </p:cNvPr>
          <p:cNvSpPr/>
          <p:nvPr/>
        </p:nvSpPr>
        <p:spPr>
          <a:xfrm>
            <a:off x="792480" y="2033822"/>
            <a:ext cx="5577840" cy="1843176"/>
          </a:xfrm>
          <a:prstGeom prst="roundRect">
            <a:avLst>
              <a:gd name="adj" fmla="val 4000"/>
            </a:avLst>
          </a:prstGeom>
          <a:solidFill>
            <a:srgbClr val="3A4593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C751ABE7-33AA-F994-B7CD-F8155A174665}"/>
              </a:ext>
            </a:extLst>
          </p:cNvPr>
          <p:cNvSpPr txBox="1"/>
          <p:nvPr/>
        </p:nvSpPr>
        <p:spPr>
          <a:xfrm>
            <a:off x="1066800" y="231371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前置词</a:t>
            </a: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⊃ </a:t>
            </a:r>
            <a:r>
              <a:rPr lang="en-US" sz="2000" b="1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疑问词</a:t>
            </a:r>
            <a:r>
              <a:rPr lang="en-US" altLang="zh-CN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词缀</a:t>
            </a:r>
            <a:r>
              <a:rPr lang="en-US" altLang="zh-CN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</a:t>
            </a:r>
            <a:r>
              <a:rPr lang="zh-CN" alt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小句</a:t>
            </a:r>
            <a:endParaRPr lang="en-US" sz="2000" dirty="0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D0932262-9C15-3CD0-6101-3C1DE7EE20B8}"/>
              </a:ext>
            </a:extLst>
          </p:cNvPr>
          <p:cNvSpPr txBox="1"/>
          <p:nvPr/>
        </p:nvSpPr>
        <p:spPr>
          <a:xfrm>
            <a:off x="1066800" y="277253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后置词</a:t>
            </a: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⊃</a:t>
            </a:r>
            <a:r>
              <a:rPr lang="zh-CN" alt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小句</a:t>
            </a:r>
            <a:r>
              <a:rPr lang="en-US" altLang="zh-CN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</a:t>
            </a:r>
            <a:r>
              <a:rPr lang="zh-CN" alt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疑问词</a:t>
            </a:r>
            <a:r>
              <a:rPr lang="en-US" altLang="zh-CN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词缀</a:t>
            </a:r>
            <a:endParaRPr lang="en-US" sz="2000" dirty="0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A87CFB78-4A50-2924-D8F0-9FBA5C372F5F}"/>
              </a:ext>
            </a:extLst>
          </p:cNvPr>
          <p:cNvSpPr txBox="1"/>
          <p:nvPr/>
        </p:nvSpPr>
        <p:spPr>
          <a:xfrm>
            <a:off x="1066800" y="3231348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 err="1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共性九：前置词语言中全句疑问词或词缀居于句首</a:t>
            </a:r>
            <a:r>
              <a:rPr lang="zh-CN" altLang="en-US" sz="16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，后置词语言中全句疑问词或疑问词缀居于句末</a:t>
            </a:r>
            <a:endParaRPr lang="en-US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597314-21DD-95A0-1B92-C5ABD9BE374D}"/>
              </a:ext>
            </a:extLst>
          </p:cNvPr>
          <p:cNvSpPr txBox="1"/>
          <p:nvPr/>
        </p:nvSpPr>
        <p:spPr>
          <a:xfrm>
            <a:off x="4569383" y="2221199"/>
            <a:ext cx="9619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VO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963857-6301-99E1-077D-861005F0ACED}"/>
              </a:ext>
            </a:extLst>
          </p:cNvPr>
          <p:cNvSpPr txBox="1"/>
          <p:nvPr/>
        </p:nvSpPr>
        <p:spPr>
          <a:xfrm>
            <a:off x="4569383" y="2681527"/>
            <a:ext cx="6846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O</a:t>
            </a:r>
            <a:r>
              <a:rPr lang="en-US" altLang="zh-CN" sz="32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V</a:t>
            </a:r>
            <a:endParaRPr lang="en-US" sz="32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C16528B2-43A0-99BE-0D9A-8694AA31C159}"/>
              </a:ext>
            </a:extLst>
          </p:cNvPr>
          <p:cNvSpPr txBox="1"/>
          <p:nvPr/>
        </p:nvSpPr>
        <p:spPr>
          <a:xfrm>
            <a:off x="548640" y="731520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附置词与疑问词</a:t>
            </a:r>
            <a:r>
              <a:rPr lang="en-US" altLang="zh-CN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词缀</a:t>
            </a:r>
            <a:r>
              <a:rPr lang="en-US" altLang="zh-CN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</a:t>
            </a:r>
            <a:r>
              <a:rPr lang="zh-CN" altLang="en-US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小句语序</a:t>
            </a:r>
            <a:endParaRPr lang="en-US" sz="2800" dirty="0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485E4E35-BB61-4525-332E-0F763092298C}"/>
              </a:ext>
            </a:extLst>
          </p:cNvPr>
          <p:cNvSpPr txBox="1"/>
          <p:nvPr/>
        </p:nvSpPr>
        <p:spPr>
          <a:xfrm>
            <a:off x="548640" y="129844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格林伯格的</a:t>
            </a:r>
            <a:r>
              <a:rPr lang="en-US" altLang="zh-CN" sz="1400" dirty="0" err="1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Universal</a:t>
            </a:r>
            <a:r>
              <a:rPr lang="zh-CN" altLang="en-US" sz="14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altLang="zh-CN" sz="14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A2934B3-ABED-3705-9843-B4E47F38395E}"/>
              </a:ext>
            </a:extLst>
          </p:cNvPr>
          <p:cNvSpPr txBox="1"/>
          <p:nvPr/>
        </p:nvSpPr>
        <p:spPr>
          <a:xfrm>
            <a:off x="7061852" y="1627313"/>
            <a:ext cx="29545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Greenberg</a:t>
            </a:r>
            <a:r>
              <a:rPr lang="zh-CN" altLang="en-US" dirty="0"/>
              <a:t> </a:t>
            </a:r>
            <a:r>
              <a:rPr lang="en-US" altLang="zh-CN" dirty="0"/>
              <a:t>(1963</a:t>
            </a:r>
            <a:r>
              <a:rPr lang="zh-CN" altLang="en-US" dirty="0"/>
              <a:t>）：</a:t>
            </a:r>
            <a:r>
              <a:rPr lang="en-US" altLang="zh-CN" dirty="0"/>
              <a:t>Table</a:t>
            </a:r>
            <a:r>
              <a:rPr lang="zh-CN" altLang="en-US" dirty="0"/>
              <a:t> </a:t>
            </a:r>
            <a:r>
              <a:rPr lang="en-US" altLang="zh-CN" dirty="0"/>
              <a:t>2</a:t>
            </a:r>
            <a:r>
              <a:rPr lang="zh-CN" altLang="en-US" dirty="0"/>
              <a:t> 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B0FF5F8-6587-57B6-3973-8C58811A91AB}"/>
              </a:ext>
            </a:extLst>
          </p:cNvPr>
          <p:cNvSpPr txBox="1"/>
          <p:nvPr/>
        </p:nvSpPr>
        <p:spPr>
          <a:xfrm>
            <a:off x="1017767" y="4342553"/>
            <a:ext cx="1875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WALS: 359个语言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7B79517-C6C3-6542-E4D8-B503D7BF4DF2}"/>
              </a:ext>
            </a:extLst>
          </p:cNvPr>
          <p:cNvSpPr txBox="1"/>
          <p:nvPr/>
        </p:nvSpPr>
        <p:spPr>
          <a:xfrm>
            <a:off x="5754019" y="4175570"/>
            <a:ext cx="6437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人类语言本来就倾向于使用句末疑问词</a:t>
            </a:r>
            <a:r>
              <a:rPr lang="zh-CN" altLang="en-US" dirty="0"/>
              <a:t>：句末是句首的</a:t>
            </a:r>
            <a:r>
              <a:rPr lang="en-US" altLang="zh-CN" dirty="0"/>
              <a:t>2</a:t>
            </a:r>
            <a:r>
              <a:rPr lang="zh-CN" altLang="en-US" dirty="0"/>
              <a:t>倍多</a:t>
            </a: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E958C29-C799-D091-1B91-086C8D117D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0320" y="714556"/>
            <a:ext cx="4394200" cy="774700"/>
          </a:xfrm>
          <a:prstGeom prst="rect">
            <a:avLst/>
          </a:prstGeom>
        </p:spPr>
      </p:pic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9BE591F1-D291-C1A5-F444-89FE414DD8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1638046"/>
              </p:ext>
            </p:extLst>
          </p:nvPr>
        </p:nvGraphicFramePr>
        <p:xfrm>
          <a:off x="792480" y="4859335"/>
          <a:ext cx="3938546" cy="1843176"/>
        </p:xfrm>
        <a:graphic>
          <a:graphicData uri="http://schemas.openxmlformats.org/drawingml/2006/table">
            <a:tbl>
              <a:tblPr/>
              <a:tblGrid>
                <a:gridCol w="941632">
                  <a:extLst>
                    <a:ext uri="{9D8B030D-6E8A-4147-A177-3AD203B41FA5}">
                      <a16:colId xmlns:a16="http://schemas.microsoft.com/office/drawing/2014/main" val="2857927885"/>
                    </a:ext>
                  </a:extLst>
                </a:gridCol>
                <a:gridCol w="1099460">
                  <a:extLst>
                    <a:ext uri="{9D8B030D-6E8A-4147-A177-3AD203B41FA5}">
                      <a16:colId xmlns:a16="http://schemas.microsoft.com/office/drawing/2014/main" val="1901871530"/>
                    </a:ext>
                  </a:extLst>
                </a:gridCol>
                <a:gridCol w="948727">
                  <a:extLst>
                    <a:ext uri="{9D8B030D-6E8A-4147-A177-3AD203B41FA5}">
                      <a16:colId xmlns:a16="http://schemas.microsoft.com/office/drawing/2014/main" val="1409349356"/>
                    </a:ext>
                  </a:extLst>
                </a:gridCol>
                <a:gridCol w="948727">
                  <a:extLst>
                    <a:ext uri="{9D8B030D-6E8A-4147-A177-3AD203B41FA5}">
                      <a16:colId xmlns:a16="http://schemas.microsoft.com/office/drawing/2014/main" val="3292387492"/>
                    </a:ext>
                  </a:extLst>
                </a:gridCol>
              </a:tblGrid>
              <a:tr h="460794">
                <a:tc>
                  <a:txBody>
                    <a:bodyPr/>
                    <a:lstStyle/>
                    <a:p>
                      <a:endParaRPr lang="en-US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</a:rPr>
                        <a:t>Pr</a:t>
                      </a:r>
                      <a:endParaRPr lang="en-US" dirty="0">
                        <a:solidFill>
                          <a:srgbClr val="FF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</a:rPr>
                        <a:t>Po</a:t>
                      </a:r>
                      <a:endParaRPr lang="en-US" dirty="0">
                        <a:solidFill>
                          <a:srgbClr val="FF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合计</a:t>
                      </a:r>
                      <a:endParaRPr lang="en-US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8192253"/>
                  </a:ext>
                </a:extLst>
              </a:tr>
              <a:tr h="460794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  <a:latin typeface="Helvetica" pitchFamily="2" charset="0"/>
                        </a:rPr>
                        <a:t>Q</a:t>
                      </a:r>
                      <a:r>
                        <a:rPr lang="en-US" altLang="zh-CN" dirty="0">
                          <a:effectLst/>
                          <a:latin typeface="Helvetica" pitchFamily="2" charset="0"/>
                        </a:rPr>
                        <a:t>-</a:t>
                      </a:r>
                      <a:r>
                        <a:rPr lang="en-US" dirty="0">
                          <a:effectLst/>
                          <a:latin typeface="Helvetica" pitchFamily="2" charset="0"/>
                        </a:rPr>
                        <a:t>S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</a:rPr>
                        <a:t>73</a:t>
                      </a:r>
                      <a:endParaRPr lang="en-US" dirty="0">
                        <a:solidFill>
                          <a:srgbClr val="FF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  <a:latin typeface="Helvetica" pitchFamily="2" charset="0"/>
                        </a:rPr>
                        <a:t>26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effectLst/>
                          <a:latin typeface="Helvetica" pitchFamily="2" charset="0"/>
                        </a:rPr>
                        <a:t>99</a:t>
                      </a:r>
                      <a:endParaRPr lang="en-US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3638384"/>
                  </a:ext>
                </a:extLst>
              </a:tr>
              <a:tr h="460794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</a:rPr>
                        <a:t>S-Q</a:t>
                      </a:r>
                      <a:endParaRPr lang="en-US" dirty="0">
                        <a:solidFill>
                          <a:srgbClr val="FF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Helvetica" pitchFamily="2" charset="0"/>
                        </a:rPr>
                        <a:t>115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</a:rPr>
                        <a:t>128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effectLst/>
                          <a:latin typeface="Helvetica" pitchFamily="2" charset="0"/>
                        </a:rPr>
                        <a:t>243</a:t>
                      </a:r>
                      <a:endParaRPr lang="en-US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5588170"/>
                  </a:ext>
                </a:extLst>
              </a:tr>
              <a:tr h="460794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  <a:latin typeface="Helvetica" pitchFamily="2" charset="0"/>
                        </a:rPr>
                        <a:t>both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  <a:latin typeface="Helvetica" pitchFamily="2" charset="0"/>
                        </a:rPr>
                        <a:t>10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  <a:latin typeface="Helvetica" pitchFamily="2" charset="0"/>
                        </a:rPr>
                        <a:t>7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effectLst/>
                          <a:latin typeface="Helvetica" pitchFamily="2" charset="0"/>
                        </a:rPr>
                        <a:t>17</a:t>
                      </a:r>
                      <a:endParaRPr lang="en-US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1589996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AA10E46F-2CFA-70AA-4A44-0D50EBE451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4157919"/>
              </p:ext>
            </p:extLst>
          </p:nvPr>
        </p:nvGraphicFramePr>
        <p:xfrm>
          <a:off x="7061852" y="2116595"/>
          <a:ext cx="3546928" cy="1558833"/>
        </p:xfrm>
        <a:graphic>
          <a:graphicData uri="http://schemas.openxmlformats.org/drawingml/2006/table">
            <a:tbl>
              <a:tblPr/>
              <a:tblGrid>
                <a:gridCol w="886732">
                  <a:extLst>
                    <a:ext uri="{9D8B030D-6E8A-4147-A177-3AD203B41FA5}">
                      <a16:colId xmlns:a16="http://schemas.microsoft.com/office/drawing/2014/main" val="3499771427"/>
                    </a:ext>
                  </a:extLst>
                </a:gridCol>
                <a:gridCol w="886732">
                  <a:extLst>
                    <a:ext uri="{9D8B030D-6E8A-4147-A177-3AD203B41FA5}">
                      <a16:colId xmlns:a16="http://schemas.microsoft.com/office/drawing/2014/main" val="2425250849"/>
                    </a:ext>
                  </a:extLst>
                </a:gridCol>
                <a:gridCol w="886732">
                  <a:extLst>
                    <a:ext uri="{9D8B030D-6E8A-4147-A177-3AD203B41FA5}">
                      <a16:colId xmlns:a16="http://schemas.microsoft.com/office/drawing/2014/main" val="3135772520"/>
                    </a:ext>
                  </a:extLst>
                </a:gridCol>
                <a:gridCol w="886732">
                  <a:extLst>
                    <a:ext uri="{9D8B030D-6E8A-4147-A177-3AD203B41FA5}">
                      <a16:colId xmlns:a16="http://schemas.microsoft.com/office/drawing/2014/main" val="1893378186"/>
                    </a:ext>
                  </a:extLst>
                </a:gridCol>
              </a:tblGrid>
              <a:tr h="519611">
                <a:tc>
                  <a:txBody>
                    <a:bodyPr/>
                    <a:lstStyle/>
                    <a:p>
                      <a:endParaRPr lang="en-US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VSO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</a:rPr>
                        <a:t>SVO</a:t>
                      </a:r>
                      <a:endParaRPr lang="en-US" dirty="0">
                        <a:solidFill>
                          <a:srgbClr val="FF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SOV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8192253"/>
                  </a:ext>
                </a:extLst>
              </a:tr>
              <a:tr h="519611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Q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-S</a:t>
                      </a:r>
                      <a:endParaRPr lang="en-US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effectLst/>
                          <a:latin typeface="Helvetica" pitchFamily="2" charset="0"/>
                        </a:rPr>
                        <a:t>5</a:t>
                      </a:r>
                      <a:endParaRPr lang="en-US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effectLst/>
                          <a:latin typeface="Helvetica" pitchFamily="2" charset="0"/>
                        </a:rPr>
                        <a:t>0</a:t>
                      </a:r>
                      <a:endParaRPr lang="en-US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effectLst/>
                          <a:latin typeface="Helvetica" pitchFamily="2" charset="0"/>
                        </a:rPr>
                        <a:t>0</a:t>
                      </a:r>
                      <a:endParaRPr lang="en-US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3638384"/>
                  </a:ext>
                </a:extLst>
              </a:tr>
              <a:tr h="519611">
                <a:tc>
                  <a:txBody>
                    <a:bodyPr/>
                    <a:lstStyle/>
                    <a:p>
                      <a:r>
                        <a:rPr lang="en-US" altLang="zh-CN" dirty="0">
                          <a:effectLst/>
                          <a:latin typeface="Helvetica" pitchFamily="2" charset="0"/>
                        </a:rPr>
                        <a:t>S-Q</a:t>
                      </a:r>
                      <a:endParaRPr lang="en-US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effectLst/>
                          <a:latin typeface="Helvetica" pitchFamily="2" charset="0"/>
                        </a:rPr>
                        <a:t>0</a:t>
                      </a:r>
                      <a:endParaRPr lang="en-US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</a:rPr>
                        <a:t>2</a:t>
                      </a:r>
                      <a:endParaRPr lang="en-US" dirty="0">
                        <a:solidFill>
                          <a:srgbClr val="FF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effectLst/>
                          <a:latin typeface="Helvetica" pitchFamily="2" charset="0"/>
                        </a:rPr>
                        <a:t>5</a:t>
                      </a:r>
                      <a:endParaRPr lang="en-US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3026373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F48DE887-E02B-15B7-F4E1-581C217F0A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201853"/>
              </p:ext>
            </p:extLst>
          </p:nvPr>
        </p:nvGraphicFramePr>
        <p:xfrm>
          <a:off x="5754019" y="4843474"/>
          <a:ext cx="4574905" cy="1843176"/>
        </p:xfrm>
        <a:graphic>
          <a:graphicData uri="http://schemas.openxmlformats.org/drawingml/2006/table">
            <a:tbl>
              <a:tblPr/>
              <a:tblGrid>
                <a:gridCol w="914981">
                  <a:extLst>
                    <a:ext uri="{9D8B030D-6E8A-4147-A177-3AD203B41FA5}">
                      <a16:colId xmlns:a16="http://schemas.microsoft.com/office/drawing/2014/main" val="2967783984"/>
                    </a:ext>
                  </a:extLst>
                </a:gridCol>
                <a:gridCol w="914981">
                  <a:extLst>
                    <a:ext uri="{9D8B030D-6E8A-4147-A177-3AD203B41FA5}">
                      <a16:colId xmlns:a16="http://schemas.microsoft.com/office/drawing/2014/main" val="170987897"/>
                    </a:ext>
                  </a:extLst>
                </a:gridCol>
                <a:gridCol w="914981">
                  <a:extLst>
                    <a:ext uri="{9D8B030D-6E8A-4147-A177-3AD203B41FA5}">
                      <a16:colId xmlns:a16="http://schemas.microsoft.com/office/drawing/2014/main" val="811957272"/>
                    </a:ext>
                  </a:extLst>
                </a:gridCol>
                <a:gridCol w="914981">
                  <a:extLst>
                    <a:ext uri="{9D8B030D-6E8A-4147-A177-3AD203B41FA5}">
                      <a16:colId xmlns:a16="http://schemas.microsoft.com/office/drawing/2014/main" val="2987163912"/>
                    </a:ext>
                  </a:extLst>
                </a:gridCol>
                <a:gridCol w="914981">
                  <a:extLst>
                    <a:ext uri="{9D8B030D-6E8A-4147-A177-3AD203B41FA5}">
                      <a16:colId xmlns:a16="http://schemas.microsoft.com/office/drawing/2014/main" val="2467000276"/>
                    </a:ext>
                  </a:extLst>
                </a:gridCol>
              </a:tblGrid>
              <a:tr h="460794"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FF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</a:rPr>
                        <a:t>VSO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SVO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</a:rPr>
                        <a:t>SOV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合计</a:t>
                      </a:r>
                      <a:endParaRPr lang="en-US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0458720"/>
                  </a:ext>
                </a:extLst>
              </a:tr>
              <a:tr h="460794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  <a:latin typeface="Helvetica" pitchFamily="2" charset="0"/>
                        </a:rPr>
                        <a:t>Q</a:t>
                      </a:r>
                      <a:r>
                        <a:rPr lang="en-US" altLang="zh-CN" dirty="0">
                          <a:effectLst/>
                          <a:latin typeface="Helvetica" pitchFamily="2" charset="0"/>
                        </a:rPr>
                        <a:t>-</a:t>
                      </a:r>
                      <a:r>
                        <a:rPr lang="en-US" dirty="0">
                          <a:effectLst/>
                          <a:latin typeface="Helvetica" pitchFamily="2" charset="0"/>
                        </a:rPr>
                        <a:t>S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</a:rPr>
                        <a:t>18</a:t>
                      </a:r>
                      <a:endParaRPr lang="en-US" dirty="0">
                        <a:solidFill>
                          <a:srgbClr val="FF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effectLst/>
                          <a:latin typeface="Helvetica" pitchFamily="2" charset="0"/>
                        </a:rPr>
                        <a:t>42</a:t>
                      </a:r>
                      <a:endParaRPr lang="en-US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effectLst/>
                          <a:latin typeface="Helvetica" pitchFamily="2" charset="0"/>
                        </a:rPr>
                        <a:t>29</a:t>
                      </a:r>
                      <a:endParaRPr lang="en-US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effectLst/>
                          <a:latin typeface="Helvetica" pitchFamily="2" charset="0"/>
                        </a:rPr>
                        <a:t>89</a:t>
                      </a:r>
                      <a:endParaRPr lang="en-US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6069265"/>
                  </a:ext>
                </a:extLst>
              </a:tr>
              <a:tr h="460794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</a:rPr>
                        <a:t>S-Q</a:t>
                      </a:r>
                      <a:endParaRPr lang="en-US" dirty="0">
                        <a:solidFill>
                          <a:srgbClr val="FF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effectLst/>
                          <a:latin typeface="Helvetica" pitchFamily="2" charset="0"/>
                        </a:rPr>
                        <a:t>17</a:t>
                      </a:r>
                      <a:endParaRPr lang="en-US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effectLst/>
                          <a:latin typeface="Helvetica" pitchFamily="2" charset="0"/>
                        </a:rPr>
                        <a:t>129</a:t>
                      </a:r>
                      <a:endParaRPr lang="en-US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</a:rPr>
                        <a:t>117</a:t>
                      </a:r>
                      <a:endParaRPr lang="en-US" dirty="0">
                        <a:solidFill>
                          <a:srgbClr val="FF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effectLst/>
                          <a:latin typeface="Helvetica" pitchFamily="2" charset="0"/>
                        </a:rPr>
                        <a:t>263</a:t>
                      </a:r>
                      <a:endParaRPr lang="en-US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5080944"/>
                  </a:ext>
                </a:extLst>
              </a:tr>
              <a:tr h="460794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  <a:latin typeface="Helvetica" pitchFamily="2" charset="0"/>
                        </a:rPr>
                        <a:t>both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effectLst/>
                          <a:latin typeface="Helvetica" pitchFamily="2" charset="0"/>
                        </a:rPr>
                        <a:t>0</a:t>
                      </a:r>
                      <a:endParaRPr lang="en-US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effectLst/>
                          <a:latin typeface="Helvetica" pitchFamily="2" charset="0"/>
                        </a:rPr>
                        <a:t>9</a:t>
                      </a:r>
                      <a:endParaRPr lang="en-US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effectLst/>
                          <a:latin typeface="Helvetica" pitchFamily="2" charset="0"/>
                        </a:rPr>
                        <a:t>5</a:t>
                      </a:r>
                      <a:endParaRPr lang="en-US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effectLst/>
                          <a:latin typeface="Helvetica" pitchFamily="2" charset="0"/>
                        </a:rPr>
                        <a:t>14</a:t>
                      </a:r>
                      <a:endParaRPr lang="en-US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1239348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32AD8E4E-E76D-54D6-3B3E-44E70F25A1BE}"/>
              </a:ext>
            </a:extLst>
          </p:cNvPr>
          <p:cNvSpPr txBox="1"/>
          <p:nvPr/>
        </p:nvSpPr>
        <p:spPr>
          <a:xfrm>
            <a:off x="10597544" y="5497113"/>
            <a:ext cx="15087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7030A0"/>
                </a:solidFill>
                <a:latin typeface="PingFang HK" panose="020B0400000000000000" pitchFamily="34" charset="-120"/>
                <a:ea typeface="PingFang HK" panose="020B0400000000000000" pitchFamily="34" charset="-120"/>
              </a:rPr>
              <a:t>Chi</a:t>
            </a:r>
            <a:r>
              <a:rPr lang="en-US" altLang="zh-CN" i="1" dirty="0">
                <a:solidFill>
                  <a:srgbClr val="7030A0"/>
                </a:solidFill>
                <a:latin typeface="PingFang HK" panose="020B0400000000000000" pitchFamily="34" charset="-120"/>
                <a:ea typeface="PingFang HK" panose="020B0400000000000000" pitchFamily="34" charset="-120"/>
              </a:rPr>
              <a:t>-Square</a:t>
            </a:r>
            <a:r>
              <a:rPr lang="zh-CN" altLang="en-US" i="1" dirty="0">
                <a:solidFill>
                  <a:srgbClr val="7030A0"/>
                </a:solidFill>
                <a:latin typeface="PingFang HK" panose="020B0400000000000000" pitchFamily="34" charset="-120"/>
                <a:ea typeface="PingFang HK" panose="020B0400000000000000" pitchFamily="34" charset="-120"/>
              </a:rPr>
              <a:t> </a:t>
            </a:r>
            <a:endParaRPr lang="en-US" altLang="zh-CN" i="1" dirty="0">
              <a:solidFill>
                <a:srgbClr val="7030A0"/>
              </a:solidFill>
              <a:latin typeface="PingFang HK" panose="020B0400000000000000" pitchFamily="34" charset="-120"/>
              <a:ea typeface="PingFang HK" panose="020B0400000000000000" pitchFamily="34" charset="-120"/>
            </a:endParaRPr>
          </a:p>
          <a:p>
            <a:r>
              <a:rPr lang="en-US" altLang="zh-CN" i="1" dirty="0">
                <a:solidFill>
                  <a:srgbClr val="7030A0"/>
                </a:solidFill>
                <a:latin typeface="PingFang HK" panose="020B0400000000000000" pitchFamily="34" charset="-120"/>
                <a:ea typeface="PingFang HK" panose="020B0400000000000000" pitchFamily="34" charset="-120"/>
              </a:rPr>
              <a:t>Test?</a:t>
            </a:r>
            <a:endParaRPr lang="en-US" i="1" dirty="0">
              <a:solidFill>
                <a:srgbClr val="7030A0"/>
              </a:solidFill>
              <a:latin typeface="PingFang HK" panose="020B0400000000000000" pitchFamily="34" charset="-120"/>
              <a:ea typeface="PingFang HK" panose="020B0400000000000000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40560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1" grpId="0"/>
      <p:bldP spid="14" grpId="0"/>
      <p:bldP spid="15" grpId="0"/>
      <p:bldP spid="2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3">
            <a:extLst>
              <a:ext uri="{FF2B5EF4-FFF2-40B4-BE49-F238E27FC236}">
                <a16:creationId xmlns:a16="http://schemas.microsoft.com/office/drawing/2014/main" id="{4EAF3395-F991-A7D6-E6BB-1EB1DE0FEC56}"/>
              </a:ext>
            </a:extLst>
          </p:cNvPr>
          <p:cNvSpPr/>
          <p:nvPr/>
        </p:nvSpPr>
        <p:spPr>
          <a:xfrm>
            <a:off x="544664" y="1962206"/>
            <a:ext cx="5547360" cy="1912434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</p:spPr>
      </p:sp>
      <p:sp>
        <p:nvSpPr>
          <p:cNvPr id="4" name="Text 5">
            <a:extLst>
              <a:ext uri="{FF2B5EF4-FFF2-40B4-BE49-F238E27FC236}">
                <a16:creationId xmlns:a16="http://schemas.microsoft.com/office/drawing/2014/main" id="{8FCBBF7F-8808-F14E-AD04-B4C0C0B1D585}"/>
              </a:ext>
            </a:extLst>
          </p:cNvPr>
          <p:cNvSpPr txBox="1"/>
          <p:nvPr/>
        </p:nvSpPr>
        <p:spPr>
          <a:xfrm>
            <a:off x="935962" y="3192704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 err="1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共性二十二：形容词比较结构采用</a:t>
            </a:r>
            <a:r>
              <a:rPr lang="zh-CN" altLang="en-US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“基准</a:t>
            </a:r>
            <a:r>
              <a:rPr lang="en-US" altLang="zh-CN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</a:t>
            </a:r>
            <a:r>
              <a:rPr lang="zh-CN" altLang="en-US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标记</a:t>
            </a:r>
            <a:r>
              <a:rPr lang="en-US" altLang="zh-CN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</a:t>
            </a:r>
            <a:r>
              <a:rPr lang="zh-CN" altLang="en-US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形容词”语序为后置词语言，采用“形容词</a:t>
            </a:r>
            <a:r>
              <a:rPr lang="en-US" altLang="zh-CN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</a:t>
            </a:r>
            <a:r>
              <a:rPr lang="zh-CN" altLang="en-US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标记</a:t>
            </a:r>
            <a:r>
              <a:rPr lang="en-US" altLang="zh-CN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</a:t>
            </a:r>
            <a:r>
              <a:rPr lang="zh-CN" altLang="en-US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基准”语序的为前置词语言</a:t>
            </a:r>
            <a:endParaRPr lang="en-US" sz="14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545BF13-7AC9-DB22-D970-89D05B2CA1EE}"/>
              </a:ext>
            </a:extLst>
          </p:cNvPr>
          <p:cNvSpPr txBox="1"/>
          <p:nvPr/>
        </p:nvSpPr>
        <p:spPr>
          <a:xfrm>
            <a:off x="868476" y="2264165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基准</a:t>
            </a:r>
            <a:r>
              <a:rPr lang="en-US" altLang="zh-CN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</a:t>
            </a:r>
            <a:r>
              <a:rPr lang="zh-CN" alt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标记</a:t>
            </a:r>
            <a:r>
              <a:rPr lang="en-US" altLang="zh-CN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</a:t>
            </a:r>
            <a:r>
              <a:rPr lang="zh-CN" alt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形容词 </a:t>
            </a: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⊃ </a:t>
            </a:r>
            <a:r>
              <a:rPr lang="en-US" sz="2000" b="1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后置词</a:t>
            </a:r>
            <a:endParaRPr lang="en-US" sz="20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010237C8-B0E5-C7E9-7043-12D1F95C8FA3}"/>
              </a:ext>
            </a:extLst>
          </p:cNvPr>
          <p:cNvSpPr txBox="1"/>
          <p:nvPr/>
        </p:nvSpPr>
        <p:spPr>
          <a:xfrm>
            <a:off x="890130" y="2704745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形容词</a:t>
            </a:r>
            <a:r>
              <a:rPr lang="en-US" altLang="zh-CN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</a:t>
            </a:r>
            <a:r>
              <a:rPr lang="zh-CN" alt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标记</a:t>
            </a:r>
            <a:r>
              <a:rPr lang="en-US" altLang="zh-CN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</a:t>
            </a:r>
            <a:r>
              <a:rPr lang="zh-CN" alt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基准 </a:t>
            </a: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⊃ </a:t>
            </a:r>
            <a:r>
              <a:rPr lang="en-US" sz="2000" b="1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前置词</a:t>
            </a:r>
            <a:endParaRPr lang="en-US" sz="2000" dirty="0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062C1B9F-9BA9-EBED-1C80-6F0602D27737}"/>
              </a:ext>
            </a:extLst>
          </p:cNvPr>
          <p:cNvSpPr txBox="1"/>
          <p:nvPr/>
        </p:nvSpPr>
        <p:spPr>
          <a:xfrm>
            <a:off x="548640" y="731520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附置词与形容词</a:t>
            </a:r>
            <a:r>
              <a:rPr lang="en-US" altLang="zh-CN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</a:t>
            </a:r>
            <a:r>
              <a:rPr lang="zh-CN" altLang="en-US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比较基准语序</a:t>
            </a:r>
            <a:endParaRPr lang="en-US" sz="2800" dirty="0"/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3E82A571-F959-5F02-3985-88793BEE4AE4}"/>
              </a:ext>
            </a:extLst>
          </p:cNvPr>
          <p:cNvSpPr txBox="1"/>
          <p:nvPr/>
        </p:nvSpPr>
        <p:spPr>
          <a:xfrm>
            <a:off x="548640" y="129844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格林伯格的</a:t>
            </a:r>
            <a:r>
              <a:rPr lang="en-US" altLang="zh-CN" sz="1400" dirty="0" err="1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Universal</a:t>
            </a:r>
            <a:r>
              <a:rPr lang="zh-CN" altLang="en-US" sz="14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altLang="zh-CN" sz="14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C61711-0FC6-9FAD-8F2E-039A395FAE03}"/>
              </a:ext>
            </a:extLst>
          </p:cNvPr>
          <p:cNvSpPr txBox="1"/>
          <p:nvPr/>
        </p:nvSpPr>
        <p:spPr>
          <a:xfrm>
            <a:off x="4121952" y="2121053"/>
            <a:ext cx="6846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O</a:t>
            </a:r>
            <a:r>
              <a:rPr lang="en-US" altLang="zh-CN" sz="32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V</a:t>
            </a:r>
            <a:endParaRPr lang="en-US" sz="32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4EB750B-42B2-0DBE-A99F-C23F12C0725A}"/>
              </a:ext>
            </a:extLst>
          </p:cNvPr>
          <p:cNvSpPr txBox="1"/>
          <p:nvPr/>
        </p:nvSpPr>
        <p:spPr>
          <a:xfrm>
            <a:off x="4121952" y="2605273"/>
            <a:ext cx="10866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VO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6A3E57A-F687-43FD-438F-F63A83FD3C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9628" y="1447134"/>
            <a:ext cx="7118290" cy="151978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43F0214-69F5-A523-371B-F3DB3925AAAC}"/>
              </a:ext>
            </a:extLst>
          </p:cNvPr>
          <p:cNvSpPr txBox="1"/>
          <p:nvPr/>
        </p:nvSpPr>
        <p:spPr>
          <a:xfrm>
            <a:off x="5579936" y="996160"/>
            <a:ext cx="3339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Dryer</a:t>
            </a:r>
            <a:r>
              <a:rPr lang="zh-CN" altLang="en-US" dirty="0"/>
              <a:t> </a:t>
            </a:r>
            <a:r>
              <a:rPr lang="en-US" altLang="zh-CN" dirty="0"/>
              <a:t>(1992):</a:t>
            </a:r>
            <a:r>
              <a:rPr lang="zh-CN" altLang="en-US" dirty="0"/>
              <a:t> </a:t>
            </a:r>
            <a:r>
              <a:rPr lang="en-US" altLang="zh-CN" dirty="0"/>
              <a:t>OV/VO</a:t>
            </a:r>
            <a:r>
              <a:rPr lang="zh-CN" altLang="en-US" dirty="0"/>
              <a:t>作为预测项</a:t>
            </a:r>
            <a:r>
              <a:rPr lang="en-US" altLang="zh-CN" dirty="0"/>
              <a:t>: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B4C394A-9755-0A67-C9F9-B624A8189B42}"/>
              </a:ext>
            </a:extLst>
          </p:cNvPr>
          <p:cNvSpPr txBox="1"/>
          <p:nvPr/>
        </p:nvSpPr>
        <p:spPr>
          <a:xfrm>
            <a:off x="6639339" y="3192704"/>
            <a:ext cx="383239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普通话</a:t>
            </a:r>
            <a:r>
              <a:rPr lang="zh-CN" altLang="en-US" dirty="0"/>
              <a:t>：比我高（</a:t>
            </a:r>
            <a:r>
              <a:rPr lang="en-US" altLang="zh-CN" dirty="0"/>
              <a:t>M-St-A</a:t>
            </a:r>
            <a:r>
              <a:rPr lang="zh-CN" altLang="en-US" dirty="0"/>
              <a:t>）（罕见）</a:t>
            </a:r>
            <a:endParaRPr lang="en-US" dirty="0"/>
          </a:p>
          <a:p>
            <a:r>
              <a:rPr lang="en-US" dirty="0" err="1"/>
              <a:t>古汉语</a:t>
            </a:r>
            <a:r>
              <a:rPr lang="zh-CN" altLang="en-US" dirty="0"/>
              <a:t>：猛于虎（</a:t>
            </a:r>
            <a:r>
              <a:rPr lang="en-US" altLang="zh-CN" dirty="0"/>
              <a:t>A-M-St</a:t>
            </a:r>
            <a:r>
              <a:rPr lang="zh-CN" altLang="en-US" dirty="0"/>
              <a:t>）</a:t>
            </a:r>
            <a:endParaRPr lang="en-US" dirty="0"/>
          </a:p>
          <a:p>
            <a:r>
              <a:rPr lang="en-US" dirty="0" err="1"/>
              <a:t>粤语</a:t>
            </a:r>
            <a:r>
              <a:rPr lang="zh-CN" altLang="en-US" dirty="0"/>
              <a:t>：高过我（</a:t>
            </a:r>
            <a:r>
              <a:rPr lang="en-US" altLang="zh-CN" dirty="0"/>
              <a:t>A-M-St</a:t>
            </a:r>
            <a:r>
              <a:rPr lang="zh-CN" altLang="en-US" dirty="0"/>
              <a:t>）</a:t>
            </a:r>
            <a:endParaRPr lang="en-US" altLang="zh-CN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694916A-A50C-C457-53BC-9E2267E2AD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7334" y="4116034"/>
            <a:ext cx="8303812" cy="126389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4FDA454-1DB8-D0EE-80C9-B561405E9F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109" y="5603065"/>
            <a:ext cx="5371567" cy="126389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3770423-D77E-43F4-C741-1DC3B2386C6A}"/>
              </a:ext>
            </a:extLst>
          </p:cNvPr>
          <p:cNvSpPr txBox="1"/>
          <p:nvPr/>
        </p:nvSpPr>
        <p:spPr>
          <a:xfrm>
            <a:off x="132074" y="5269222"/>
            <a:ext cx="4249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Haspelmath</a:t>
            </a:r>
            <a:r>
              <a:rPr lang="zh-CN" altLang="en-US" dirty="0"/>
              <a:t> </a:t>
            </a:r>
            <a:r>
              <a:rPr lang="en-US" altLang="zh-CN" dirty="0"/>
              <a:t>&amp;</a:t>
            </a:r>
            <a:r>
              <a:rPr lang="zh-CN" altLang="en-US" dirty="0"/>
              <a:t> </a:t>
            </a:r>
            <a:r>
              <a:rPr lang="en-US" altLang="zh-CN" dirty="0"/>
              <a:t>Mizuno</a:t>
            </a:r>
            <a:r>
              <a:rPr lang="zh-CN" altLang="en-US" dirty="0"/>
              <a:t> </a:t>
            </a:r>
            <a:r>
              <a:rPr lang="en-US" altLang="zh-CN" dirty="0"/>
              <a:t>(2024):</a:t>
            </a:r>
            <a:r>
              <a:rPr lang="zh-CN" altLang="en-US" dirty="0"/>
              <a:t> </a:t>
            </a:r>
            <a:r>
              <a:rPr lang="en-US" altLang="zh-CN" dirty="0"/>
              <a:t>302</a:t>
            </a:r>
            <a:r>
              <a:rPr lang="zh-CN" altLang="en-US" dirty="0"/>
              <a:t>个语言</a:t>
            </a:r>
            <a:endParaRPr lang="en-US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B6A2656-C7CC-943A-EBA9-95C6DE6883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2570" y="5862741"/>
            <a:ext cx="5753100" cy="9906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B6C41E9-3F24-2801-CA8C-9277BBC657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43759" y="5571059"/>
            <a:ext cx="34925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317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5" grpId="0"/>
      <p:bldP spid="16" grpId="0"/>
      <p:bldP spid="1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>
            <a:extLst>
              <a:ext uri="{FF2B5EF4-FFF2-40B4-BE49-F238E27FC236}">
                <a16:creationId xmlns:a16="http://schemas.microsoft.com/office/drawing/2014/main" id="{459C0F5D-EE70-AAF0-F218-93C87EF241D8}"/>
              </a:ext>
            </a:extLst>
          </p:cNvPr>
          <p:cNvSpPr txBox="1"/>
          <p:nvPr/>
        </p:nvSpPr>
        <p:spPr>
          <a:xfrm>
            <a:off x="548640" y="731520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附置词与关系从句</a:t>
            </a:r>
            <a:r>
              <a:rPr lang="en-US" altLang="zh-CN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</a:t>
            </a:r>
            <a:r>
              <a:rPr lang="zh-CN" altLang="en-US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名词</a:t>
            </a:r>
            <a:r>
              <a:rPr lang="en-US" sz="2800" b="1" dirty="0" err="1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语序</a:t>
            </a:r>
            <a:endParaRPr lang="en-US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315D10-0821-297C-964B-FF60966396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6964" y="1563623"/>
            <a:ext cx="5053013" cy="172135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365340D-4CCC-CAC9-9AEE-04AF77987276}"/>
              </a:ext>
            </a:extLst>
          </p:cNvPr>
          <p:cNvSpPr txBox="1"/>
          <p:nvPr/>
        </p:nvSpPr>
        <p:spPr>
          <a:xfrm>
            <a:off x="8124084" y="1608693"/>
            <a:ext cx="145256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SVO</a:t>
            </a:r>
          </a:p>
          <a:p>
            <a:endParaRPr lang="en-US" sz="2000" dirty="0"/>
          </a:p>
          <a:p>
            <a:r>
              <a:rPr lang="en-US" sz="2000" dirty="0" err="1"/>
              <a:t>前置词</a:t>
            </a:r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N-</a:t>
            </a:r>
            <a:r>
              <a:rPr lang="en-US" altLang="zh-CN" sz="2000" dirty="0"/>
              <a:t>Rel</a:t>
            </a:r>
            <a:endParaRPr lang="en-US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13884A-1FA9-1EDE-85F7-EC9B96129058}"/>
              </a:ext>
            </a:extLst>
          </p:cNvPr>
          <p:cNvSpPr txBox="1"/>
          <p:nvPr/>
        </p:nvSpPr>
        <p:spPr>
          <a:xfrm>
            <a:off x="8124084" y="3971151"/>
            <a:ext cx="954107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SOV</a:t>
            </a:r>
          </a:p>
          <a:p>
            <a:endParaRPr lang="en-US" sz="2000" dirty="0"/>
          </a:p>
          <a:p>
            <a:r>
              <a:rPr lang="en-US" sz="2000" dirty="0" err="1"/>
              <a:t>后置词</a:t>
            </a:r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Rel</a:t>
            </a:r>
            <a:r>
              <a:rPr lang="en-US" altLang="zh-CN" sz="2000" dirty="0"/>
              <a:t>-N</a:t>
            </a:r>
            <a:endParaRPr lang="en-US" sz="2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A56A76D-73F4-8BCE-5326-426648D785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1205" y="3429000"/>
            <a:ext cx="5481638" cy="271551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25DC35F-895B-F92A-13B8-2774483A581B}"/>
              </a:ext>
            </a:extLst>
          </p:cNvPr>
          <p:cNvSpPr txBox="1"/>
          <p:nvPr/>
        </p:nvSpPr>
        <p:spPr>
          <a:xfrm>
            <a:off x="909604" y="1608693"/>
            <a:ext cx="13716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solidFill>
                  <a:srgbClr val="002060"/>
                </a:solidFill>
              </a:rPr>
              <a:t>英语</a:t>
            </a:r>
            <a:endParaRPr lang="en-US" sz="2000" b="1" dirty="0">
              <a:solidFill>
                <a:srgbClr val="00206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310B81-61D4-10C5-FD5E-D50533E789EC}"/>
              </a:ext>
            </a:extLst>
          </p:cNvPr>
          <p:cNvSpPr txBox="1"/>
          <p:nvPr/>
        </p:nvSpPr>
        <p:spPr>
          <a:xfrm>
            <a:off x="548640" y="3550154"/>
            <a:ext cx="183737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solidFill>
                  <a:srgbClr val="002060"/>
                </a:solidFill>
              </a:rPr>
              <a:t>Alam</a:t>
            </a:r>
            <a:r>
              <a:rPr lang="en-US" altLang="zh-CN" sz="2000" b="1" dirty="0" err="1">
                <a:solidFill>
                  <a:srgbClr val="002060"/>
                </a:solidFill>
              </a:rPr>
              <a:t>blak</a:t>
            </a:r>
            <a:r>
              <a:rPr lang="en-US" sz="2000" b="1" dirty="0" err="1">
                <a:solidFill>
                  <a:srgbClr val="002060"/>
                </a:solidFill>
              </a:rPr>
              <a:t>语</a:t>
            </a:r>
            <a:endParaRPr lang="en-US" sz="2000" b="1" dirty="0">
              <a:solidFill>
                <a:srgbClr val="002060"/>
              </a:solidFill>
            </a:endParaRPr>
          </a:p>
          <a:p>
            <a:r>
              <a:rPr lang="en-US" altLang="zh-CN" sz="2000" b="1" dirty="0">
                <a:solidFill>
                  <a:srgbClr val="002060"/>
                </a:solidFill>
              </a:rPr>
              <a:t>(</a:t>
            </a:r>
            <a:r>
              <a:rPr lang="zh-CN" altLang="en-US" sz="2000" b="1" dirty="0">
                <a:solidFill>
                  <a:srgbClr val="002060"/>
                </a:solidFill>
              </a:rPr>
              <a:t>巴布亚新几内亚</a:t>
            </a:r>
            <a:r>
              <a:rPr lang="en-US" altLang="zh-CN" sz="2000" b="1" dirty="0">
                <a:solidFill>
                  <a:srgbClr val="002060"/>
                </a:solidFill>
              </a:rPr>
              <a:t>)</a:t>
            </a:r>
            <a:endParaRPr lang="en-US" sz="20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67067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6">
            <a:extLst>
              <a:ext uri="{FF2B5EF4-FFF2-40B4-BE49-F238E27FC236}">
                <a16:creationId xmlns:a16="http://schemas.microsoft.com/office/drawing/2014/main" id="{E7DBB02E-0BB9-F1C6-EAD1-766CE3FB36C2}"/>
              </a:ext>
            </a:extLst>
          </p:cNvPr>
          <p:cNvSpPr/>
          <p:nvPr/>
        </p:nvSpPr>
        <p:spPr>
          <a:xfrm>
            <a:off x="518160" y="1952768"/>
            <a:ext cx="5577840" cy="1600200"/>
          </a:xfrm>
          <a:prstGeom prst="roundRect">
            <a:avLst>
              <a:gd name="adj" fmla="val 4000"/>
            </a:avLst>
          </a:prstGeom>
          <a:solidFill>
            <a:srgbClr val="3A4593"/>
          </a:solidFill>
          <a:ln/>
        </p:spPr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8B80EFA4-E8DE-6A73-0FA1-039016C244FA}"/>
              </a:ext>
            </a:extLst>
          </p:cNvPr>
          <p:cNvSpPr txBox="1"/>
          <p:nvPr/>
        </p:nvSpPr>
        <p:spPr>
          <a:xfrm>
            <a:off x="792480" y="2745875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 err="1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共性二十四：关系从句前置于名词的语言使用后置词</a:t>
            </a:r>
            <a:r>
              <a:rPr lang="zh-CN" altLang="en-US" sz="16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（或同时形容词前置于名词）</a:t>
            </a:r>
            <a:endParaRPr lang="en-US" sz="16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D9315308-9901-508E-8575-4E0BA9CC85BE}"/>
              </a:ext>
            </a:extLst>
          </p:cNvPr>
          <p:cNvSpPr txBox="1"/>
          <p:nvPr/>
        </p:nvSpPr>
        <p:spPr>
          <a:xfrm>
            <a:off x="679269" y="22453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关系从句 </a:t>
            </a:r>
            <a:r>
              <a:rPr lang="en-US" altLang="zh-CN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</a:t>
            </a:r>
            <a:r>
              <a:rPr lang="zh-CN" altLang="en-US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名词 </a:t>
            </a:r>
            <a:r>
              <a:rPr lang="en-US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⊃ </a:t>
            </a:r>
            <a:r>
              <a:rPr lang="en-US" b="1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后置词</a:t>
            </a:r>
            <a:r>
              <a:rPr lang="zh-CN" altLang="en-US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（</a:t>
            </a:r>
            <a:r>
              <a:rPr lang="en-US" altLang="zh-CN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</a:t>
            </a:r>
            <a:r>
              <a:rPr lang="zh-CN" altLang="en-US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形容词</a:t>
            </a:r>
            <a:r>
              <a:rPr lang="en-US" altLang="zh-CN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</a:t>
            </a:r>
            <a:r>
              <a:rPr lang="zh-CN" altLang="en-US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名词）</a:t>
            </a:r>
            <a:endParaRPr lang="en-US" dirty="0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062C1B9F-9BA9-EBED-1C80-6F0602D27737}"/>
              </a:ext>
            </a:extLst>
          </p:cNvPr>
          <p:cNvSpPr txBox="1"/>
          <p:nvPr/>
        </p:nvSpPr>
        <p:spPr>
          <a:xfrm>
            <a:off x="548640" y="731520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附置词与关系从句</a:t>
            </a:r>
            <a:r>
              <a:rPr lang="en-US" altLang="zh-CN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</a:t>
            </a:r>
            <a:r>
              <a:rPr lang="zh-CN" altLang="en-US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名词</a:t>
            </a:r>
            <a:r>
              <a:rPr lang="en-US" sz="2800" b="1" dirty="0" err="1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语序</a:t>
            </a:r>
            <a:endParaRPr lang="en-US" sz="2800" dirty="0"/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3E82A571-F959-5F02-3985-88793BEE4AE4}"/>
              </a:ext>
            </a:extLst>
          </p:cNvPr>
          <p:cNvSpPr txBox="1"/>
          <p:nvPr/>
        </p:nvSpPr>
        <p:spPr>
          <a:xfrm>
            <a:off x="548640" y="129844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格林伯格的Universa</a:t>
            </a:r>
            <a:r>
              <a:rPr lang="en-US" altLang="zh-CN" sz="1400" dirty="0" err="1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</a:t>
            </a:r>
            <a:r>
              <a:rPr lang="zh-CN" altLang="en-US" sz="14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altLang="zh-CN" sz="14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endParaRPr lang="en-US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0846464-1E11-7859-FF33-430064420F4D}"/>
              </a:ext>
            </a:extLst>
          </p:cNvPr>
          <p:cNvSpPr txBox="1"/>
          <p:nvPr/>
        </p:nvSpPr>
        <p:spPr>
          <a:xfrm>
            <a:off x="5380827" y="2137636"/>
            <a:ext cx="6846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O</a:t>
            </a:r>
            <a:r>
              <a:rPr lang="en-US" altLang="zh-CN" sz="32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V</a:t>
            </a:r>
            <a:endParaRPr lang="en-US" sz="32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BF158B0-D6BC-220C-862A-C61201AAE8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08502"/>
            <a:ext cx="7213600" cy="13970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4AF6104-8564-DEDE-AA63-0505D91DEB4A}"/>
              </a:ext>
            </a:extLst>
          </p:cNvPr>
          <p:cNvSpPr txBox="1"/>
          <p:nvPr/>
        </p:nvSpPr>
        <p:spPr>
          <a:xfrm>
            <a:off x="548640" y="4293622"/>
            <a:ext cx="36293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Dryer</a:t>
            </a:r>
            <a:r>
              <a:rPr lang="zh-CN" altLang="en-US" dirty="0"/>
              <a:t> </a:t>
            </a:r>
            <a:r>
              <a:rPr lang="en-US" altLang="zh-CN" dirty="0"/>
              <a:t>(1992):</a:t>
            </a:r>
            <a:r>
              <a:rPr lang="zh-CN" altLang="en-US" dirty="0"/>
              <a:t> </a:t>
            </a:r>
            <a:r>
              <a:rPr lang="en-US" altLang="zh-CN" dirty="0"/>
              <a:t>OV/VO</a:t>
            </a:r>
            <a:r>
              <a:rPr lang="zh-CN" altLang="en-US" dirty="0"/>
              <a:t>作为被预测项</a:t>
            </a:r>
            <a:r>
              <a:rPr lang="en-US" altLang="zh-CN" dirty="0"/>
              <a:t>:</a:t>
            </a:r>
            <a:endParaRPr lang="en-US" dirty="0"/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6E4E82BC-67EA-2A49-B178-A20109B924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4086805"/>
              </p:ext>
            </p:extLst>
          </p:nvPr>
        </p:nvGraphicFramePr>
        <p:xfrm>
          <a:off x="6513802" y="1554154"/>
          <a:ext cx="5320392" cy="2078444"/>
        </p:xfrm>
        <a:graphic>
          <a:graphicData uri="http://schemas.openxmlformats.org/drawingml/2006/table">
            <a:tbl>
              <a:tblPr/>
              <a:tblGrid>
                <a:gridCol w="886732">
                  <a:extLst>
                    <a:ext uri="{9D8B030D-6E8A-4147-A177-3AD203B41FA5}">
                      <a16:colId xmlns:a16="http://schemas.microsoft.com/office/drawing/2014/main" val="3499771427"/>
                    </a:ext>
                  </a:extLst>
                </a:gridCol>
                <a:gridCol w="886732">
                  <a:extLst>
                    <a:ext uri="{9D8B030D-6E8A-4147-A177-3AD203B41FA5}">
                      <a16:colId xmlns:a16="http://schemas.microsoft.com/office/drawing/2014/main" val="2857927885"/>
                    </a:ext>
                  </a:extLst>
                </a:gridCol>
                <a:gridCol w="886732">
                  <a:extLst>
                    <a:ext uri="{9D8B030D-6E8A-4147-A177-3AD203B41FA5}">
                      <a16:colId xmlns:a16="http://schemas.microsoft.com/office/drawing/2014/main" val="1901871530"/>
                    </a:ext>
                  </a:extLst>
                </a:gridCol>
                <a:gridCol w="886732">
                  <a:extLst>
                    <a:ext uri="{9D8B030D-6E8A-4147-A177-3AD203B41FA5}">
                      <a16:colId xmlns:a16="http://schemas.microsoft.com/office/drawing/2014/main" val="2425250849"/>
                    </a:ext>
                  </a:extLst>
                </a:gridCol>
                <a:gridCol w="886732">
                  <a:extLst>
                    <a:ext uri="{9D8B030D-6E8A-4147-A177-3AD203B41FA5}">
                      <a16:colId xmlns:a16="http://schemas.microsoft.com/office/drawing/2014/main" val="3135772520"/>
                    </a:ext>
                  </a:extLst>
                </a:gridCol>
                <a:gridCol w="886732">
                  <a:extLst>
                    <a:ext uri="{9D8B030D-6E8A-4147-A177-3AD203B41FA5}">
                      <a16:colId xmlns:a16="http://schemas.microsoft.com/office/drawing/2014/main" val="1893378186"/>
                    </a:ext>
                  </a:extLst>
                </a:gridCol>
              </a:tblGrid>
              <a:tr h="519611">
                <a:tc>
                  <a:txBody>
                    <a:bodyPr/>
                    <a:lstStyle/>
                    <a:p>
                      <a:endParaRPr lang="en-US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effectLst/>
                          <a:latin typeface="Helvetica" pitchFamily="2" charset="0"/>
                        </a:rPr>
                        <a:t>Pr</a:t>
                      </a:r>
                      <a:endParaRPr lang="en-US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</a:rPr>
                        <a:t>Po</a:t>
                      </a:r>
                      <a:endParaRPr lang="en-US" dirty="0">
                        <a:solidFill>
                          <a:srgbClr val="FF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VSO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SVO</a:t>
                      </a:r>
                      <a:endParaRPr lang="en-US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</a:rPr>
                        <a:t>SOV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8192253"/>
                  </a:ext>
                </a:extLst>
              </a:tr>
              <a:tr h="519611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</a:rPr>
                        <a:t>Rel-N</a:t>
                      </a:r>
                      <a:endParaRPr lang="en-US" dirty="0">
                        <a:solidFill>
                          <a:srgbClr val="FF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effectLst/>
                          <a:latin typeface="Helvetica" pitchFamily="2" charset="0"/>
                        </a:rPr>
                        <a:t>0</a:t>
                      </a:r>
                      <a:endParaRPr lang="en-US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effectLst/>
                          <a:latin typeface="Helvetica" pitchFamily="2" charset="0"/>
                        </a:rPr>
                        <a:t>7</a:t>
                      </a:r>
                      <a:endParaRPr lang="en-US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effectLst/>
                          <a:latin typeface="Helvetica" pitchFamily="2" charset="0"/>
                        </a:rPr>
                        <a:t>0</a:t>
                      </a:r>
                      <a:endParaRPr lang="en-US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effectLst/>
                          <a:latin typeface="Helvetica" pitchFamily="2" charset="0"/>
                        </a:rPr>
                        <a:t>0</a:t>
                      </a:r>
                      <a:endParaRPr lang="en-US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effectLst/>
                          <a:latin typeface="Helvetica" pitchFamily="2" charset="0"/>
                        </a:rPr>
                        <a:t>7</a:t>
                      </a:r>
                      <a:endParaRPr lang="en-US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3638384"/>
                  </a:ext>
                </a:extLst>
              </a:tr>
              <a:tr h="519611">
                <a:tc>
                  <a:txBody>
                    <a:bodyPr/>
                    <a:lstStyle/>
                    <a:p>
                      <a:r>
                        <a:rPr lang="en-US" altLang="zh-CN" dirty="0">
                          <a:effectLst/>
                          <a:latin typeface="Helvetica" pitchFamily="2" charset="0"/>
                        </a:rPr>
                        <a:t>N-Rel</a:t>
                      </a:r>
                      <a:endParaRPr lang="en-US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effectLst/>
                          <a:latin typeface="Helvetica" pitchFamily="2" charset="0"/>
                        </a:rPr>
                        <a:t>16</a:t>
                      </a:r>
                      <a:endParaRPr lang="en-US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effectLst/>
                          <a:latin typeface="Helvetica" pitchFamily="2" charset="0"/>
                        </a:rPr>
                        <a:t>4</a:t>
                      </a:r>
                      <a:endParaRPr lang="en-US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effectLst/>
                          <a:latin typeface="Helvetica" pitchFamily="2" charset="0"/>
                        </a:rPr>
                        <a:t>6</a:t>
                      </a:r>
                      <a:endParaRPr lang="en-US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effectLst/>
                          <a:latin typeface="Helvetica" pitchFamily="2" charset="0"/>
                        </a:rPr>
                        <a:t>12</a:t>
                      </a:r>
                      <a:endParaRPr lang="en-US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effectLst/>
                          <a:latin typeface="Helvetica" pitchFamily="2" charset="0"/>
                        </a:rPr>
                        <a:t>2</a:t>
                      </a:r>
                      <a:endParaRPr lang="en-US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3026373"/>
                  </a:ext>
                </a:extLst>
              </a:tr>
              <a:tr h="519611">
                <a:tc>
                  <a:txBody>
                    <a:bodyPr/>
                    <a:lstStyle/>
                    <a:p>
                      <a:r>
                        <a:rPr lang="en-US" altLang="zh-CN" dirty="0">
                          <a:effectLst/>
                          <a:latin typeface="Helvetica" pitchFamily="2" charset="0"/>
                        </a:rPr>
                        <a:t>both</a:t>
                      </a:r>
                      <a:endParaRPr lang="en-US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effectLst/>
                          <a:latin typeface="Helvetica" pitchFamily="2" charset="0"/>
                        </a:rPr>
                        <a:t>0</a:t>
                      </a:r>
                      <a:endParaRPr lang="en-US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effectLst/>
                          <a:latin typeface="Helvetica" pitchFamily="2" charset="0"/>
                        </a:rPr>
                        <a:t>2</a:t>
                      </a:r>
                      <a:endParaRPr lang="en-US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effectLst/>
                          <a:latin typeface="Helvetica" pitchFamily="2" charset="0"/>
                        </a:rPr>
                        <a:t>0</a:t>
                      </a:r>
                      <a:endParaRPr lang="en-US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effectLst/>
                          <a:latin typeface="Helvetica" pitchFamily="2" charset="0"/>
                        </a:rPr>
                        <a:t>1</a:t>
                      </a:r>
                      <a:endParaRPr lang="en-US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effectLst/>
                          <a:latin typeface="Helvetica" pitchFamily="2" charset="0"/>
                        </a:rPr>
                        <a:t>1</a:t>
                      </a:r>
                      <a:endParaRPr lang="en-US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7915217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6E87607A-672C-5A6A-37EF-E7E8F21EE5B0}"/>
              </a:ext>
            </a:extLst>
          </p:cNvPr>
          <p:cNvSpPr txBox="1"/>
          <p:nvPr/>
        </p:nvSpPr>
        <p:spPr>
          <a:xfrm>
            <a:off x="4810538" y="3881702"/>
            <a:ext cx="76033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人类语言中关系从句有后置倾向</a:t>
            </a:r>
            <a:r>
              <a:rPr lang="zh-CN" altLang="en-US" dirty="0"/>
              <a:t>，因此将关系从句的语序设置为预测项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A7016F7-0CED-D58A-BACA-D70CB1C3BA17}"/>
              </a:ext>
            </a:extLst>
          </p:cNvPr>
          <p:cNvSpPr txBox="1"/>
          <p:nvPr/>
        </p:nvSpPr>
        <p:spPr>
          <a:xfrm>
            <a:off x="6414051" y="1033670"/>
            <a:ext cx="30715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Greenberg</a:t>
            </a:r>
            <a:r>
              <a:rPr lang="zh-CN" altLang="en-US" dirty="0"/>
              <a:t> </a:t>
            </a:r>
            <a:r>
              <a:rPr lang="en-US" altLang="zh-CN" dirty="0"/>
              <a:t>(1963</a:t>
            </a:r>
            <a:r>
              <a:rPr lang="zh-CN" altLang="en-US" dirty="0"/>
              <a:t>）：</a:t>
            </a:r>
            <a:r>
              <a:rPr lang="en-US" altLang="zh-CN" dirty="0"/>
              <a:t>Table</a:t>
            </a:r>
            <a:r>
              <a:rPr lang="zh-CN" altLang="en-US" dirty="0"/>
              <a:t> </a:t>
            </a:r>
            <a:r>
              <a:rPr lang="en-US" altLang="zh-CN" dirty="0"/>
              <a:t>10</a:t>
            </a:r>
            <a:r>
              <a:rPr lang="zh-CN" altLang="en-US" dirty="0"/>
              <a:t> 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8690F65-FC6D-9398-31F7-6A6E38B27C49}"/>
              </a:ext>
            </a:extLst>
          </p:cNvPr>
          <p:cNvSpPr txBox="1"/>
          <p:nvPr/>
        </p:nvSpPr>
        <p:spPr>
          <a:xfrm>
            <a:off x="7606198" y="4422839"/>
            <a:ext cx="1875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WALS: </a:t>
            </a:r>
            <a:r>
              <a:rPr lang="en-US" altLang="zh-CN" dirty="0"/>
              <a:t>620</a:t>
            </a:r>
            <a:r>
              <a:rPr lang="en-US" dirty="0"/>
              <a:t>个语言</a:t>
            </a: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D6A9B870-DBD4-B8B7-3AE5-4376D14A97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6026296"/>
              </p:ext>
            </p:extLst>
          </p:nvPr>
        </p:nvGraphicFramePr>
        <p:xfrm>
          <a:off x="7610615" y="4968568"/>
          <a:ext cx="2660196" cy="1499960"/>
        </p:xfrm>
        <a:graphic>
          <a:graphicData uri="http://schemas.openxmlformats.org/drawingml/2006/table">
            <a:tbl>
              <a:tblPr/>
              <a:tblGrid>
                <a:gridCol w="886732">
                  <a:extLst>
                    <a:ext uri="{9D8B030D-6E8A-4147-A177-3AD203B41FA5}">
                      <a16:colId xmlns:a16="http://schemas.microsoft.com/office/drawing/2014/main" val="341886299"/>
                    </a:ext>
                  </a:extLst>
                </a:gridCol>
                <a:gridCol w="886732">
                  <a:extLst>
                    <a:ext uri="{9D8B030D-6E8A-4147-A177-3AD203B41FA5}">
                      <a16:colId xmlns:a16="http://schemas.microsoft.com/office/drawing/2014/main" val="1911917671"/>
                    </a:ext>
                  </a:extLst>
                </a:gridCol>
                <a:gridCol w="886732">
                  <a:extLst>
                    <a:ext uri="{9D8B030D-6E8A-4147-A177-3AD203B41FA5}">
                      <a16:colId xmlns:a16="http://schemas.microsoft.com/office/drawing/2014/main" val="3529826393"/>
                    </a:ext>
                  </a:extLst>
                </a:gridCol>
              </a:tblGrid>
              <a:tr h="374990">
                <a:tc>
                  <a:txBody>
                    <a:bodyPr/>
                    <a:lstStyle/>
                    <a:p>
                      <a:endParaRPr lang="en-US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effectLst/>
                          <a:latin typeface="Helvetica" pitchFamily="2" charset="0"/>
                        </a:rPr>
                        <a:t>Pr</a:t>
                      </a:r>
                      <a:endParaRPr lang="en-US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</a:rPr>
                        <a:t>Po</a:t>
                      </a:r>
                      <a:endParaRPr lang="en-US" dirty="0">
                        <a:solidFill>
                          <a:srgbClr val="FF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3224651"/>
                  </a:ext>
                </a:extLst>
              </a:tr>
              <a:tr h="37499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</a:rPr>
                        <a:t>Rel-N</a:t>
                      </a:r>
                      <a:endParaRPr lang="en-US" dirty="0">
                        <a:solidFill>
                          <a:srgbClr val="FF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effectLst/>
                          <a:latin typeface="Helvetica" pitchFamily="2" charset="0"/>
                        </a:rPr>
                        <a:t>2</a:t>
                      </a:r>
                      <a:endParaRPr lang="en-US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effectLst/>
                          <a:latin typeface="Helvetica" pitchFamily="2" charset="0"/>
                        </a:rPr>
                        <a:t>109</a:t>
                      </a:r>
                      <a:endParaRPr lang="en-US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1158218"/>
                  </a:ext>
                </a:extLst>
              </a:tr>
              <a:tr h="374990">
                <a:tc>
                  <a:txBody>
                    <a:bodyPr/>
                    <a:lstStyle/>
                    <a:p>
                      <a:r>
                        <a:rPr lang="en-US" altLang="zh-CN" dirty="0">
                          <a:effectLst/>
                          <a:latin typeface="Helvetica" pitchFamily="2" charset="0"/>
                        </a:rPr>
                        <a:t>N-Rel</a:t>
                      </a:r>
                      <a:endParaRPr lang="en-US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effectLst/>
                          <a:latin typeface="Helvetica" pitchFamily="2" charset="0"/>
                        </a:rPr>
                        <a:t>346</a:t>
                      </a:r>
                      <a:endParaRPr lang="en-US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effectLst/>
                          <a:latin typeface="Helvetica" pitchFamily="2" charset="0"/>
                        </a:rPr>
                        <a:t>116</a:t>
                      </a:r>
                      <a:endParaRPr lang="en-US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4034343"/>
                  </a:ext>
                </a:extLst>
              </a:tr>
              <a:tr h="374990">
                <a:tc>
                  <a:txBody>
                    <a:bodyPr/>
                    <a:lstStyle/>
                    <a:p>
                      <a:r>
                        <a:rPr lang="en-US" altLang="zh-CN" dirty="0">
                          <a:effectLst/>
                          <a:latin typeface="Helvetica" pitchFamily="2" charset="0"/>
                        </a:rPr>
                        <a:t>both</a:t>
                      </a:r>
                      <a:endParaRPr lang="en-US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effectLst/>
                          <a:latin typeface="Helvetica" pitchFamily="2" charset="0"/>
                        </a:rPr>
                        <a:t>3</a:t>
                      </a:r>
                      <a:endParaRPr lang="en-US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effectLst/>
                          <a:latin typeface="Helvetica" pitchFamily="2" charset="0"/>
                        </a:rPr>
                        <a:t>44</a:t>
                      </a:r>
                      <a:endParaRPr lang="en-US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85387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2616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  <p:bldP spid="17" grpId="0"/>
      <p:bldP spid="19" grpId="0"/>
      <p:bldP spid="20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888310E5-BECC-8585-36F3-FA066BFC7953}"/>
              </a:ext>
            </a:extLst>
          </p:cNvPr>
          <p:cNvSpPr txBox="1"/>
          <p:nvPr/>
        </p:nvSpPr>
        <p:spPr>
          <a:xfrm>
            <a:off x="548640" y="731520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形容词语序的灵活性</a:t>
            </a:r>
            <a:endParaRPr lang="en-US" sz="2800" dirty="0"/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19DA2943-D24B-5844-7BC2-1D86DBD69B29}"/>
              </a:ext>
            </a:extLst>
          </p:cNvPr>
          <p:cNvSpPr txBox="1"/>
          <p:nvPr/>
        </p:nvSpPr>
        <p:spPr>
          <a:xfrm>
            <a:off x="548640" y="129844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Universal </a:t>
            </a:r>
            <a:r>
              <a:rPr lang="en-US" altLang="zh-CN" sz="14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r>
              <a:rPr lang="zh-CN" altLang="en-US" sz="14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基本语序与形容词语序</a:t>
            </a:r>
            <a:endParaRPr lang="en-US" sz="1400" dirty="0"/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9948ED4C-C1AF-33AC-F70F-CE95300057E7}"/>
              </a:ext>
            </a:extLst>
          </p:cNvPr>
          <p:cNvSpPr/>
          <p:nvPr/>
        </p:nvSpPr>
        <p:spPr>
          <a:xfrm>
            <a:off x="695095" y="1745844"/>
            <a:ext cx="5577840" cy="1843176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E08646-A779-6BD4-B6F3-EEAB32E9671F}"/>
              </a:ext>
            </a:extLst>
          </p:cNvPr>
          <p:cNvSpPr txBox="1"/>
          <p:nvPr/>
        </p:nvSpPr>
        <p:spPr>
          <a:xfrm>
            <a:off x="826877" y="2749262"/>
            <a:ext cx="5314275" cy="6797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16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</a:rPr>
              <a:t>共性十九：描写性形容词后置时，少数形容词常常前置；</a:t>
            </a:r>
            <a:endParaRPr lang="en-US" altLang="zh-CN" sz="1600" dirty="0">
              <a:solidFill>
                <a:srgbClr val="CADCFC"/>
              </a:solidFill>
              <a:latin typeface="Microsoft YaHei" pitchFamily="34" charset="0"/>
              <a:ea typeface="Microsoft YaHei" pitchFamily="34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16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</a:rPr>
              <a:t>描写性形容词前置时，则不存在例外</a:t>
            </a:r>
            <a:endParaRPr lang="en-US" sz="1600" dirty="0">
              <a:solidFill>
                <a:srgbClr val="CADCFC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928A9A27-9A1D-EB80-8B99-82AAD2A8C28E}"/>
              </a:ext>
            </a:extLst>
          </p:cNvPr>
          <p:cNvSpPr txBox="1"/>
          <p:nvPr/>
        </p:nvSpPr>
        <p:spPr>
          <a:xfrm>
            <a:off x="1066800" y="2143403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名词</a:t>
            </a:r>
            <a:r>
              <a:rPr lang="zh-CN" alt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altLang="zh-CN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</a:t>
            </a:r>
            <a:r>
              <a:rPr lang="zh-CN" alt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形容词</a:t>
            </a: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⊃ </a:t>
            </a:r>
            <a:r>
              <a:rPr lang="zh-CN" alt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形容词 </a:t>
            </a:r>
            <a:r>
              <a:rPr lang="en-US" altLang="zh-CN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</a:t>
            </a:r>
            <a:r>
              <a:rPr lang="zh-CN" alt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名词</a:t>
            </a:r>
            <a:endParaRPr lang="en-US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E92B0E-2EF4-FB75-C6A5-5C615018EA67}"/>
              </a:ext>
            </a:extLst>
          </p:cNvPr>
          <p:cNvSpPr txBox="1"/>
          <p:nvPr/>
        </p:nvSpPr>
        <p:spPr>
          <a:xfrm>
            <a:off x="981307" y="4125951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土家语</a:t>
            </a:r>
            <a:r>
              <a:rPr lang="zh-CN" altLang="en-US" dirty="0"/>
              <a:t>：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801F588-C6B2-A87F-01AB-061A33DA81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9303" y="4085484"/>
            <a:ext cx="4224077" cy="81959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FCB5B7D-CDDF-BEDC-10C0-160123CE84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5214111"/>
            <a:ext cx="7772400" cy="79451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94F47AE-5DAD-5428-4B71-FB2B132EBC29}"/>
              </a:ext>
            </a:extLst>
          </p:cNvPr>
          <p:cNvSpPr txBox="1"/>
          <p:nvPr/>
        </p:nvSpPr>
        <p:spPr>
          <a:xfrm>
            <a:off x="6835698" y="4259766"/>
            <a:ext cx="13692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  <a:r>
              <a:rPr lang="en-US" altLang="zh-CN" dirty="0"/>
              <a:t>-Adj</a:t>
            </a:r>
            <a:r>
              <a:rPr lang="zh-CN" altLang="en-US" dirty="0"/>
              <a:t> </a:t>
            </a:r>
            <a:r>
              <a:rPr lang="en-US" altLang="zh-CN" dirty="0"/>
              <a:t>(</a:t>
            </a:r>
            <a:r>
              <a:rPr lang="zh-CN" altLang="en-US" dirty="0"/>
              <a:t>性质</a:t>
            </a:r>
            <a:r>
              <a:rPr lang="en-US" altLang="zh-CN" dirty="0"/>
              <a:t>)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A266A0-439B-2FA3-4B30-A1982749AAD4}"/>
              </a:ext>
            </a:extLst>
          </p:cNvPr>
          <p:cNvSpPr txBox="1"/>
          <p:nvPr/>
        </p:nvSpPr>
        <p:spPr>
          <a:xfrm>
            <a:off x="10288859" y="5295362"/>
            <a:ext cx="13692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Adj</a:t>
            </a:r>
            <a:r>
              <a:rPr lang="zh-CN" altLang="en-US" dirty="0"/>
              <a:t> </a:t>
            </a:r>
            <a:r>
              <a:rPr lang="en-US" altLang="zh-CN" dirty="0"/>
              <a:t>(</a:t>
            </a:r>
            <a:r>
              <a:rPr lang="zh-CN" altLang="en-US" dirty="0"/>
              <a:t>状态</a:t>
            </a:r>
            <a:r>
              <a:rPr lang="en-US" altLang="zh-CN" dirty="0"/>
              <a:t>)-N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EEFE9B0-7F71-8A17-27F1-4A36D3CD0504}"/>
              </a:ext>
            </a:extLst>
          </p:cNvPr>
          <p:cNvSpPr txBox="1"/>
          <p:nvPr/>
        </p:nvSpPr>
        <p:spPr>
          <a:xfrm>
            <a:off x="167300" y="4492017"/>
            <a:ext cx="20377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（田德生等</a:t>
            </a:r>
            <a:r>
              <a:rPr lang="en-US" altLang="zh-CN" dirty="0"/>
              <a:t>2009</a:t>
            </a:r>
            <a:r>
              <a:rPr lang="zh-CN" altLang="en-US" dirty="0"/>
              <a:t>）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D311A7A-DAC7-EA26-312B-573FB740AE1A}"/>
              </a:ext>
            </a:extLst>
          </p:cNvPr>
          <p:cNvSpPr txBox="1"/>
          <p:nvPr/>
        </p:nvSpPr>
        <p:spPr>
          <a:xfrm>
            <a:off x="7067559" y="589935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法语</a:t>
            </a:r>
            <a:r>
              <a:rPr lang="zh-CN" altLang="en-US" dirty="0"/>
              <a:t>：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6BEF2D1-EDEE-8454-F42B-EDB8275C97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6140" y="1045362"/>
            <a:ext cx="2933700" cy="3429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E450B88-7E73-6270-4B2A-0BAB06E1F8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5206" y="1384543"/>
            <a:ext cx="2451100" cy="3429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5EA69BF-EE7E-5627-6416-BAB65AC477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16140" y="1777594"/>
            <a:ext cx="1790700" cy="2794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D03D5317-7C00-AEAD-360A-91437C2F63EF}"/>
              </a:ext>
            </a:extLst>
          </p:cNvPr>
          <p:cNvSpPr txBox="1"/>
          <p:nvPr/>
        </p:nvSpPr>
        <p:spPr>
          <a:xfrm>
            <a:off x="10437542" y="1345176"/>
            <a:ext cx="713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Adj</a:t>
            </a:r>
            <a:r>
              <a:rPr lang="en-US" altLang="zh-CN" dirty="0"/>
              <a:t>-N</a:t>
            </a:r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915DBBB-53B4-A35D-AB69-4F54E475EF3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16140" y="2259809"/>
            <a:ext cx="2501900" cy="3048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C41593D-DF84-7268-5418-3A643197F48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16140" y="2594631"/>
            <a:ext cx="2184400" cy="2921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4A61611-1397-A66E-B510-E427A5286CC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16140" y="2873639"/>
            <a:ext cx="2527300" cy="31750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F54A37B8-4C3E-7A50-EFBF-C4FAE035B5AB}"/>
              </a:ext>
            </a:extLst>
          </p:cNvPr>
          <p:cNvSpPr txBox="1"/>
          <p:nvPr/>
        </p:nvSpPr>
        <p:spPr>
          <a:xfrm>
            <a:off x="10411543" y="2482766"/>
            <a:ext cx="713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N-Adj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73032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0D599C0B-0134-12D2-17A4-9389783FECF7}"/>
              </a:ext>
            </a:extLst>
          </p:cNvPr>
          <p:cNvSpPr txBox="1"/>
          <p:nvPr/>
        </p:nvSpPr>
        <p:spPr>
          <a:xfrm>
            <a:off x="548640" y="731520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形容词语序的灵活性</a:t>
            </a:r>
            <a:endParaRPr lang="en-US" sz="2800" dirty="0"/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CFA30AA5-EC11-D887-A86E-2C1CCDBCD947}"/>
              </a:ext>
            </a:extLst>
          </p:cNvPr>
          <p:cNvSpPr txBox="1"/>
          <p:nvPr/>
        </p:nvSpPr>
        <p:spPr>
          <a:xfrm>
            <a:off x="548640" y="129844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Universal </a:t>
            </a:r>
            <a:r>
              <a:rPr lang="en-US" altLang="zh-CN" sz="14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r>
              <a:rPr lang="zh-CN" altLang="en-US" sz="14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基本语序与形容词语序</a:t>
            </a:r>
            <a:endParaRPr lang="en-US" sz="1400" dirty="0"/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A8E354DE-FA6E-EF5E-24D7-19540379568D}"/>
              </a:ext>
            </a:extLst>
          </p:cNvPr>
          <p:cNvSpPr/>
          <p:nvPr/>
        </p:nvSpPr>
        <p:spPr>
          <a:xfrm>
            <a:off x="695095" y="1745844"/>
            <a:ext cx="5577840" cy="1843176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</p:spPr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DD25B402-70E1-A0F3-03CA-3B8A8B0404C8}"/>
              </a:ext>
            </a:extLst>
          </p:cNvPr>
          <p:cNvSpPr txBox="1"/>
          <p:nvPr/>
        </p:nvSpPr>
        <p:spPr>
          <a:xfrm>
            <a:off x="1066800" y="2143403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VSO 语序 ⊃ </a:t>
            </a:r>
            <a:r>
              <a:rPr lang="en-US" sz="2000" b="1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名词</a:t>
            </a:r>
            <a:r>
              <a:rPr lang="zh-CN" alt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altLang="zh-CN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</a:t>
            </a:r>
            <a:r>
              <a:rPr lang="zh-CN" alt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形容词</a:t>
            </a:r>
            <a:endParaRPr lang="en-US" sz="2000" dirty="0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E015E1B5-D77B-6482-2355-D2C5B776F3DD}"/>
              </a:ext>
            </a:extLst>
          </p:cNvPr>
          <p:cNvSpPr txBox="1"/>
          <p:nvPr/>
        </p:nvSpPr>
        <p:spPr>
          <a:xfrm>
            <a:off x="969415" y="2699494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5000"/>
              </a:lnSpc>
            </a:pPr>
            <a:r>
              <a:rPr lang="en-US" sz="1600" dirty="0" err="1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</a:rPr>
              <a:t>共性十七：</a:t>
            </a:r>
            <a:r>
              <a:rPr lang="en-US" sz="1600" dirty="0" err="1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VSO</a:t>
            </a:r>
            <a:r>
              <a:rPr lang="en-US" sz="16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600" dirty="0" err="1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语言中，形容词以压倒性频率位于名词之后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endParaRPr lang="en-US" sz="1600" dirty="0">
              <a:solidFill>
                <a:schemeClr val="accent5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A97FDA-1F46-E0E0-DCD4-2DED92F21C6A}"/>
              </a:ext>
            </a:extLst>
          </p:cNvPr>
          <p:cNvSpPr txBox="1"/>
          <p:nvPr/>
        </p:nvSpPr>
        <p:spPr>
          <a:xfrm>
            <a:off x="7049495" y="1294876"/>
            <a:ext cx="29016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Greenberg</a:t>
            </a:r>
            <a:r>
              <a:rPr lang="zh-CN" altLang="en-US" dirty="0"/>
              <a:t> </a:t>
            </a:r>
            <a:r>
              <a:rPr lang="en-US" altLang="zh-CN" dirty="0"/>
              <a:t>(1963</a:t>
            </a:r>
            <a:r>
              <a:rPr lang="zh-CN" altLang="en-US" dirty="0"/>
              <a:t>）：</a:t>
            </a:r>
            <a:r>
              <a:rPr lang="en-US" altLang="zh-CN" dirty="0"/>
              <a:t>Table</a:t>
            </a:r>
            <a:r>
              <a:rPr lang="zh-CN" altLang="en-US" dirty="0"/>
              <a:t> </a:t>
            </a:r>
            <a:r>
              <a:rPr lang="en-US" altLang="zh-CN" dirty="0"/>
              <a:t>5</a:t>
            </a:r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DE3298C-D5FC-DA5C-3A31-9D3FA78E44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2496042"/>
              </p:ext>
            </p:extLst>
          </p:nvPr>
        </p:nvGraphicFramePr>
        <p:xfrm>
          <a:off x="7160705" y="1861804"/>
          <a:ext cx="3546928" cy="1558833"/>
        </p:xfrm>
        <a:graphic>
          <a:graphicData uri="http://schemas.openxmlformats.org/drawingml/2006/table">
            <a:tbl>
              <a:tblPr/>
              <a:tblGrid>
                <a:gridCol w="886732">
                  <a:extLst>
                    <a:ext uri="{9D8B030D-6E8A-4147-A177-3AD203B41FA5}">
                      <a16:colId xmlns:a16="http://schemas.microsoft.com/office/drawing/2014/main" val="3499771427"/>
                    </a:ext>
                  </a:extLst>
                </a:gridCol>
                <a:gridCol w="886732">
                  <a:extLst>
                    <a:ext uri="{9D8B030D-6E8A-4147-A177-3AD203B41FA5}">
                      <a16:colId xmlns:a16="http://schemas.microsoft.com/office/drawing/2014/main" val="2425250849"/>
                    </a:ext>
                  </a:extLst>
                </a:gridCol>
                <a:gridCol w="886732">
                  <a:extLst>
                    <a:ext uri="{9D8B030D-6E8A-4147-A177-3AD203B41FA5}">
                      <a16:colId xmlns:a16="http://schemas.microsoft.com/office/drawing/2014/main" val="3135772520"/>
                    </a:ext>
                  </a:extLst>
                </a:gridCol>
                <a:gridCol w="886732">
                  <a:extLst>
                    <a:ext uri="{9D8B030D-6E8A-4147-A177-3AD203B41FA5}">
                      <a16:colId xmlns:a16="http://schemas.microsoft.com/office/drawing/2014/main" val="1893378186"/>
                    </a:ext>
                  </a:extLst>
                </a:gridCol>
              </a:tblGrid>
              <a:tr h="519611">
                <a:tc>
                  <a:txBody>
                    <a:bodyPr/>
                    <a:lstStyle/>
                    <a:p>
                      <a:endParaRPr lang="en-US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VSO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SVO</a:t>
                      </a:r>
                      <a:endParaRPr lang="en-US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SOV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8192253"/>
                  </a:ext>
                </a:extLst>
              </a:tr>
              <a:tr h="519611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N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-A</a:t>
                      </a:r>
                      <a:endParaRPr lang="en-US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</a:rPr>
                        <a:t>6</a:t>
                      </a:r>
                      <a:endParaRPr lang="en-US" dirty="0">
                        <a:solidFill>
                          <a:srgbClr val="FF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effectLst/>
                          <a:latin typeface="Helvetica" pitchFamily="2" charset="0"/>
                        </a:rPr>
                        <a:t>8</a:t>
                      </a:r>
                      <a:endParaRPr lang="en-US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effectLst/>
                          <a:latin typeface="Helvetica" pitchFamily="2" charset="0"/>
                        </a:rPr>
                        <a:t>5</a:t>
                      </a:r>
                      <a:endParaRPr lang="en-US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3638384"/>
                  </a:ext>
                </a:extLst>
              </a:tr>
              <a:tr h="519611">
                <a:tc>
                  <a:txBody>
                    <a:bodyPr/>
                    <a:lstStyle/>
                    <a:p>
                      <a:r>
                        <a:rPr lang="en-US" altLang="zh-CN" dirty="0">
                          <a:effectLst/>
                          <a:latin typeface="Helvetica" pitchFamily="2" charset="0"/>
                        </a:rPr>
                        <a:t>A-N</a:t>
                      </a:r>
                      <a:endParaRPr lang="en-US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effectLst/>
                          <a:latin typeface="Helvetica" pitchFamily="2" charset="0"/>
                        </a:rPr>
                        <a:t>0</a:t>
                      </a:r>
                      <a:endParaRPr lang="en-US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5</a:t>
                      </a:r>
                      <a:endParaRPr lang="en-US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effectLst/>
                          <a:latin typeface="Helvetica" pitchFamily="2" charset="0"/>
                        </a:rPr>
                        <a:t>6</a:t>
                      </a:r>
                      <a:endParaRPr lang="en-US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302637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AEB0066A-E7C2-FD50-51AB-DE58BCB5880B}"/>
              </a:ext>
            </a:extLst>
          </p:cNvPr>
          <p:cNvSpPr txBox="1"/>
          <p:nvPr/>
        </p:nvSpPr>
        <p:spPr>
          <a:xfrm>
            <a:off x="926757" y="4226011"/>
            <a:ext cx="7785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WALS: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D0CEAC1-41D2-2819-1639-495E19D989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716788"/>
              </p:ext>
            </p:extLst>
          </p:nvPr>
        </p:nvGraphicFramePr>
        <p:xfrm>
          <a:off x="2073839" y="4258595"/>
          <a:ext cx="4975655" cy="1558833"/>
        </p:xfrm>
        <a:graphic>
          <a:graphicData uri="http://schemas.openxmlformats.org/drawingml/2006/table">
            <a:tbl>
              <a:tblPr/>
              <a:tblGrid>
                <a:gridCol w="995131">
                  <a:extLst>
                    <a:ext uri="{9D8B030D-6E8A-4147-A177-3AD203B41FA5}">
                      <a16:colId xmlns:a16="http://schemas.microsoft.com/office/drawing/2014/main" val="3499771427"/>
                    </a:ext>
                  </a:extLst>
                </a:gridCol>
                <a:gridCol w="995131">
                  <a:extLst>
                    <a:ext uri="{9D8B030D-6E8A-4147-A177-3AD203B41FA5}">
                      <a16:colId xmlns:a16="http://schemas.microsoft.com/office/drawing/2014/main" val="2425250849"/>
                    </a:ext>
                  </a:extLst>
                </a:gridCol>
                <a:gridCol w="995131">
                  <a:extLst>
                    <a:ext uri="{9D8B030D-6E8A-4147-A177-3AD203B41FA5}">
                      <a16:colId xmlns:a16="http://schemas.microsoft.com/office/drawing/2014/main" val="3135772520"/>
                    </a:ext>
                  </a:extLst>
                </a:gridCol>
                <a:gridCol w="995131">
                  <a:extLst>
                    <a:ext uri="{9D8B030D-6E8A-4147-A177-3AD203B41FA5}">
                      <a16:colId xmlns:a16="http://schemas.microsoft.com/office/drawing/2014/main" val="1893378186"/>
                    </a:ext>
                  </a:extLst>
                </a:gridCol>
                <a:gridCol w="995131">
                  <a:extLst>
                    <a:ext uri="{9D8B030D-6E8A-4147-A177-3AD203B41FA5}">
                      <a16:colId xmlns:a16="http://schemas.microsoft.com/office/drawing/2014/main" val="2604237639"/>
                    </a:ext>
                  </a:extLst>
                </a:gridCol>
              </a:tblGrid>
              <a:tr h="519611">
                <a:tc>
                  <a:txBody>
                    <a:bodyPr/>
                    <a:lstStyle/>
                    <a:p>
                      <a:endParaRPr lang="en-US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VSO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SVO</a:t>
                      </a:r>
                      <a:endParaRPr lang="en-US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SOV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合计</a:t>
                      </a:r>
                      <a:endParaRPr lang="en-US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8192253"/>
                  </a:ext>
                </a:extLst>
              </a:tr>
              <a:tr h="519611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N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-A</a:t>
                      </a:r>
                      <a:endParaRPr lang="en-US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</a:rPr>
                        <a:t>61</a:t>
                      </a:r>
                      <a:endParaRPr lang="en-US" dirty="0">
                        <a:solidFill>
                          <a:srgbClr val="FF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effectLst/>
                          <a:latin typeface="Helvetica" pitchFamily="2" charset="0"/>
                        </a:rPr>
                        <a:t>346</a:t>
                      </a:r>
                      <a:endParaRPr lang="en-US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effectLst/>
                          <a:latin typeface="Helvetica" pitchFamily="2" charset="0"/>
                        </a:rPr>
                        <a:t>268</a:t>
                      </a:r>
                      <a:endParaRPr lang="en-US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effectLst/>
                          <a:latin typeface="Helvetica" pitchFamily="2" charset="0"/>
                        </a:rPr>
                        <a:t>675</a:t>
                      </a:r>
                      <a:endParaRPr lang="en-US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3638384"/>
                  </a:ext>
                </a:extLst>
              </a:tr>
              <a:tr h="519611">
                <a:tc>
                  <a:txBody>
                    <a:bodyPr/>
                    <a:lstStyle/>
                    <a:p>
                      <a:r>
                        <a:rPr lang="en-US" altLang="zh-CN" dirty="0">
                          <a:effectLst/>
                          <a:latin typeface="Helvetica" pitchFamily="2" charset="0"/>
                        </a:rPr>
                        <a:t>A-N</a:t>
                      </a:r>
                      <a:endParaRPr lang="en-US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effectLst/>
                          <a:latin typeface="Helvetica" pitchFamily="2" charset="0"/>
                        </a:rPr>
                        <a:t>20</a:t>
                      </a:r>
                      <a:endParaRPr lang="en-US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66</a:t>
                      </a:r>
                      <a:endParaRPr lang="en-US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effectLst/>
                          <a:latin typeface="Helvetica" pitchFamily="2" charset="0"/>
                        </a:rPr>
                        <a:t>182</a:t>
                      </a:r>
                      <a:endParaRPr lang="en-US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effectLst/>
                          <a:latin typeface="Helvetica" pitchFamily="2" charset="0"/>
                        </a:rPr>
                        <a:t>268</a:t>
                      </a:r>
                      <a:endParaRPr lang="en-US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3026373"/>
                  </a:ext>
                </a:extLst>
              </a:tr>
            </a:tbl>
          </a:graphicData>
        </a:graphic>
      </p:graphicFrame>
      <p:sp>
        <p:nvSpPr>
          <p:cNvPr id="11" name="Oval 10">
            <a:extLst>
              <a:ext uri="{FF2B5EF4-FFF2-40B4-BE49-F238E27FC236}">
                <a16:creationId xmlns:a16="http://schemas.microsoft.com/office/drawing/2014/main" id="{65328B79-235F-16EE-071F-8A74CFE88E54}"/>
              </a:ext>
            </a:extLst>
          </p:cNvPr>
          <p:cNvSpPr/>
          <p:nvPr/>
        </p:nvSpPr>
        <p:spPr>
          <a:xfrm>
            <a:off x="2821975" y="5293881"/>
            <a:ext cx="877329" cy="531341"/>
          </a:xfrm>
          <a:prstGeom prst="ellipse">
            <a:avLst/>
          </a:prstGeom>
          <a:noFill/>
          <a:ln w="285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Line Callout 1 (Accent Bar) 11">
            <a:extLst>
              <a:ext uri="{FF2B5EF4-FFF2-40B4-BE49-F238E27FC236}">
                <a16:creationId xmlns:a16="http://schemas.microsoft.com/office/drawing/2014/main" id="{AD06668A-842E-2E1D-09CD-0B227EB228EB}"/>
              </a:ext>
            </a:extLst>
          </p:cNvPr>
          <p:cNvSpPr/>
          <p:nvPr/>
        </p:nvSpPr>
        <p:spPr>
          <a:xfrm>
            <a:off x="8500309" y="4226011"/>
            <a:ext cx="2680698" cy="1088469"/>
          </a:xfrm>
          <a:prstGeom prst="accentCallout1">
            <a:avLst>
              <a:gd name="adj1" fmla="val 72980"/>
              <a:gd name="adj2" fmla="val -3000"/>
              <a:gd name="adj3" fmla="val 123011"/>
              <a:gd name="adj4" fmla="val -17833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A-</a:t>
            </a:r>
            <a:r>
              <a:rPr lang="en-US" dirty="0" err="1"/>
              <a:t>N的比例远高于Greenberg的预测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04106C9-A885-F5DC-D7FA-569B1401DFD3}"/>
              </a:ext>
            </a:extLst>
          </p:cNvPr>
          <p:cNvSpPr txBox="1"/>
          <p:nvPr/>
        </p:nvSpPr>
        <p:spPr>
          <a:xfrm>
            <a:off x="6826518" y="6016501"/>
            <a:ext cx="49874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Dryer</a:t>
            </a:r>
            <a:r>
              <a:rPr lang="zh-CN" altLang="en-US" dirty="0"/>
              <a:t> </a:t>
            </a:r>
            <a:r>
              <a:rPr lang="en-US" altLang="zh-CN" dirty="0"/>
              <a:t>(1992)</a:t>
            </a:r>
            <a:r>
              <a:rPr lang="zh-CN" altLang="en-US" dirty="0"/>
              <a:t>的统计表明，</a:t>
            </a:r>
            <a:r>
              <a:rPr lang="en-US" altLang="zh-CN" dirty="0"/>
              <a:t>VSO</a:t>
            </a:r>
            <a:r>
              <a:rPr lang="zh-CN" altLang="en-US" dirty="0"/>
              <a:t>本身和形容词位置</a:t>
            </a:r>
            <a:endParaRPr lang="en-US" altLang="zh-CN" dirty="0"/>
          </a:p>
          <a:p>
            <a:r>
              <a:rPr lang="zh-CN" altLang="en-US" dirty="0"/>
              <a:t>无强相关，</a:t>
            </a:r>
            <a:r>
              <a:rPr lang="en-US" altLang="zh-CN" dirty="0"/>
              <a:t>VO</a:t>
            </a:r>
            <a:r>
              <a:rPr lang="zh-CN" altLang="en-US" dirty="0"/>
              <a:t>这个大类都倾向于形容词后置</a:t>
            </a:r>
            <a:endParaRPr lang="en-US" dirty="0"/>
          </a:p>
        </p:txBody>
      </p:sp>
      <p:sp>
        <p:nvSpPr>
          <p:cNvPr id="14" name="Text 0">
            <a:extLst>
              <a:ext uri="{FF2B5EF4-FFF2-40B4-BE49-F238E27FC236}">
                <a16:creationId xmlns:a16="http://schemas.microsoft.com/office/drawing/2014/main" id="{46F7F055-A5EA-01A9-9A1C-6D228142BD5E}"/>
              </a:ext>
            </a:extLst>
          </p:cNvPr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9A24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</a:t>
            </a:r>
            <a:r>
              <a:rPr lang="en-US" altLang="zh-CN" sz="1200" b="1" kern="0" spc="150" dirty="0">
                <a:solidFill>
                  <a:srgbClr val="C9A24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</a:t>
            </a:r>
            <a:r>
              <a:rPr lang="zh-CN" altLang="en-US" sz="1200" b="1" kern="0" spc="150" dirty="0">
                <a:solidFill>
                  <a:srgbClr val="C9A24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共性三</a:t>
            </a:r>
            <a:r>
              <a:rPr lang="en-US" sz="1200" b="1" kern="0" spc="150" dirty="0">
                <a:solidFill>
                  <a:srgbClr val="C9A24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 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643796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 animBg="1"/>
      <p:bldP spid="12" grpId="0" animBg="1"/>
      <p:bldP spid="13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731520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形容词语序的灵活性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Universal 5</a:t>
            </a:r>
            <a:r>
              <a:rPr lang="zh-CN" altLang="en-US" sz="14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从</a:t>
            </a:r>
            <a:r>
              <a:rPr lang="en-US" altLang="zh-CN" sz="14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SOV</a:t>
            </a:r>
            <a:r>
              <a:rPr lang="zh-CN" altLang="en-US" sz="14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到形容词语序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0515600" cy="100584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965960"/>
            <a:ext cx="9784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若一种语言以 SOV </a:t>
            </a:r>
            <a:r>
              <a:rPr lang="en-US" sz="1550" b="1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为主导语序，且领属语位于中心名词之后，则形容词也倾向于位于名词之后</a:t>
            </a:r>
            <a:r>
              <a:rPr lang="en-US" sz="1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1463040" y="3520440"/>
            <a:ext cx="2560320" cy="658368"/>
          </a:xfrm>
          <a:prstGeom prst="roundRect">
            <a:avLst>
              <a:gd name="adj" fmla="val 50000"/>
            </a:avLst>
          </a:prstGeom>
          <a:solidFill>
            <a:srgbClr val="C9A24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463040" y="352044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B4A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SOV 语序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078224" y="3703320"/>
            <a:ext cx="393192" cy="292608"/>
          </a:xfrm>
          <a:prstGeom prst="rightArrow">
            <a:avLst/>
          </a:prstGeom>
          <a:solidFill>
            <a:srgbClr val="C9A24B"/>
          </a:solidFill>
          <a:ln/>
        </p:spPr>
      </p:sp>
      <p:sp>
        <p:nvSpPr>
          <p:cNvPr id="10" name="Shape 8"/>
          <p:cNvSpPr/>
          <p:nvPr/>
        </p:nvSpPr>
        <p:spPr>
          <a:xfrm>
            <a:off x="4526280" y="3520440"/>
            <a:ext cx="2560320" cy="658368"/>
          </a:xfrm>
          <a:prstGeom prst="roundRect">
            <a:avLst>
              <a:gd name="adj" fmla="val 50000"/>
            </a:avLst>
          </a:prstGeom>
          <a:solidFill>
            <a:srgbClr val="C9A24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26280" y="352044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5B4A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领属语居于名词后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141464" y="3703320"/>
            <a:ext cx="393192" cy="292608"/>
          </a:xfrm>
          <a:prstGeom prst="rightArrow">
            <a:avLst/>
          </a:prstGeom>
          <a:solidFill>
            <a:srgbClr val="C9A24B"/>
          </a:solidFill>
          <a:ln/>
        </p:spPr>
      </p:sp>
      <p:sp>
        <p:nvSpPr>
          <p:cNvPr id="13" name="Shape 11"/>
          <p:cNvSpPr/>
          <p:nvPr/>
        </p:nvSpPr>
        <p:spPr>
          <a:xfrm>
            <a:off x="7589520" y="3520440"/>
            <a:ext cx="2560320" cy="65836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589520" y="3500959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形容词居后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676400" y="4352544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这是格林伯格“蕴含共性”的典型形式：语序类型 A 与另一构式特征 B 共现，即可预测第三项特征 C。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E3E6EE"/>
            </a:solidFill>
            <a:prstDash val="solid"/>
          </a:ln>
        </p:spPr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F4886F1-427A-4DC9-F462-6C629D930170}"/>
              </a:ext>
            </a:extLst>
          </p:cNvPr>
          <p:cNvSpPr txBox="1"/>
          <p:nvPr/>
        </p:nvSpPr>
        <p:spPr>
          <a:xfrm>
            <a:off x="1393917" y="5344436"/>
            <a:ext cx="88649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002060"/>
                </a:solidFill>
                <a:latin typeface="PingFang HK" panose="020B0400000000000000" pitchFamily="34" charset="-120"/>
                <a:ea typeface="PingFang HK" panose="020B0400000000000000" pitchFamily="34" charset="-120"/>
              </a:rPr>
              <a:t>领属语的语序比形容词更稳定</a:t>
            </a:r>
            <a:r>
              <a:rPr lang="zh-CN" altLang="en-US" dirty="0">
                <a:solidFill>
                  <a:srgbClr val="002060"/>
                </a:solidFill>
                <a:latin typeface="PingFang HK" panose="020B0400000000000000" pitchFamily="34" charset="-120"/>
                <a:ea typeface="PingFang HK" panose="020B0400000000000000" pitchFamily="34" charset="-120"/>
              </a:rPr>
              <a:t>，</a:t>
            </a:r>
            <a:r>
              <a:rPr lang="en-US" dirty="0" err="1">
                <a:solidFill>
                  <a:srgbClr val="002060"/>
                </a:solidFill>
                <a:latin typeface="PingFang HK" panose="020B0400000000000000" pitchFamily="34" charset="-120"/>
                <a:ea typeface="PingFang HK" panose="020B0400000000000000" pitchFamily="34" charset="-120"/>
              </a:rPr>
              <a:t>SOV型语言的领属语语序应该是</a:t>
            </a:r>
            <a:r>
              <a:rPr lang="en-US" b="1" dirty="0" err="1">
                <a:solidFill>
                  <a:srgbClr val="002060"/>
                </a:solidFill>
                <a:latin typeface="PingFang HK" panose="020B0400000000000000" pitchFamily="34" charset="-120"/>
                <a:ea typeface="PingFang HK" panose="020B0400000000000000" pitchFamily="34" charset="-120"/>
              </a:rPr>
              <a:t>领属语</a:t>
            </a:r>
            <a:r>
              <a:rPr lang="en-US" altLang="zh-CN" b="1" dirty="0">
                <a:solidFill>
                  <a:srgbClr val="002060"/>
                </a:solidFill>
                <a:latin typeface="PingFang HK" panose="020B0400000000000000" pitchFamily="34" charset="-120"/>
                <a:ea typeface="PingFang HK" panose="020B0400000000000000" pitchFamily="34" charset="-120"/>
              </a:rPr>
              <a:t>-</a:t>
            </a:r>
            <a:r>
              <a:rPr lang="zh-CN" altLang="en-US" b="1" dirty="0">
                <a:solidFill>
                  <a:srgbClr val="002060"/>
                </a:solidFill>
                <a:latin typeface="PingFang HK" panose="020B0400000000000000" pitchFamily="34" charset="-120"/>
                <a:ea typeface="PingFang HK" panose="020B0400000000000000" pitchFamily="34" charset="-120"/>
              </a:rPr>
              <a:t>名词</a:t>
            </a:r>
            <a:r>
              <a:rPr lang="zh-CN" altLang="en-US" dirty="0">
                <a:solidFill>
                  <a:srgbClr val="002060"/>
                </a:solidFill>
                <a:latin typeface="PingFang HK" panose="020B0400000000000000" pitchFamily="34" charset="-120"/>
                <a:ea typeface="PingFang HK" panose="020B0400000000000000" pitchFamily="34" charset="-120"/>
              </a:rPr>
              <a:t>，</a:t>
            </a:r>
            <a:endParaRPr lang="en-US" altLang="zh-CN" dirty="0">
              <a:solidFill>
                <a:srgbClr val="002060"/>
              </a:solidFill>
              <a:latin typeface="PingFang HK" panose="020B0400000000000000" pitchFamily="34" charset="-120"/>
              <a:ea typeface="PingFang HK" panose="020B0400000000000000" pitchFamily="34" charset="-120"/>
            </a:endParaRPr>
          </a:p>
          <a:p>
            <a:r>
              <a:rPr lang="zh-CN" altLang="en-US" dirty="0">
                <a:solidFill>
                  <a:srgbClr val="002060"/>
                </a:solidFill>
                <a:latin typeface="PingFang HK" panose="020B0400000000000000" pitchFamily="34" charset="-120"/>
                <a:ea typeface="PingFang HK" panose="020B0400000000000000" pitchFamily="34" charset="-120"/>
              </a:rPr>
              <a:t>但如果出现了反常的</a:t>
            </a:r>
            <a:r>
              <a:rPr lang="zh-CN" altLang="en-US" b="1" dirty="0">
                <a:solidFill>
                  <a:srgbClr val="002060"/>
                </a:solidFill>
                <a:latin typeface="PingFang HK" panose="020B0400000000000000" pitchFamily="34" charset="-120"/>
                <a:ea typeface="PingFang HK" panose="020B0400000000000000" pitchFamily="34" charset="-120"/>
              </a:rPr>
              <a:t>名词</a:t>
            </a:r>
            <a:r>
              <a:rPr lang="en-US" altLang="zh-CN" b="1" dirty="0">
                <a:solidFill>
                  <a:srgbClr val="002060"/>
                </a:solidFill>
                <a:latin typeface="PingFang HK" panose="020B0400000000000000" pitchFamily="34" charset="-120"/>
                <a:ea typeface="PingFang HK" panose="020B0400000000000000" pitchFamily="34" charset="-120"/>
              </a:rPr>
              <a:t>-</a:t>
            </a:r>
            <a:r>
              <a:rPr lang="zh-CN" altLang="en-US" b="1" dirty="0">
                <a:solidFill>
                  <a:srgbClr val="002060"/>
                </a:solidFill>
                <a:latin typeface="PingFang HK" panose="020B0400000000000000" pitchFamily="34" charset="-120"/>
                <a:ea typeface="PingFang HK" panose="020B0400000000000000" pitchFamily="34" charset="-120"/>
              </a:rPr>
              <a:t>领属语</a:t>
            </a:r>
            <a:r>
              <a:rPr lang="zh-CN" altLang="en-US" dirty="0">
                <a:solidFill>
                  <a:srgbClr val="002060"/>
                </a:solidFill>
                <a:latin typeface="PingFang HK" panose="020B0400000000000000" pitchFamily="34" charset="-120"/>
                <a:ea typeface="PingFang HK" panose="020B0400000000000000" pitchFamily="34" charset="-120"/>
              </a:rPr>
              <a:t>语序，则语序更灵活的形容词也要与领属语保持一致</a:t>
            </a:r>
            <a:endParaRPr lang="en-US" dirty="0">
              <a:solidFill>
                <a:srgbClr val="002060"/>
              </a:solidFill>
              <a:latin typeface="PingFang HK" panose="020B0400000000000000" pitchFamily="34" charset="-120"/>
              <a:ea typeface="PingFang HK" panose="020B0400000000000000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DB3F820D-21CD-37B1-934F-9FCA61DE55DA}"/>
              </a:ext>
            </a:extLst>
          </p:cNvPr>
          <p:cNvSpPr txBox="1"/>
          <p:nvPr/>
        </p:nvSpPr>
        <p:spPr>
          <a:xfrm>
            <a:off x="548640" y="731520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形容词语序的灵活性</a:t>
            </a:r>
            <a:endParaRPr lang="en-US" sz="2800" dirty="0"/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1D67A68C-49E9-E20E-E6F2-DCB5231A9EBC}"/>
              </a:ext>
            </a:extLst>
          </p:cNvPr>
          <p:cNvSpPr/>
          <p:nvPr/>
        </p:nvSpPr>
        <p:spPr>
          <a:xfrm>
            <a:off x="437429" y="1565848"/>
            <a:ext cx="3726797" cy="1121746"/>
          </a:xfrm>
          <a:prstGeom prst="roundRect">
            <a:avLst>
              <a:gd name="adj" fmla="val 50000"/>
            </a:avLst>
          </a:prstGeom>
          <a:solidFill>
            <a:srgbClr val="C9A24B"/>
          </a:solidFill>
          <a:ln/>
        </p:spPr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BD256A0B-A5DD-65F3-99D2-87AE93B0550A}"/>
              </a:ext>
            </a:extLst>
          </p:cNvPr>
          <p:cNvSpPr txBox="1"/>
          <p:nvPr/>
        </p:nvSpPr>
        <p:spPr>
          <a:xfrm>
            <a:off x="900806" y="1504063"/>
            <a:ext cx="2800042" cy="1245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 err="1">
                <a:solidFill>
                  <a:srgbClr val="5B4A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形容词</a:t>
            </a:r>
            <a:r>
              <a:rPr lang="en-US" altLang="zh-CN" b="1" dirty="0">
                <a:solidFill>
                  <a:srgbClr val="5B4A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</a:t>
            </a:r>
            <a:r>
              <a:rPr lang="zh-CN" altLang="en-US" b="1" dirty="0">
                <a:solidFill>
                  <a:srgbClr val="5B4A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名词的</a:t>
            </a:r>
            <a:r>
              <a:rPr lang="en-US" b="1" dirty="0" err="1">
                <a:solidFill>
                  <a:srgbClr val="5B4A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语序与OV</a:t>
            </a:r>
            <a:r>
              <a:rPr lang="en-US" altLang="zh-CN" b="1" dirty="0">
                <a:solidFill>
                  <a:srgbClr val="5B4A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/VO</a:t>
            </a:r>
            <a:r>
              <a:rPr lang="zh-CN" altLang="en-US" b="1" dirty="0">
                <a:solidFill>
                  <a:srgbClr val="5B4A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基本语序是否相关？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3EF2DA8-C16A-69D0-0DC4-7A11786CB2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4225" y="2126720"/>
            <a:ext cx="7736302" cy="155559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38F435-AA57-CDED-89BC-EE5B9E20100F}"/>
              </a:ext>
            </a:extLst>
          </p:cNvPr>
          <p:cNvSpPr txBox="1"/>
          <p:nvPr/>
        </p:nvSpPr>
        <p:spPr>
          <a:xfrm>
            <a:off x="4473146" y="1674654"/>
            <a:ext cx="6249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Dryer</a:t>
            </a:r>
            <a:r>
              <a:rPr lang="zh-CN" altLang="en-US" dirty="0"/>
              <a:t> </a:t>
            </a:r>
            <a:r>
              <a:rPr lang="en-US" altLang="zh-CN" dirty="0"/>
              <a:t>(1992)</a:t>
            </a:r>
            <a:r>
              <a:rPr lang="zh-CN" altLang="en-US" dirty="0"/>
              <a:t> 显示：</a:t>
            </a:r>
            <a:r>
              <a:rPr lang="en-US" altLang="zh-CN" dirty="0"/>
              <a:t>OV/VO</a:t>
            </a:r>
            <a:r>
              <a:rPr lang="zh-CN" altLang="en-US" dirty="0"/>
              <a:t>显然无法预测形容词和名词的语序</a:t>
            </a:r>
            <a:endParaRPr lang="en-US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329CA10C-962B-5990-4AB5-2B15E14B0BB1}"/>
              </a:ext>
            </a:extLst>
          </p:cNvPr>
          <p:cNvSpPr/>
          <p:nvPr/>
        </p:nvSpPr>
        <p:spPr>
          <a:xfrm>
            <a:off x="437428" y="4510586"/>
            <a:ext cx="3726797" cy="1121746"/>
          </a:xfrm>
          <a:prstGeom prst="roundRect">
            <a:avLst>
              <a:gd name="adj" fmla="val 50000"/>
            </a:avLst>
          </a:prstGeom>
          <a:solidFill>
            <a:srgbClr val="C9A24B"/>
          </a:solidFill>
          <a:ln/>
        </p:spPr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1C2F224A-99E6-1293-716D-F89BC098D775}"/>
              </a:ext>
            </a:extLst>
          </p:cNvPr>
          <p:cNvSpPr txBox="1"/>
          <p:nvPr/>
        </p:nvSpPr>
        <p:spPr>
          <a:xfrm>
            <a:off x="999660" y="4448801"/>
            <a:ext cx="2800042" cy="1245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 err="1">
                <a:solidFill>
                  <a:srgbClr val="5B4A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形容词</a:t>
            </a:r>
            <a:r>
              <a:rPr lang="en-US" altLang="zh-CN" b="1" dirty="0">
                <a:solidFill>
                  <a:srgbClr val="5B4A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</a:t>
            </a:r>
            <a:r>
              <a:rPr lang="zh-CN" altLang="en-US" b="1" dirty="0">
                <a:solidFill>
                  <a:srgbClr val="5B4A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名词的</a:t>
            </a:r>
            <a:r>
              <a:rPr lang="en-US" b="1" dirty="0" err="1">
                <a:solidFill>
                  <a:srgbClr val="5B4A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语序与领属语</a:t>
            </a:r>
            <a:r>
              <a:rPr lang="en-US" altLang="zh-CN" b="1" dirty="0">
                <a:solidFill>
                  <a:srgbClr val="5B4A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</a:t>
            </a:r>
            <a:r>
              <a:rPr lang="zh-CN" altLang="en-US" b="1" dirty="0">
                <a:solidFill>
                  <a:srgbClr val="5B4A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名词语序是否相关？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5469E5-8634-E98E-5850-85A7E9C3AC2F}"/>
              </a:ext>
            </a:extLst>
          </p:cNvPr>
          <p:cNvSpPr txBox="1"/>
          <p:nvPr/>
        </p:nvSpPr>
        <p:spPr>
          <a:xfrm>
            <a:off x="4621427" y="4151870"/>
            <a:ext cx="7785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WALS:</a:t>
            </a:r>
            <a:endParaRPr lang="en-US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953DF5CB-523D-0169-B369-C4CC737C22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0289958"/>
              </p:ext>
            </p:extLst>
          </p:nvPr>
        </p:nvGraphicFramePr>
        <p:xfrm>
          <a:off x="5766448" y="4176952"/>
          <a:ext cx="4383392" cy="1840788"/>
        </p:xfrm>
        <a:graphic>
          <a:graphicData uri="http://schemas.openxmlformats.org/drawingml/2006/table">
            <a:tbl>
              <a:tblPr/>
              <a:tblGrid>
                <a:gridCol w="1047986">
                  <a:extLst>
                    <a:ext uri="{9D8B030D-6E8A-4147-A177-3AD203B41FA5}">
                      <a16:colId xmlns:a16="http://schemas.microsoft.com/office/drawing/2014/main" val="2857927885"/>
                    </a:ext>
                  </a:extLst>
                </a:gridCol>
                <a:gridCol w="1223640">
                  <a:extLst>
                    <a:ext uri="{9D8B030D-6E8A-4147-A177-3AD203B41FA5}">
                      <a16:colId xmlns:a16="http://schemas.microsoft.com/office/drawing/2014/main" val="1901871530"/>
                    </a:ext>
                  </a:extLst>
                </a:gridCol>
                <a:gridCol w="1055883">
                  <a:extLst>
                    <a:ext uri="{9D8B030D-6E8A-4147-A177-3AD203B41FA5}">
                      <a16:colId xmlns:a16="http://schemas.microsoft.com/office/drawing/2014/main" val="1409349356"/>
                    </a:ext>
                  </a:extLst>
                </a:gridCol>
                <a:gridCol w="1055883">
                  <a:extLst>
                    <a:ext uri="{9D8B030D-6E8A-4147-A177-3AD203B41FA5}">
                      <a16:colId xmlns:a16="http://schemas.microsoft.com/office/drawing/2014/main" val="3292387492"/>
                    </a:ext>
                  </a:extLst>
                </a:gridCol>
              </a:tblGrid>
              <a:tr h="460197">
                <a:tc>
                  <a:txBody>
                    <a:bodyPr/>
                    <a:lstStyle/>
                    <a:p>
                      <a:endParaRPr lang="en-US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Gen-N</a:t>
                      </a:r>
                      <a:endParaRPr lang="en-US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</a:rPr>
                        <a:t>N-Gen</a:t>
                      </a:r>
                      <a:endParaRPr lang="en-US" dirty="0">
                        <a:solidFill>
                          <a:srgbClr val="FF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合计</a:t>
                      </a:r>
                      <a:endParaRPr lang="en-US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8192253"/>
                  </a:ext>
                </a:extLst>
              </a:tr>
              <a:tr h="460197">
                <a:tc>
                  <a:txBody>
                    <a:bodyPr/>
                    <a:lstStyle/>
                    <a:p>
                      <a:r>
                        <a:rPr lang="en-US" altLang="zh-CN" dirty="0">
                          <a:effectLst/>
                          <a:latin typeface="Helvetica" pitchFamily="2" charset="0"/>
                        </a:rPr>
                        <a:t>Adj-N</a:t>
                      </a:r>
                      <a:endParaRPr lang="en-US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</a:rPr>
                        <a:t>232</a:t>
                      </a:r>
                      <a:endParaRPr lang="en-US" dirty="0">
                        <a:solidFill>
                          <a:srgbClr val="FF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effectLst/>
                          <a:latin typeface="Helvetica" pitchFamily="2" charset="0"/>
                        </a:rPr>
                        <a:t>65</a:t>
                      </a:r>
                      <a:endParaRPr lang="en-US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effectLst/>
                          <a:latin typeface="Helvetica" pitchFamily="2" charset="0"/>
                        </a:rPr>
                        <a:t>297</a:t>
                      </a:r>
                      <a:endParaRPr lang="en-US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3638384"/>
                  </a:ext>
                </a:extLst>
              </a:tr>
              <a:tr h="460197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</a:rPr>
                        <a:t>N-Adj</a:t>
                      </a:r>
                      <a:endParaRPr lang="en-US" dirty="0">
                        <a:solidFill>
                          <a:srgbClr val="FF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Helvetica" pitchFamily="2" charset="0"/>
                        </a:rPr>
                        <a:t>342</a:t>
                      </a:r>
                      <a:endParaRPr 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</a:rPr>
                        <a:t>342</a:t>
                      </a:r>
                      <a:endParaRPr lang="en-US" dirty="0">
                        <a:solidFill>
                          <a:srgbClr val="FF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effectLst/>
                          <a:latin typeface="Helvetica" pitchFamily="2" charset="0"/>
                        </a:rPr>
                        <a:t>684</a:t>
                      </a:r>
                      <a:endParaRPr lang="en-US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5588170"/>
                  </a:ext>
                </a:extLst>
              </a:tr>
              <a:tr h="460197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  <a:latin typeface="Helvetica" pitchFamily="2" charset="0"/>
                        </a:rPr>
                        <a:t>both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effectLst/>
                          <a:latin typeface="Helvetica" pitchFamily="2" charset="0"/>
                        </a:rPr>
                        <a:t>38</a:t>
                      </a:r>
                      <a:endParaRPr lang="en-US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effectLst/>
                          <a:latin typeface="Helvetica" pitchFamily="2" charset="0"/>
                        </a:rPr>
                        <a:t>26</a:t>
                      </a:r>
                      <a:endParaRPr lang="en-US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effectLst/>
                          <a:latin typeface="Helvetica" pitchFamily="2" charset="0"/>
                        </a:rPr>
                        <a:t>64</a:t>
                      </a:r>
                      <a:endParaRPr lang="en-US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1589996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9810E748-8C90-C962-5822-508F0DCE60DF}"/>
              </a:ext>
            </a:extLst>
          </p:cNvPr>
          <p:cNvSpPr txBox="1"/>
          <p:nvPr/>
        </p:nvSpPr>
        <p:spPr>
          <a:xfrm>
            <a:off x="10503003" y="4243186"/>
            <a:ext cx="147989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N-Gen</a:t>
            </a:r>
            <a:r>
              <a:rPr lang="zh-CN" altLang="en-US" dirty="0"/>
              <a:t>可以</a:t>
            </a:r>
            <a:endParaRPr lang="en-US" altLang="zh-CN" dirty="0"/>
          </a:p>
          <a:p>
            <a:r>
              <a:rPr lang="zh-CN" altLang="en-US" dirty="0"/>
              <a:t>预测</a:t>
            </a:r>
            <a:r>
              <a:rPr lang="en-US" altLang="zh-CN" dirty="0"/>
              <a:t>N-Adj</a:t>
            </a:r>
          </a:p>
          <a:p>
            <a:endParaRPr lang="en-US" dirty="0"/>
          </a:p>
          <a:p>
            <a:r>
              <a:rPr lang="en-US" dirty="0"/>
              <a:t>Gen-</a:t>
            </a:r>
            <a:r>
              <a:rPr lang="en-US" dirty="0" err="1"/>
              <a:t>N也可以</a:t>
            </a:r>
            <a:endParaRPr lang="en-US" dirty="0"/>
          </a:p>
          <a:p>
            <a:r>
              <a:rPr lang="en-US" dirty="0" err="1"/>
              <a:t>预测Adj</a:t>
            </a:r>
            <a:r>
              <a:rPr lang="en-US" dirty="0"/>
              <a:t>-</a:t>
            </a:r>
            <a:r>
              <a:rPr lang="en-US" altLang="zh-CN" dirty="0"/>
              <a:t>N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3A10DB-2673-35AC-5453-B8C83B129B70}"/>
              </a:ext>
            </a:extLst>
          </p:cNvPr>
          <p:cNvSpPr txBox="1"/>
          <p:nvPr/>
        </p:nvSpPr>
        <p:spPr>
          <a:xfrm>
            <a:off x="922353" y="5941814"/>
            <a:ext cx="29498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形容词本身倾向后置于名词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731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 animBg="1"/>
      <p:bldP spid="10" grpId="0"/>
      <p:bldP spid="12" grpId="0"/>
      <p:bldP spid="1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F665C2C5-A3C8-1E1D-359E-EA1DC560712A}"/>
              </a:ext>
            </a:extLst>
          </p:cNvPr>
          <p:cNvSpPr txBox="1"/>
          <p:nvPr/>
        </p:nvSpPr>
        <p:spPr>
          <a:xfrm>
            <a:off x="548640" y="731520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形容词语序的灵活性</a:t>
            </a:r>
            <a:endParaRPr lang="en-US" sz="2800" dirty="0"/>
          </a:p>
        </p:txBody>
      </p:sp>
      <p:sp>
        <p:nvSpPr>
          <p:cNvPr id="3" name="Shape 5">
            <a:extLst>
              <a:ext uri="{FF2B5EF4-FFF2-40B4-BE49-F238E27FC236}">
                <a16:creationId xmlns:a16="http://schemas.microsoft.com/office/drawing/2014/main" id="{D99A9719-7F6A-E899-EA3E-F997F4B0C379}"/>
              </a:ext>
            </a:extLst>
          </p:cNvPr>
          <p:cNvSpPr/>
          <p:nvPr/>
        </p:nvSpPr>
        <p:spPr>
          <a:xfrm>
            <a:off x="437429" y="1565848"/>
            <a:ext cx="3726797" cy="1121746"/>
          </a:xfrm>
          <a:prstGeom prst="roundRect">
            <a:avLst>
              <a:gd name="adj" fmla="val 50000"/>
            </a:avLst>
          </a:prstGeom>
          <a:solidFill>
            <a:srgbClr val="C9A24B"/>
          </a:solidFill>
          <a:ln/>
        </p:spPr>
        <p:txBody>
          <a:bodyPr/>
          <a:lstStyle/>
          <a:p>
            <a:pPr algn="ctr"/>
            <a:r>
              <a:rPr lang="en-US" b="1" dirty="0" err="1">
                <a:solidFill>
                  <a:srgbClr val="5B4A16"/>
                </a:solidFill>
                <a:latin typeface="Microsoft YaHei" pitchFamily="34" charset="0"/>
                <a:ea typeface="Microsoft YaHei" pitchFamily="34" charset="-122"/>
              </a:rPr>
              <a:t>形容词</a:t>
            </a:r>
            <a:r>
              <a:rPr lang="en-US" altLang="zh-CN" b="1" dirty="0" err="1">
                <a:solidFill>
                  <a:srgbClr val="5B4A16"/>
                </a:solidFill>
                <a:latin typeface="Microsoft YaHei" pitchFamily="34" charset="0"/>
                <a:ea typeface="Microsoft YaHei" pitchFamily="34" charset="-122"/>
              </a:rPr>
              <a:t>-</a:t>
            </a:r>
            <a:r>
              <a:rPr lang="en-US" b="1" dirty="0" err="1">
                <a:solidFill>
                  <a:srgbClr val="5B4A16"/>
                </a:solidFill>
                <a:latin typeface="Microsoft YaHei" pitchFamily="34" charset="0"/>
                <a:ea typeface="Microsoft YaHei" pitchFamily="34" charset="-122"/>
              </a:rPr>
              <a:t>名词语序与VO</a:t>
            </a:r>
            <a:r>
              <a:rPr lang="en-US" altLang="zh-CN" b="1" dirty="0" err="1">
                <a:solidFill>
                  <a:srgbClr val="5B4A16"/>
                </a:solidFill>
                <a:latin typeface="Microsoft YaHei" pitchFamily="34" charset="0"/>
                <a:ea typeface="Microsoft YaHei" pitchFamily="34" charset="-122"/>
              </a:rPr>
              <a:t>&amp;NGen</a:t>
            </a:r>
            <a:r>
              <a:rPr lang="zh-CN" altLang="en-US" b="1" dirty="0">
                <a:solidFill>
                  <a:srgbClr val="5B4A16"/>
                </a:solidFill>
                <a:latin typeface="Microsoft YaHei" pitchFamily="34" charset="0"/>
                <a:ea typeface="Microsoft YaHei" pitchFamily="34" charset="-122"/>
              </a:rPr>
              <a:t>是否相关？</a:t>
            </a:r>
            <a:endParaRPr lang="en-US" b="1" dirty="0">
              <a:solidFill>
                <a:srgbClr val="5B4A16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959280-6FB6-D9D2-78CB-1FA64E25FA21}"/>
              </a:ext>
            </a:extLst>
          </p:cNvPr>
          <p:cNvSpPr txBox="1"/>
          <p:nvPr/>
        </p:nvSpPr>
        <p:spPr>
          <a:xfrm>
            <a:off x="4816046" y="919517"/>
            <a:ext cx="64162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5B4A16"/>
                </a:solidFill>
                <a:latin typeface="Microsoft YaHei" pitchFamily="34" charset="0"/>
                <a:ea typeface="Microsoft YaHei" pitchFamily="34" charset="-122"/>
              </a:rPr>
              <a:t>OV</a:t>
            </a:r>
            <a:r>
              <a:rPr lang="en-US" altLang="zh-CN" b="1" dirty="0">
                <a:solidFill>
                  <a:srgbClr val="5B4A16"/>
                </a:solidFill>
                <a:latin typeface="Microsoft YaHei" pitchFamily="34" charset="0"/>
                <a:ea typeface="Microsoft YaHei" pitchFamily="34" charset="-122"/>
              </a:rPr>
              <a:t>/VO</a:t>
            </a:r>
            <a:r>
              <a:rPr lang="zh-CN" altLang="en-US" b="1" dirty="0">
                <a:solidFill>
                  <a:srgbClr val="5B4A16"/>
                </a:solidFill>
                <a:latin typeface="Microsoft YaHei" pitchFamily="34" charset="0"/>
                <a:ea typeface="Microsoft YaHei" pitchFamily="34" charset="-122"/>
              </a:rPr>
              <a:t>对形容词语序的预测结果与领属语语序的预测不一致</a:t>
            </a:r>
            <a:endParaRPr lang="en-US" b="1" dirty="0">
              <a:solidFill>
                <a:srgbClr val="5B4A16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731530C5-AE41-380B-23C8-4F8B3A703403}"/>
              </a:ext>
            </a:extLst>
          </p:cNvPr>
          <p:cNvSpPr/>
          <p:nvPr/>
        </p:nvSpPr>
        <p:spPr>
          <a:xfrm>
            <a:off x="548640" y="4585016"/>
            <a:ext cx="3726797" cy="1121746"/>
          </a:xfrm>
          <a:prstGeom prst="roundRect">
            <a:avLst>
              <a:gd name="adj" fmla="val 50000"/>
            </a:avLst>
          </a:prstGeom>
          <a:solidFill>
            <a:srgbClr val="C9A24B"/>
          </a:solidFill>
          <a:ln/>
        </p:spPr>
        <p:txBody>
          <a:bodyPr/>
          <a:lstStyle/>
          <a:p>
            <a:pPr algn="ctr"/>
            <a:r>
              <a:rPr lang="en-US" b="1" dirty="0" err="1">
                <a:solidFill>
                  <a:srgbClr val="5B4A16"/>
                </a:solidFill>
                <a:latin typeface="Microsoft YaHei" pitchFamily="34" charset="0"/>
                <a:ea typeface="Microsoft YaHei" pitchFamily="34" charset="-122"/>
              </a:rPr>
              <a:t>形容词</a:t>
            </a:r>
            <a:r>
              <a:rPr lang="en-US" altLang="zh-CN" b="1" dirty="0" err="1">
                <a:solidFill>
                  <a:srgbClr val="5B4A16"/>
                </a:solidFill>
                <a:latin typeface="Microsoft YaHei" pitchFamily="34" charset="0"/>
                <a:ea typeface="Microsoft YaHei" pitchFamily="34" charset="-122"/>
              </a:rPr>
              <a:t>-</a:t>
            </a:r>
            <a:r>
              <a:rPr lang="en-US" b="1" dirty="0" err="1">
                <a:solidFill>
                  <a:srgbClr val="5B4A16"/>
                </a:solidFill>
                <a:latin typeface="Microsoft YaHei" pitchFamily="34" charset="0"/>
                <a:ea typeface="Microsoft YaHei" pitchFamily="34" charset="-122"/>
              </a:rPr>
              <a:t>名词语序与OV</a:t>
            </a:r>
            <a:r>
              <a:rPr lang="en-US" altLang="zh-CN" b="1" dirty="0" err="1">
                <a:solidFill>
                  <a:srgbClr val="5B4A16"/>
                </a:solidFill>
                <a:latin typeface="Microsoft YaHei" pitchFamily="34" charset="0"/>
                <a:ea typeface="Microsoft YaHei" pitchFamily="34" charset="-122"/>
              </a:rPr>
              <a:t>&amp;GenN</a:t>
            </a:r>
            <a:r>
              <a:rPr lang="zh-CN" altLang="en-US" b="1" dirty="0">
                <a:solidFill>
                  <a:srgbClr val="5B4A16"/>
                </a:solidFill>
                <a:latin typeface="Microsoft YaHei" pitchFamily="34" charset="0"/>
                <a:ea typeface="Microsoft YaHei" pitchFamily="34" charset="-122"/>
              </a:rPr>
              <a:t>是否相关？</a:t>
            </a:r>
            <a:endParaRPr lang="en-US" b="1" dirty="0">
              <a:solidFill>
                <a:srgbClr val="5B4A16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9C43E73-A1F2-848E-DCF7-514F5C5097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4597773"/>
              </p:ext>
            </p:extLst>
          </p:nvPr>
        </p:nvGraphicFramePr>
        <p:xfrm>
          <a:off x="5349239" y="1767200"/>
          <a:ext cx="5635918" cy="2026323"/>
        </p:xfrm>
        <a:graphic>
          <a:graphicData uri="http://schemas.openxmlformats.org/drawingml/2006/table">
            <a:tbl>
              <a:tblPr/>
              <a:tblGrid>
                <a:gridCol w="1347441">
                  <a:extLst>
                    <a:ext uri="{9D8B030D-6E8A-4147-A177-3AD203B41FA5}">
                      <a16:colId xmlns:a16="http://schemas.microsoft.com/office/drawing/2014/main" val="2857927885"/>
                    </a:ext>
                  </a:extLst>
                </a:gridCol>
                <a:gridCol w="1573287">
                  <a:extLst>
                    <a:ext uri="{9D8B030D-6E8A-4147-A177-3AD203B41FA5}">
                      <a16:colId xmlns:a16="http://schemas.microsoft.com/office/drawing/2014/main" val="1901871530"/>
                    </a:ext>
                  </a:extLst>
                </a:gridCol>
                <a:gridCol w="1357595">
                  <a:extLst>
                    <a:ext uri="{9D8B030D-6E8A-4147-A177-3AD203B41FA5}">
                      <a16:colId xmlns:a16="http://schemas.microsoft.com/office/drawing/2014/main" val="1409349356"/>
                    </a:ext>
                  </a:extLst>
                </a:gridCol>
                <a:gridCol w="1357595">
                  <a:extLst>
                    <a:ext uri="{9D8B030D-6E8A-4147-A177-3AD203B41FA5}">
                      <a16:colId xmlns:a16="http://schemas.microsoft.com/office/drawing/2014/main" val="3292387492"/>
                    </a:ext>
                  </a:extLst>
                </a:gridCol>
              </a:tblGrid>
              <a:tr h="631350">
                <a:tc>
                  <a:txBody>
                    <a:bodyPr/>
                    <a:lstStyle/>
                    <a:p>
                      <a:endParaRPr lang="en-US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err="1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VO&amp;Gen-N</a:t>
                      </a:r>
                      <a:endParaRPr lang="en-US" altLang="zh-CN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</a:endParaRPr>
                    </a:p>
                    <a:p>
                      <a:r>
                        <a:rPr lang="zh-CN" altLang="en-US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😂</a:t>
                      </a:r>
                      <a:endParaRPr lang="en-US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VO&amp;N-Gen</a:t>
                      </a:r>
                    </a:p>
                    <a:p>
                      <a:r>
                        <a:rPr lang="zh-CN" altLang="en-US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😍</a:t>
                      </a:r>
                      <a:endParaRPr lang="en-US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合计</a:t>
                      </a:r>
                      <a:endParaRPr lang="en-US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8192253"/>
                  </a:ext>
                </a:extLst>
              </a:tr>
              <a:tr h="464991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</a:rPr>
                        <a:t>Adj-N</a:t>
                      </a:r>
                      <a:endParaRPr lang="en-US" dirty="0">
                        <a:solidFill>
                          <a:srgbClr val="FF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</a:rPr>
                        <a:t>21</a:t>
                      </a:r>
                      <a:endParaRPr lang="en-US" dirty="0">
                        <a:solidFill>
                          <a:srgbClr val="FF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effectLst/>
                          <a:latin typeface="Helvetica" pitchFamily="2" charset="0"/>
                        </a:rPr>
                        <a:t>43</a:t>
                      </a:r>
                      <a:endParaRPr lang="en-US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effectLst/>
                          <a:latin typeface="Helvetica" pitchFamily="2" charset="0"/>
                        </a:rPr>
                        <a:t>64</a:t>
                      </a:r>
                      <a:endParaRPr lang="en-US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3638384"/>
                  </a:ext>
                </a:extLst>
              </a:tr>
              <a:tr h="464991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N-Adj</a:t>
                      </a:r>
                      <a:endParaRPr lang="en-US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</a:rPr>
                        <a:t>76</a:t>
                      </a:r>
                      <a:endParaRPr lang="en-US" dirty="0">
                        <a:solidFill>
                          <a:srgbClr val="FF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250</a:t>
                      </a:r>
                      <a:endParaRPr lang="en-US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effectLst/>
                          <a:latin typeface="Helvetica" pitchFamily="2" charset="0"/>
                        </a:rPr>
                        <a:t>326</a:t>
                      </a:r>
                      <a:endParaRPr lang="en-US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5588170"/>
                  </a:ext>
                </a:extLst>
              </a:tr>
              <a:tr h="464991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  <a:latin typeface="Helvetica" pitchFamily="2" charset="0"/>
                        </a:rPr>
                        <a:t>both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effectLst/>
                          <a:latin typeface="Helvetica" pitchFamily="2" charset="0"/>
                        </a:rPr>
                        <a:t>4</a:t>
                      </a:r>
                      <a:endParaRPr lang="en-US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effectLst/>
                          <a:latin typeface="Helvetica" pitchFamily="2" charset="0"/>
                        </a:rPr>
                        <a:t>17</a:t>
                      </a:r>
                      <a:endParaRPr lang="en-US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effectLst/>
                          <a:latin typeface="Helvetica" pitchFamily="2" charset="0"/>
                        </a:rPr>
                        <a:t>21</a:t>
                      </a:r>
                      <a:endParaRPr lang="en-US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1589996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924B32A-3089-7BF0-A9CC-D0EACFAC0E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0410733"/>
              </p:ext>
            </p:extLst>
          </p:nvPr>
        </p:nvGraphicFramePr>
        <p:xfrm>
          <a:off x="5349239" y="4366238"/>
          <a:ext cx="5635918" cy="2026323"/>
        </p:xfrm>
        <a:graphic>
          <a:graphicData uri="http://schemas.openxmlformats.org/drawingml/2006/table">
            <a:tbl>
              <a:tblPr/>
              <a:tblGrid>
                <a:gridCol w="1347441">
                  <a:extLst>
                    <a:ext uri="{9D8B030D-6E8A-4147-A177-3AD203B41FA5}">
                      <a16:colId xmlns:a16="http://schemas.microsoft.com/office/drawing/2014/main" val="2857927885"/>
                    </a:ext>
                  </a:extLst>
                </a:gridCol>
                <a:gridCol w="1573287">
                  <a:extLst>
                    <a:ext uri="{9D8B030D-6E8A-4147-A177-3AD203B41FA5}">
                      <a16:colId xmlns:a16="http://schemas.microsoft.com/office/drawing/2014/main" val="1901871530"/>
                    </a:ext>
                  </a:extLst>
                </a:gridCol>
                <a:gridCol w="1357595">
                  <a:extLst>
                    <a:ext uri="{9D8B030D-6E8A-4147-A177-3AD203B41FA5}">
                      <a16:colId xmlns:a16="http://schemas.microsoft.com/office/drawing/2014/main" val="1409349356"/>
                    </a:ext>
                  </a:extLst>
                </a:gridCol>
                <a:gridCol w="1357595">
                  <a:extLst>
                    <a:ext uri="{9D8B030D-6E8A-4147-A177-3AD203B41FA5}">
                      <a16:colId xmlns:a16="http://schemas.microsoft.com/office/drawing/2014/main" val="3292387492"/>
                    </a:ext>
                  </a:extLst>
                </a:gridCol>
              </a:tblGrid>
              <a:tr h="631350">
                <a:tc>
                  <a:txBody>
                    <a:bodyPr/>
                    <a:lstStyle/>
                    <a:p>
                      <a:endParaRPr lang="en-US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err="1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OV&amp;Gen-N</a:t>
                      </a:r>
                      <a:endParaRPr lang="en-US" altLang="zh-CN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😍</a:t>
                      </a:r>
                      <a:endParaRPr lang="en-US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OV&amp;N-Gen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😂</a:t>
                      </a:r>
                      <a:endParaRPr lang="en-US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合计</a:t>
                      </a:r>
                      <a:endParaRPr lang="en-US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8192253"/>
                  </a:ext>
                </a:extLst>
              </a:tr>
              <a:tr h="464991">
                <a:tc>
                  <a:txBody>
                    <a:bodyPr/>
                    <a:lstStyle/>
                    <a:p>
                      <a:r>
                        <a:rPr lang="en-US" altLang="zh-CN" dirty="0">
                          <a:effectLst/>
                          <a:latin typeface="Helvetica" pitchFamily="2" charset="0"/>
                        </a:rPr>
                        <a:t>Adj-N</a:t>
                      </a:r>
                      <a:endParaRPr lang="en-US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</a:rPr>
                        <a:t>153</a:t>
                      </a:r>
                      <a:endParaRPr lang="en-US" dirty="0">
                        <a:solidFill>
                          <a:srgbClr val="FF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effectLst/>
                          <a:latin typeface="Helvetica" pitchFamily="2" charset="0"/>
                        </a:rPr>
                        <a:t>1</a:t>
                      </a:r>
                      <a:endParaRPr lang="en-US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effectLst/>
                          <a:latin typeface="Helvetica" pitchFamily="2" charset="0"/>
                        </a:rPr>
                        <a:t>154</a:t>
                      </a:r>
                      <a:endParaRPr lang="en-US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3638384"/>
                  </a:ext>
                </a:extLst>
              </a:tr>
              <a:tr h="464991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N-Adj</a:t>
                      </a:r>
                      <a:endParaRPr lang="en-US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Helvetica" pitchFamily="2" charset="0"/>
                        </a:rPr>
                        <a:t>190</a:t>
                      </a:r>
                      <a:endParaRPr 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</a:rPr>
                        <a:t>24</a:t>
                      </a:r>
                      <a:endParaRPr lang="en-US" dirty="0">
                        <a:solidFill>
                          <a:srgbClr val="FF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effectLst/>
                          <a:latin typeface="Helvetica" pitchFamily="2" charset="0"/>
                        </a:rPr>
                        <a:t>214</a:t>
                      </a:r>
                      <a:endParaRPr lang="en-US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5588170"/>
                  </a:ext>
                </a:extLst>
              </a:tr>
              <a:tr h="464991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  <a:latin typeface="Helvetica" pitchFamily="2" charset="0"/>
                        </a:rPr>
                        <a:t>both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effectLst/>
                          <a:latin typeface="Helvetica" pitchFamily="2" charset="0"/>
                        </a:rPr>
                        <a:t>15</a:t>
                      </a:r>
                      <a:endParaRPr lang="en-US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effectLst/>
                          <a:latin typeface="Helvetica" pitchFamily="2" charset="0"/>
                        </a:rPr>
                        <a:t>0</a:t>
                      </a:r>
                      <a:endParaRPr lang="en-US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effectLst/>
                          <a:latin typeface="Helvetica" pitchFamily="2" charset="0"/>
                        </a:rPr>
                        <a:t>16</a:t>
                      </a:r>
                      <a:endParaRPr lang="en-US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1589996"/>
                  </a:ext>
                </a:extLst>
              </a:tr>
            </a:tbl>
          </a:graphicData>
        </a:graphic>
      </p:graphicFrame>
      <p:sp>
        <p:nvSpPr>
          <p:cNvPr id="9" name="Oval 8">
            <a:extLst>
              <a:ext uri="{FF2B5EF4-FFF2-40B4-BE49-F238E27FC236}">
                <a16:creationId xmlns:a16="http://schemas.microsoft.com/office/drawing/2014/main" id="{BED128B4-941B-5397-1795-25282BCA5672}"/>
              </a:ext>
            </a:extLst>
          </p:cNvPr>
          <p:cNvSpPr/>
          <p:nvPr/>
        </p:nvSpPr>
        <p:spPr>
          <a:xfrm>
            <a:off x="8024169" y="5441091"/>
            <a:ext cx="877329" cy="531341"/>
          </a:xfrm>
          <a:prstGeom prst="ellipse">
            <a:avLst/>
          </a:prstGeom>
          <a:noFill/>
          <a:ln w="285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Line Callout 1 (Accent Bar) 9">
            <a:extLst>
              <a:ext uri="{FF2B5EF4-FFF2-40B4-BE49-F238E27FC236}">
                <a16:creationId xmlns:a16="http://schemas.microsoft.com/office/drawing/2014/main" id="{740F028E-88B8-5F21-32F5-9FD7D5A50440}"/>
              </a:ext>
            </a:extLst>
          </p:cNvPr>
          <p:cNvSpPr/>
          <p:nvPr/>
        </p:nvSpPr>
        <p:spPr>
          <a:xfrm>
            <a:off x="9329350" y="3906751"/>
            <a:ext cx="1902942" cy="369333"/>
          </a:xfrm>
          <a:prstGeom prst="accentCallout1">
            <a:avLst>
              <a:gd name="adj1" fmla="val 72980"/>
              <a:gd name="adj2" fmla="val -3000"/>
              <a:gd name="adj3" fmla="val 416958"/>
              <a:gd name="adj4" fmla="val -3248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共性</a:t>
            </a:r>
            <a:r>
              <a:rPr lang="en-US" altLang="zh-CN" dirty="0"/>
              <a:t>5</a:t>
            </a:r>
            <a:r>
              <a:rPr lang="zh-CN" altLang="en-US" dirty="0"/>
              <a:t>的预测项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F7C315-0CDF-A765-E710-3BAAAFB0B621}"/>
              </a:ext>
            </a:extLst>
          </p:cNvPr>
          <p:cNvSpPr txBox="1"/>
          <p:nvPr/>
        </p:nvSpPr>
        <p:spPr>
          <a:xfrm>
            <a:off x="326218" y="3951829"/>
            <a:ext cx="5537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PingFang HK" panose="020B0400000000000000" pitchFamily="34" charset="-120"/>
                <a:ea typeface="PingFang HK" panose="020B0400000000000000" pitchFamily="34" charset="-120"/>
              </a:rPr>
              <a:t>只有在OV条件下</a:t>
            </a:r>
            <a:r>
              <a:rPr lang="en-US" altLang="zh-CN" dirty="0">
                <a:latin typeface="PingFang HK" panose="020B0400000000000000" pitchFamily="34" charset="-120"/>
                <a:ea typeface="PingFang HK" panose="020B0400000000000000" pitchFamily="34" charset="-120"/>
              </a:rPr>
              <a:t>,</a:t>
            </a:r>
            <a:r>
              <a:rPr lang="zh-CN" altLang="en-US" dirty="0">
                <a:latin typeface="PingFang HK" panose="020B0400000000000000" pitchFamily="34" charset="-120"/>
                <a:ea typeface="PingFang HK" panose="020B0400000000000000" pitchFamily="34" charset="-120"/>
              </a:rPr>
              <a:t> </a:t>
            </a:r>
            <a:r>
              <a:rPr lang="en-US" altLang="zh-CN" dirty="0">
                <a:latin typeface="PingFang HK" panose="020B0400000000000000" pitchFamily="34" charset="-120"/>
                <a:ea typeface="PingFang HK" panose="020B0400000000000000" pitchFamily="34" charset="-120"/>
              </a:rPr>
              <a:t>N-Gen</a:t>
            </a:r>
            <a:r>
              <a:rPr lang="zh-CN" altLang="en-US" dirty="0">
                <a:latin typeface="PingFang HK" panose="020B0400000000000000" pitchFamily="34" charset="-120"/>
                <a:ea typeface="PingFang HK" panose="020B0400000000000000" pitchFamily="34" charset="-120"/>
              </a:rPr>
              <a:t>才能更准确预测形容词语序</a:t>
            </a:r>
            <a:endParaRPr lang="en-US" dirty="0">
              <a:latin typeface="PingFang HK" panose="020B0400000000000000" pitchFamily="34" charset="-120"/>
              <a:ea typeface="PingFang HK" panose="020B0400000000000000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65153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9A24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07   </a:t>
            </a:r>
            <a:r>
              <a:rPr lang="en-US" sz="1200" b="1" kern="0" spc="150" dirty="0">
                <a:solidFill>
                  <a:srgbClr val="C9A2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共性十八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共性十八：修饰语链的一致性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Universal 18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965960"/>
            <a:ext cx="9784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当描写性形容词位于名词之前时，指示词和数词也以压倒性频率位于名词之前。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246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9A24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前置模式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566160"/>
            <a:ext cx="2183130" cy="658368"/>
          </a:xfrm>
          <a:prstGeom prst="roundRect">
            <a:avLst>
              <a:gd name="adj" fmla="val 50000"/>
            </a:avLst>
          </a:prstGeom>
          <a:solidFill>
            <a:srgbClr val="C9A24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566160"/>
            <a:ext cx="218313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B4A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数词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86634" y="3749040"/>
            <a:ext cx="393192" cy="292608"/>
          </a:xfrm>
          <a:prstGeom prst="rightArrow">
            <a:avLst/>
          </a:prstGeom>
          <a:solidFill>
            <a:srgbClr val="C9A24B"/>
          </a:solidFill>
          <a:ln/>
        </p:spPr>
      </p:sp>
      <p:sp>
        <p:nvSpPr>
          <p:cNvPr id="11" name="Shape 9"/>
          <p:cNvSpPr/>
          <p:nvPr/>
        </p:nvSpPr>
        <p:spPr>
          <a:xfrm>
            <a:off x="3234690" y="3566160"/>
            <a:ext cx="2183130" cy="658368"/>
          </a:xfrm>
          <a:prstGeom prst="roundRect">
            <a:avLst>
              <a:gd name="adj" fmla="val 50000"/>
            </a:avLst>
          </a:prstGeom>
          <a:solidFill>
            <a:srgbClr val="C9A24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234690" y="3566160"/>
            <a:ext cx="218313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B4A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指示词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72684" y="3749040"/>
            <a:ext cx="393192" cy="292608"/>
          </a:xfrm>
          <a:prstGeom prst="rightArrow">
            <a:avLst/>
          </a:prstGeom>
          <a:solidFill>
            <a:srgbClr val="C9A24B"/>
          </a:solidFill>
          <a:ln/>
        </p:spPr>
      </p:sp>
      <p:sp>
        <p:nvSpPr>
          <p:cNvPr id="14" name="Shape 12"/>
          <p:cNvSpPr/>
          <p:nvPr/>
        </p:nvSpPr>
        <p:spPr>
          <a:xfrm>
            <a:off x="5920740" y="3566160"/>
            <a:ext cx="2183130" cy="658368"/>
          </a:xfrm>
          <a:prstGeom prst="roundRect">
            <a:avLst>
              <a:gd name="adj" fmla="val 50000"/>
            </a:avLst>
          </a:prstGeom>
          <a:solidFill>
            <a:srgbClr val="C9A24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920740" y="3566160"/>
            <a:ext cx="218313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B4A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形容词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158734" y="3749040"/>
            <a:ext cx="393192" cy="292608"/>
          </a:xfrm>
          <a:prstGeom prst="rightArrow">
            <a:avLst/>
          </a:prstGeom>
          <a:solidFill>
            <a:srgbClr val="C9A24B"/>
          </a:solidFill>
          <a:ln/>
        </p:spPr>
      </p:sp>
      <p:sp>
        <p:nvSpPr>
          <p:cNvPr id="17" name="Shape 15"/>
          <p:cNvSpPr/>
          <p:nvPr/>
        </p:nvSpPr>
        <p:spPr>
          <a:xfrm>
            <a:off x="8606790" y="3566160"/>
            <a:ext cx="2183130" cy="65836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06790" y="3566160"/>
            <a:ext cx="218313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名词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572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9A24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后置模式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892040"/>
            <a:ext cx="2183130" cy="65836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4901184"/>
            <a:ext cx="218313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名词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786634" y="5074920"/>
            <a:ext cx="393192" cy="292608"/>
          </a:xfrm>
          <a:prstGeom prst="rightArrow">
            <a:avLst/>
          </a:prstGeom>
          <a:solidFill>
            <a:srgbClr val="C9A24B"/>
          </a:solidFill>
          <a:ln/>
        </p:spPr>
      </p:sp>
      <p:sp>
        <p:nvSpPr>
          <p:cNvPr id="23" name="Shape 21"/>
          <p:cNvSpPr/>
          <p:nvPr/>
        </p:nvSpPr>
        <p:spPr>
          <a:xfrm>
            <a:off x="3234690" y="4892040"/>
            <a:ext cx="2183130" cy="658368"/>
          </a:xfrm>
          <a:prstGeom prst="roundRect">
            <a:avLst>
              <a:gd name="adj" fmla="val 50000"/>
            </a:avLst>
          </a:prstGeom>
          <a:solidFill>
            <a:srgbClr val="C9A24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3234690" y="4892040"/>
            <a:ext cx="218313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B4A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形容词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72684" y="5074920"/>
            <a:ext cx="393192" cy="292608"/>
          </a:xfrm>
          <a:prstGeom prst="rightArrow">
            <a:avLst/>
          </a:prstGeom>
          <a:solidFill>
            <a:srgbClr val="C9A24B"/>
          </a:solidFill>
          <a:ln/>
        </p:spPr>
      </p:sp>
      <p:sp>
        <p:nvSpPr>
          <p:cNvPr id="26" name="Shape 24"/>
          <p:cNvSpPr/>
          <p:nvPr/>
        </p:nvSpPr>
        <p:spPr>
          <a:xfrm>
            <a:off x="5920740" y="4892040"/>
            <a:ext cx="2183130" cy="658368"/>
          </a:xfrm>
          <a:prstGeom prst="roundRect">
            <a:avLst>
              <a:gd name="adj" fmla="val 50000"/>
            </a:avLst>
          </a:prstGeom>
          <a:solidFill>
            <a:srgbClr val="C9A24B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920740" y="4892040"/>
            <a:ext cx="218313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B4A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指示词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158734" y="5074920"/>
            <a:ext cx="393192" cy="292608"/>
          </a:xfrm>
          <a:prstGeom prst="rightArrow">
            <a:avLst/>
          </a:prstGeom>
          <a:solidFill>
            <a:srgbClr val="C9A24B"/>
          </a:solidFill>
          <a:ln/>
        </p:spPr>
      </p:sp>
      <p:sp>
        <p:nvSpPr>
          <p:cNvPr id="29" name="Shape 27"/>
          <p:cNvSpPr/>
          <p:nvPr/>
        </p:nvSpPr>
        <p:spPr>
          <a:xfrm>
            <a:off x="8606790" y="4892040"/>
            <a:ext cx="2183130" cy="658368"/>
          </a:xfrm>
          <a:prstGeom prst="roundRect">
            <a:avLst>
              <a:gd name="adj" fmla="val 50000"/>
            </a:avLst>
          </a:prstGeom>
          <a:solidFill>
            <a:srgbClr val="C9A24B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606790" y="4892040"/>
            <a:ext cx="218313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B4A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数词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E3E6EE"/>
            </a:solidFill>
            <a:prstDash val="solid"/>
          </a:ln>
        </p:spPr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577636E6-9B2C-643A-4F0F-3F163EB8A36A}"/>
              </a:ext>
            </a:extLst>
          </p:cNvPr>
          <p:cNvSpPr txBox="1"/>
          <p:nvPr/>
        </p:nvSpPr>
        <p:spPr>
          <a:xfrm>
            <a:off x="548640" y="731520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</a:rPr>
              <a:t>修饰语前置模式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42E635-CDA0-41C1-9B4B-DFDD3F4321B9}"/>
              </a:ext>
            </a:extLst>
          </p:cNvPr>
          <p:cNvSpPr txBox="1"/>
          <p:nvPr/>
        </p:nvSpPr>
        <p:spPr>
          <a:xfrm>
            <a:off x="1474948" y="1814575"/>
            <a:ext cx="8978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solidFill>
                  <a:srgbClr val="00206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日语</a:t>
            </a:r>
            <a:endParaRPr lang="en-US" sz="2000" b="1" dirty="0">
              <a:solidFill>
                <a:srgbClr val="002060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565836-5EFA-53A1-147A-9216195A17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878" y="3521513"/>
            <a:ext cx="5062538" cy="142969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49BE557-51CC-68B1-A743-04B1915555AF}"/>
              </a:ext>
            </a:extLst>
          </p:cNvPr>
          <p:cNvSpPr txBox="1"/>
          <p:nvPr/>
        </p:nvSpPr>
        <p:spPr>
          <a:xfrm>
            <a:off x="1414462" y="3574019"/>
            <a:ext cx="16225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err="1">
                <a:solidFill>
                  <a:srgbClr val="002060"/>
                </a:solidFill>
                <a:latin typeface="PingFang HK" panose="020B0400000000000000" pitchFamily="34" charset="-120"/>
                <a:ea typeface="PingFang HK" panose="020B0400000000000000" pitchFamily="34" charset="-120"/>
              </a:rPr>
              <a:t>指示词</a:t>
            </a:r>
            <a:r>
              <a:rPr lang="en-US" altLang="zh-CN" sz="2000" b="1" dirty="0" err="1">
                <a:solidFill>
                  <a:srgbClr val="002060"/>
                </a:solidFill>
                <a:latin typeface="PingFang HK" panose="020B0400000000000000" pitchFamily="34" charset="-120"/>
                <a:ea typeface="PingFang HK" panose="020B0400000000000000" pitchFamily="34" charset="-120"/>
              </a:rPr>
              <a:t>-</a:t>
            </a:r>
            <a:r>
              <a:rPr lang="en-US" sz="2000" b="1" dirty="0" err="1">
                <a:solidFill>
                  <a:srgbClr val="002060"/>
                </a:solidFill>
                <a:latin typeface="PingFang HK" panose="020B0400000000000000" pitchFamily="34" charset="-120"/>
                <a:ea typeface="PingFang HK" panose="020B0400000000000000" pitchFamily="34" charset="-120"/>
              </a:rPr>
              <a:t>名</a:t>
            </a:r>
            <a:r>
              <a:rPr lang="zh-CN" altLang="en-US" sz="2000" b="1" dirty="0">
                <a:solidFill>
                  <a:srgbClr val="002060"/>
                </a:solidFill>
                <a:latin typeface="PingFang HK" panose="020B0400000000000000" pitchFamily="34" charset="-120"/>
                <a:ea typeface="PingFang HK" panose="020B0400000000000000" pitchFamily="34" charset="-120"/>
              </a:rPr>
              <a:t>词</a:t>
            </a:r>
            <a:endParaRPr lang="en-US" sz="2000" b="1" dirty="0">
              <a:solidFill>
                <a:srgbClr val="002060"/>
              </a:solidFill>
              <a:latin typeface="PingFang HK" panose="020B0400000000000000" pitchFamily="34" charset="-120"/>
              <a:ea typeface="PingFang HK" panose="020B0400000000000000" pitchFamily="34" charset="-12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13B2968-BAAB-DB13-A202-F429381E30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2163" y="5094052"/>
            <a:ext cx="3171826" cy="129756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E229699-D460-E10F-106D-925BD9DD737B}"/>
              </a:ext>
            </a:extLst>
          </p:cNvPr>
          <p:cNvSpPr txBox="1"/>
          <p:nvPr/>
        </p:nvSpPr>
        <p:spPr>
          <a:xfrm>
            <a:off x="1414462" y="5253096"/>
            <a:ext cx="16225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err="1">
                <a:solidFill>
                  <a:srgbClr val="002060"/>
                </a:solidFill>
                <a:latin typeface="PingFang HK" panose="020B0400000000000000" pitchFamily="34" charset="-120"/>
                <a:ea typeface="PingFang HK" panose="020B0400000000000000" pitchFamily="34" charset="-120"/>
              </a:rPr>
              <a:t>形容词</a:t>
            </a:r>
            <a:r>
              <a:rPr lang="en-US" altLang="zh-CN" sz="2000" b="1" dirty="0" err="1">
                <a:solidFill>
                  <a:srgbClr val="002060"/>
                </a:solidFill>
                <a:latin typeface="PingFang HK" panose="020B0400000000000000" pitchFamily="34" charset="-120"/>
                <a:ea typeface="PingFang HK" panose="020B0400000000000000" pitchFamily="34" charset="-120"/>
              </a:rPr>
              <a:t>-</a:t>
            </a:r>
            <a:r>
              <a:rPr lang="en-US" sz="2000" b="1" dirty="0" err="1">
                <a:solidFill>
                  <a:srgbClr val="002060"/>
                </a:solidFill>
                <a:latin typeface="PingFang HK" panose="020B0400000000000000" pitchFamily="34" charset="-120"/>
                <a:ea typeface="PingFang HK" panose="020B0400000000000000" pitchFamily="34" charset="-120"/>
              </a:rPr>
              <a:t>名</a:t>
            </a:r>
            <a:r>
              <a:rPr lang="zh-CN" altLang="en-US" sz="2000" b="1" dirty="0">
                <a:solidFill>
                  <a:srgbClr val="002060"/>
                </a:solidFill>
                <a:latin typeface="PingFang HK" panose="020B0400000000000000" pitchFamily="34" charset="-120"/>
                <a:ea typeface="PingFang HK" panose="020B0400000000000000" pitchFamily="34" charset="-120"/>
              </a:rPr>
              <a:t>词</a:t>
            </a:r>
            <a:endParaRPr lang="en-US" sz="2000" b="1" dirty="0">
              <a:solidFill>
                <a:srgbClr val="002060"/>
              </a:solidFill>
              <a:latin typeface="PingFang HK" panose="020B0400000000000000" pitchFamily="34" charset="-120"/>
              <a:ea typeface="PingFang HK" panose="020B0400000000000000" pitchFamily="34" charset="-12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77A1C2E-1B63-6ED1-ED95-DAAA3ABE9F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2163" y="2156138"/>
            <a:ext cx="4554538" cy="122253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E2CFFB7-7568-B67F-FA1D-088227BF7147}"/>
              </a:ext>
            </a:extLst>
          </p:cNvPr>
          <p:cNvSpPr txBox="1"/>
          <p:nvPr/>
        </p:nvSpPr>
        <p:spPr>
          <a:xfrm>
            <a:off x="1413456" y="2534426"/>
            <a:ext cx="13660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err="1">
                <a:solidFill>
                  <a:srgbClr val="002060"/>
                </a:solidFill>
                <a:latin typeface="PingFang HK" panose="020B0400000000000000" pitchFamily="34" charset="-120"/>
                <a:ea typeface="PingFang HK" panose="020B0400000000000000" pitchFamily="34" charset="-120"/>
              </a:rPr>
              <a:t>数词</a:t>
            </a:r>
            <a:r>
              <a:rPr lang="en-US" altLang="zh-CN" sz="2000" b="1" dirty="0" err="1">
                <a:solidFill>
                  <a:srgbClr val="002060"/>
                </a:solidFill>
                <a:latin typeface="PingFang HK" panose="020B0400000000000000" pitchFamily="34" charset="-120"/>
                <a:ea typeface="PingFang HK" panose="020B0400000000000000" pitchFamily="34" charset="-120"/>
              </a:rPr>
              <a:t>-</a:t>
            </a:r>
            <a:r>
              <a:rPr lang="en-US" sz="2000" b="1" dirty="0" err="1">
                <a:solidFill>
                  <a:srgbClr val="002060"/>
                </a:solidFill>
                <a:latin typeface="PingFang HK" panose="020B0400000000000000" pitchFamily="34" charset="-120"/>
                <a:ea typeface="PingFang HK" panose="020B0400000000000000" pitchFamily="34" charset="-120"/>
              </a:rPr>
              <a:t>名</a:t>
            </a:r>
            <a:r>
              <a:rPr lang="zh-CN" altLang="en-US" sz="2000" b="1" dirty="0">
                <a:solidFill>
                  <a:srgbClr val="002060"/>
                </a:solidFill>
                <a:latin typeface="PingFang HK" panose="020B0400000000000000" pitchFamily="34" charset="-120"/>
                <a:ea typeface="PingFang HK" panose="020B0400000000000000" pitchFamily="34" charset="-120"/>
              </a:rPr>
              <a:t>词</a:t>
            </a:r>
            <a:endParaRPr lang="en-US" sz="2000" b="1" dirty="0">
              <a:solidFill>
                <a:srgbClr val="002060"/>
              </a:solidFill>
              <a:latin typeface="PingFang HK" panose="020B0400000000000000" pitchFamily="34" charset="-120"/>
              <a:ea typeface="PingFang HK" panose="020B0400000000000000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432725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448241F4-6826-C7DB-E59A-4D44B0108584}"/>
              </a:ext>
            </a:extLst>
          </p:cNvPr>
          <p:cNvSpPr txBox="1"/>
          <p:nvPr/>
        </p:nvSpPr>
        <p:spPr>
          <a:xfrm>
            <a:off x="548640" y="731520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</a:rPr>
              <a:t>修饰语后置模式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F6356B-9953-CE1C-61FB-9F7932E19E05}"/>
              </a:ext>
            </a:extLst>
          </p:cNvPr>
          <p:cNvSpPr txBox="1"/>
          <p:nvPr/>
        </p:nvSpPr>
        <p:spPr>
          <a:xfrm>
            <a:off x="542404" y="1842390"/>
            <a:ext cx="39741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err="1">
                <a:solidFill>
                  <a:srgbClr val="00206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傈僳语</a:t>
            </a:r>
            <a:r>
              <a:rPr lang="en-US" altLang="zh-CN" sz="2000" b="1" dirty="0">
                <a:solidFill>
                  <a:srgbClr val="00206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</a:t>
            </a:r>
            <a:r>
              <a:rPr lang="zh-CN" altLang="en-US" sz="2000" b="1" dirty="0">
                <a:solidFill>
                  <a:srgbClr val="00206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中国，汉藏语系藏缅语族</a:t>
            </a:r>
            <a:r>
              <a:rPr lang="en-US" altLang="zh-CN" sz="2000" b="1" dirty="0">
                <a:solidFill>
                  <a:srgbClr val="00206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)</a:t>
            </a:r>
            <a:endParaRPr lang="en-US" sz="2000" b="1" dirty="0">
              <a:solidFill>
                <a:srgbClr val="002060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7ADA48-3949-9344-4B6D-D4A3484808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6183" y="2523009"/>
            <a:ext cx="5135428" cy="111499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CEB5A6E-90EC-6AF3-E9FF-213CC3FD4D9D}"/>
              </a:ext>
            </a:extLst>
          </p:cNvPr>
          <p:cNvSpPr txBox="1"/>
          <p:nvPr/>
        </p:nvSpPr>
        <p:spPr>
          <a:xfrm>
            <a:off x="525009" y="2715022"/>
            <a:ext cx="13660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err="1">
                <a:solidFill>
                  <a:srgbClr val="002060"/>
                </a:solidFill>
                <a:latin typeface="PingFang HK" panose="020B0400000000000000" pitchFamily="34" charset="-120"/>
                <a:ea typeface="PingFang HK" panose="020B0400000000000000" pitchFamily="34" charset="-120"/>
              </a:rPr>
              <a:t>名词</a:t>
            </a:r>
            <a:r>
              <a:rPr lang="en-US" altLang="zh-CN" sz="2000" b="1" dirty="0">
                <a:solidFill>
                  <a:srgbClr val="002060"/>
                </a:solidFill>
                <a:latin typeface="PingFang HK" panose="020B0400000000000000" pitchFamily="34" charset="-120"/>
                <a:ea typeface="PingFang HK" panose="020B0400000000000000" pitchFamily="34" charset="-120"/>
              </a:rPr>
              <a:t>-</a:t>
            </a:r>
            <a:r>
              <a:rPr lang="zh-CN" altLang="en-US" sz="2000" b="1" dirty="0">
                <a:solidFill>
                  <a:srgbClr val="002060"/>
                </a:solidFill>
                <a:latin typeface="PingFang HK" panose="020B0400000000000000" pitchFamily="34" charset="-120"/>
                <a:ea typeface="PingFang HK" panose="020B0400000000000000" pitchFamily="34" charset="-120"/>
              </a:rPr>
              <a:t>数词</a:t>
            </a:r>
            <a:endParaRPr lang="en-US" sz="2000" b="1" dirty="0">
              <a:solidFill>
                <a:srgbClr val="002060"/>
              </a:solidFill>
              <a:latin typeface="PingFang HK" panose="020B0400000000000000" pitchFamily="34" charset="-120"/>
              <a:ea typeface="PingFang HK" panose="020B0400000000000000" pitchFamily="34" charset="-12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EC8EC3-6125-EE83-1C46-971F720DDD53}"/>
              </a:ext>
            </a:extLst>
          </p:cNvPr>
          <p:cNvSpPr txBox="1"/>
          <p:nvPr/>
        </p:nvSpPr>
        <p:spPr>
          <a:xfrm>
            <a:off x="485775" y="3974069"/>
            <a:ext cx="16225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err="1">
                <a:solidFill>
                  <a:srgbClr val="002060"/>
                </a:solidFill>
                <a:latin typeface="PingFang HK" panose="020B0400000000000000" pitchFamily="34" charset="-120"/>
                <a:ea typeface="PingFang HK" panose="020B0400000000000000" pitchFamily="34" charset="-120"/>
              </a:rPr>
              <a:t>名词</a:t>
            </a:r>
            <a:r>
              <a:rPr lang="en-US" altLang="zh-CN" sz="2000" b="1" dirty="0">
                <a:solidFill>
                  <a:srgbClr val="002060"/>
                </a:solidFill>
                <a:latin typeface="PingFang HK" panose="020B0400000000000000" pitchFamily="34" charset="-120"/>
                <a:ea typeface="PingFang HK" panose="020B0400000000000000" pitchFamily="34" charset="-120"/>
              </a:rPr>
              <a:t>-</a:t>
            </a:r>
            <a:r>
              <a:rPr lang="zh-CN" altLang="en-US" sz="2000" b="1" dirty="0">
                <a:solidFill>
                  <a:srgbClr val="002060"/>
                </a:solidFill>
                <a:latin typeface="PingFang HK" panose="020B0400000000000000" pitchFamily="34" charset="-120"/>
                <a:ea typeface="PingFang HK" panose="020B0400000000000000" pitchFamily="34" charset="-120"/>
              </a:rPr>
              <a:t>指示词</a:t>
            </a:r>
            <a:endParaRPr lang="en-US" sz="2000" b="1" dirty="0">
              <a:solidFill>
                <a:srgbClr val="002060"/>
              </a:solidFill>
              <a:latin typeface="PingFang HK" panose="020B0400000000000000" pitchFamily="34" charset="-120"/>
              <a:ea typeface="PingFang HK" panose="020B0400000000000000" pitchFamily="34" charset="-12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26FC4A2-17BD-2282-3C87-32689314A6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8335" y="5156847"/>
            <a:ext cx="5191125" cy="107441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092F1C2-8F7E-5EEC-D6A4-C4BA3824D4FE}"/>
              </a:ext>
            </a:extLst>
          </p:cNvPr>
          <p:cNvSpPr txBox="1"/>
          <p:nvPr/>
        </p:nvSpPr>
        <p:spPr>
          <a:xfrm>
            <a:off x="542404" y="5233116"/>
            <a:ext cx="16225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err="1">
                <a:solidFill>
                  <a:srgbClr val="002060"/>
                </a:solidFill>
                <a:latin typeface="PingFang HK" panose="020B0400000000000000" pitchFamily="34" charset="-120"/>
                <a:ea typeface="PingFang HK" panose="020B0400000000000000" pitchFamily="34" charset="-120"/>
              </a:rPr>
              <a:t>名词</a:t>
            </a:r>
            <a:r>
              <a:rPr lang="en-US" altLang="zh-CN" sz="2000" b="1" dirty="0">
                <a:solidFill>
                  <a:srgbClr val="002060"/>
                </a:solidFill>
                <a:latin typeface="PingFang HK" panose="020B0400000000000000" pitchFamily="34" charset="-120"/>
                <a:ea typeface="PingFang HK" panose="020B0400000000000000" pitchFamily="34" charset="-120"/>
              </a:rPr>
              <a:t>-</a:t>
            </a:r>
            <a:r>
              <a:rPr lang="zh-CN" altLang="en-US" sz="2000" b="1" dirty="0">
                <a:solidFill>
                  <a:srgbClr val="002060"/>
                </a:solidFill>
                <a:latin typeface="PingFang HK" panose="020B0400000000000000" pitchFamily="34" charset="-120"/>
                <a:ea typeface="PingFang HK" panose="020B0400000000000000" pitchFamily="34" charset="-120"/>
              </a:rPr>
              <a:t>形容词</a:t>
            </a:r>
            <a:endParaRPr lang="en-US" sz="2000" b="1" dirty="0">
              <a:solidFill>
                <a:srgbClr val="002060"/>
              </a:solidFill>
              <a:latin typeface="PingFang HK" panose="020B0400000000000000" pitchFamily="34" charset="-120"/>
              <a:ea typeface="PingFang HK" panose="020B0400000000000000" pitchFamily="34" charset="-12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8DD7F25-8DB9-FF13-735C-A207F0780A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3763" y="5233116"/>
            <a:ext cx="2357361" cy="5357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6524FF4-6000-4882-4283-89A862A8D6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2638" y="3892106"/>
            <a:ext cx="10189268" cy="946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65040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9A24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08   </a:t>
            </a:r>
            <a:r>
              <a:rPr lang="en-US" sz="1200" b="1" kern="0" spc="150" dirty="0">
                <a:solidFill>
                  <a:srgbClr val="C9A2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理论意义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蕴含共性与类型学方法论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为什么这些共性重要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C9A24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103120"/>
            <a:ext cx="9646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把孤立的语言现象，上升为可跨语言检验的系统性预测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31089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C9A24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5024628"/>
            <a:ext cx="9646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 err="1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后续类型学研究中</a:t>
            </a:r>
            <a:r>
              <a:rPr lang="zh-CN" altLang="en-US" sz="20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sz="2000" dirty="0" err="1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德莱尔（Matthew</a:t>
            </a:r>
            <a:r>
              <a:rPr lang="en-US" sz="20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2000" dirty="0" err="1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Dryer）等调整了抽样和统计方法</a:t>
            </a:r>
            <a:r>
              <a:rPr lang="zh-CN" altLang="en-US" sz="20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sz="2000" dirty="0" err="1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对语序和谐性的大规模统计验证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40690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C9A24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3040380"/>
            <a:ext cx="9646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 err="1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</a:rPr>
              <a:t>语言结构并非任意组合</a:t>
            </a:r>
            <a:r>
              <a:rPr lang="zh-CN" altLang="en-US" sz="20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</a:rPr>
              <a:t>，而是遵循一些基本原则，如“语序和谐”</a:t>
            </a:r>
            <a:endParaRPr lang="en-US" sz="2000" dirty="0">
              <a:solidFill>
                <a:srgbClr val="1E2761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50292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C9A24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5029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E3E6EE"/>
            </a:solidFill>
            <a:prstDash val="solid"/>
          </a:ln>
        </p:spPr>
      </p:sp>
      <p:sp>
        <p:nvSpPr>
          <p:cNvPr id="20" name="Text 11">
            <a:extLst>
              <a:ext uri="{FF2B5EF4-FFF2-40B4-BE49-F238E27FC236}">
                <a16:creationId xmlns:a16="http://schemas.microsoft.com/office/drawing/2014/main" id="{0AE2E229-696A-9E50-6B12-D63E616987D8}"/>
              </a:ext>
            </a:extLst>
          </p:cNvPr>
          <p:cNvSpPr txBox="1"/>
          <p:nvPr/>
        </p:nvSpPr>
        <p:spPr>
          <a:xfrm>
            <a:off x="1234440" y="4018788"/>
            <a:ext cx="9646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CN" altLang="en-US" sz="20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格林伯格的语序共性发现了附置词对语序具有较强预测力，但形容词的语序比较灵活</a:t>
            </a:r>
            <a:endParaRPr lang="en-US" sz="2000" dirty="0">
              <a:solidFill>
                <a:srgbClr val="1E2761"/>
              </a:solidFill>
              <a:latin typeface="Microsoft YaHei" pitchFamily="34" charset="0"/>
              <a:ea typeface="Microsoft YaHei" pitchFamily="34" charset="-122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69096" y="-1188720"/>
            <a:ext cx="5486400" cy="5486400"/>
          </a:xfrm>
          <a:prstGeom prst="ellipse">
            <a:avLst/>
          </a:prstGeom>
          <a:solidFill>
            <a:srgbClr val="26306E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291840"/>
            <a:ext cx="3291840" cy="3291840"/>
          </a:xfrm>
          <a:prstGeom prst="ellipse">
            <a:avLst/>
          </a:prstGeom>
          <a:solidFill>
            <a:srgbClr val="222B6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822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24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CLOSING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70712" y="1760220"/>
            <a:ext cx="10911535" cy="0"/>
          </a:xfrm>
          <a:prstGeom prst="line">
            <a:avLst/>
          </a:prstGeom>
          <a:noFill/>
          <a:ln w="9525">
            <a:solidFill>
              <a:srgbClr val="3E4A8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7217" y="2063117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C9A24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参考文献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557223" y="3934778"/>
            <a:ext cx="9372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CADC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Greenberg, J. H. (1963). Some Universals of Grammar with Particular Reference to the Order of Meaningful Elements. In J. H. Greenberg (Ed.), Universals of Language (pp. 73–113). MIT Press.</a:t>
            </a:r>
          </a:p>
          <a:p>
            <a:pPr marL="0" indent="0">
              <a:buNone/>
            </a:pPr>
            <a:endParaRPr lang="en-US" i="1" dirty="0">
              <a:solidFill>
                <a:srgbClr val="CADCFC"/>
              </a:solidFill>
              <a:latin typeface="Helvetica Neue" pitchFamily="34" charset="0"/>
              <a:ea typeface="Helvetica Neue" pitchFamily="34" charset="-122"/>
              <a:cs typeface="Helvetica Neue" pitchFamily="34" charset="-120"/>
            </a:endParaRPr>
          </a:p>
          <a:p>
            <a:r>
              <a:rPr lang="en-US" i="1" dirty="0">
                <a:solidFill>
                  <a:srgbClr val="CADC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Dryer, M, S. (1992) </a:t>
            </a:r>
            <a:r>
              <a:rPr lang="en-US" altLang="zh-CN" i="1" dirty="0">
                <a:solidFill>
                  <a:srgbClr val="CADC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</a:t>
            </a:r>
            <a:r>
              <a:rPr lang="zh-CN" altLang="en-US" i="1" dirty="0">
                <a:solidFill>
                  <a:srgbClr val="CADCFC"/>
                </a:solidFill>
                <a:latin typeface="Helvetica Neue" pitchFamily="34" charset="0"/>
                <a:cs typeface="Helvetica Neue" pitchFamily="34" charset="-120"/>
              </a:rPr>
              <a:t> </a:t>
            </a:r>
            <a:r>
              <a:rPr lang="en-US" altLang="zh-CN" i="1" dirty="0">
                <a:solidFill>
                  <a:srgbClr val="CADC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Greenbergian</a:t>
            </a:r>
            <a:r>
              <a:rPr lang="zh-CN" altLang="en-US" i="1" dirty="0">
                <a:solidFill>
                  <a:srgbClr val="CADCFC"/>
                </a:solidFill>
                <a:latin typeface="Helvetica Neue" pitchFamily="34" charset="0"/>
                <a:cs typeface="Helvetica Neue" pitchFamily="34" charset="-120"/>
              </a:rPr>
              <a:t> </a:t>
            </a:r>
            <a:r>
              <a:rPr lang="en-US" altLang="zh-CN" i="1" dirty="0">
                <a:solidFill>
                  <a:srgbClr val="CADC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word</a:t>
            </a:r>
            <a:r>
              <a:rPr lang="zh-CN" altLang="en-US" i="1" dirty="0">
                <a:solidFill>
                  <a:srgbClr val="CADCFC"/>
                </a:solidFill>
                <a:latin typeface="Helvetica Neue" pitchFamily="34" charset="0"/>
                <a:cs typeface="Helvetica Neue" pitchFamily="34" charset="-120"/>
              </a:rPr>
              <a:t> </a:t>
            </a:r>
            <a:r>
              <a:rPr lang="en-US" altLang="zh-CN" i="1" dirty="0">
                <a:solidFill>
                  <a:srgbClr val="CADC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order</a:t>
            </a:r>
            <a:r>
              <a:rPr lang="zh-CN" altLang="en-US" i="1" dirty="0">
                <a:solidFill>
                  <a:srgbClr val="CADCFC"/>
                </a:solidFill>
                <a:latin typeface="Helvetica Neue" pitchFamily="34" charset="0"/>
                <a:cs typeface="Helvetica Neue" pitchFamily="34" charset="-120"/>
              </a:rPr>
              <a:t> </a:t>
            </a:r>
            <a:r>
              <a:rPr lang="en-US" altLang="zh-CN" i="1" dirty="0">
                <a:solidFill>
                  <a:srgbClr val="CADC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correlations.</a:t>
            </a:r>
            <a:r>
              <a:rPr lang="zh-CN" altLang="en-US" i="1" dirty="0">
                <a:solidFill>
                  <a:srgbClr val="CADCFC"/>
                </a:solidFill>
                <a:latin typeface="Helvetica Neue" pitchFamily="34" charset="0"/>
                <a:cs typeface="Helvetica Neue" pitchFamily="34" charset="-120"/>
              </a:rPr>
              <a:t> </a:t>
            </a:r>
            <a:r>
              <a:rPr lang="en-US" altLang="zh-CN" i="1" dirty="0">
                <a:solidFill>
                  <a:srgbClr val="CADC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Language</a:t>
            </a:r>
            <a:r>
              <a:rPr lang="zh-CN" altLang="en-US" i="1" dirty="0">
                <a:solidFill>
                  <a:srgbClr val="CADCFC"/>
                </a:solidFill>
                <a:latin typeface="Helvetica Neue" pitchFamily="34" charset="0"/>
                <a:cs typeface="Helvetica Neue" pitchFamily="34" charset="-120"/>
              </a:rPr>
              <a:t> </a:t>
            </a:r>
            <a:r>
              <a:rPr lang="en-US" altLang="zh-CN" i="1" dirty="0">
                <a:solidFill>
                  <a:srgbClr val="CADC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68(1)</a:t>
            </a:r>
            <a:r>
              <a:rPr lang="zh-CN" altLang="en-US" i="1" dirty="0">
                <a:solidFill>
                  <a:srgbClr val="CADCFC"/>
                </a:solidFill>
                <a:latin typeface="Helvetica Neue" pitchFamily="34" charset="0"/>
                <a:cs typeface="Helvetica Neue" pitchFamily="34" charset="-120"/>
              </a:rPr>
              <a:t>，</a:t>
            </a:r>
            <a:r>
              <a:rPr lang="en-US" altLang="zh-CN" i="1" dirty="0">
                <a:solidFill>
                  <a:srgbClr val="CADC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81-138.</a:t>
            </a:r>
          </a:p>
          <a:p>
            <a:endParaRPr lang="en-US" altLang="zh-CN" i="1" dirty="0">
              <a:solidFill>
                <a:srgbClr val="CADCFC"/>
              </a:solidFill>
              <a:latin typeface="Helvetica Neue" pitchFamily="34" charset="0"/>
              <a:ea typeface="Helvetica Neue" pitchFamily="34" charset="-122"/>
              <a:cs typeface="Helvetica Neue" pitchFamily="34" charset="-120"/>
            </a:endParaRPr>
          </a:p>
          <a:p>
            <a:r>
              <a:rPr lang="en-US" i="1" dirty="0">
                <a:solidFill>
                  <a:srgbClr val="CADC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Dryer, Matthew S. &amp; </a:t>
            </a:r>
            <a:r>
              <a:rPr lang="en-US" i="1" dirty="0" err="1">
                <a:solidFill>
                  <a:srgbClr val="CADC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Haspelmath</a:t>
            </a:r>
            <a:r>
              <a:rPr lang="en-US" i="1" dirty="0">
                <a:solidFill>
                  <a:srgbClr val="CADC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Martin (eds.) </a:t>
            </a:r>
            <a:r>
              <a:rPr lang="en-US" altLang="zh-CN" i="1" dirty="0">
                <a:solidFill>
                  <a:srgbClr val="CADC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(</a:t>
            </a:r>
            <a:r>
              <a:rPr lang="en-US" i="1" dirty="0">
                <a:solidFill>
                  <a:srgbClr val="CADC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2013</a:t>
            </a:r>
            <a:r>
              <a:rPr lang="en-US" altLang="zh-CN" i="1" dirty="0">
                <a:solidFill>
                  <a:srgbClr val="CADC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)</a:t>
            </a:r>
            <a:r>
              <a:rPr lang="en-US" i="1" dirty="0">
                <a:solidFill>
                  <a:srgbClr val="CADC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 WALS Online (v2020.6) [Data set]. </a:t>
            </a:r>
            <a:r>
              <a:rPr lang="en-US" i="1" dirty="0" err="1">
                <a:solidFill>
                  <a:srgbClr val="CADC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Zenodo</a:t>
            </a:r>
            <a:r>
              <a:rPr lang="en-US" i="1" dirty="0">
                <a:solidFill>
                  <a:srgbClr val="CADC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 https://</a:t>
            </a:r>
            <a:r>
              <a:rPr lang="en-US" i="1" dirty="0" err="1">
                <a:solidFill>
                  <a:srgbClr val="CADC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doi.org</a:t>
            </a:r>
            <a:r>
              <a:rPr lang="en-US" i="1" dirty="0">
                <a:solidFill>
                  <a:srgbClr val="CADC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/10.5281/zenodo.23010827  </a:t>
            </a:r>
          </a:p>
          <a:p>
            <a:endParaRPr lang="en-US" altLang="zh-CN" sz="2400" i="1" dirty="0">
              <a:solidFill>
                <a:srgbClr val="CADCFC"/>
              </a:solidFill>
              <a:latin typeface="Helvetica Neue" pitchFamily="34" charset="0"/>
              <a:ea typeface="Helvetica Neue" pitchFamily="34" charset="-122"/>
              <a:cs typeface="Helvetica Neue" pitchFamily="34" charset="-120"/>
            </a:endParaRPr>
          </a:p>
          <a:p>
            <a:r>
              <a:rPr lang="zh-CN" altLang="en-US" i="1" dirty="0">
                <a:solidFill>
                  <a:srgbClr val="CADCFC"/>
                </a:solidFill>
                <a:latin typeface="PingFang HK" panose="020B0400000000000000" pitchFamily="34" charset="-120"/>
                <a:ea typeface="PingFang HK" panose="020B0400000000000000" pitchFamily="34" charset="-120"/>
                <a:cs typeface="Helvetica Neue" pitchFamily="34" charset="-120"/>
              </a:rPr>
              <a:t>刘丹青（讲授），曹瑞炯（整理）</a:t>
            </a:r>
            <a:r>
              <a:rPr lang="en-US" altLang="zh-CN" i="1" dirty="0">
                <a:solidFill>
                  <a:srgbClr val="CADCFC"/>
                </a:solidFill>
                <a:latin typeface="PingFang HK" panose="020B0400000000000000" pitchFamily="34" charset="-120"/>
                <a:ea typeface="PingFang HK" panose="020B0400000000000000" pitchFamily="34" charset="-120"/>
                <a:cs typeface="Helvetica Neue" pitchFamily="34" charset="-120"/>
              </a:rPr>
              <a:t>(2017)</a:t>
            </a:r>
            <a:r>
              <a:rPr lang="zh-CN" altLang="en-US" i="1" dirty="0">
                <a:solidFill>
                  <a:srgbClr val="CADCFC"/>
                </a:solidFill>
                <a:latin typeface="PingFang HK" panose="020B0400000000000000" pitchFamily="34" charset="-120"/>
                <a:ea typeface="PingFang HK" panose="020B0400000000000000" pitchFamily="34" charset="-120"/>
                <a:cs typeface="Helvetica Neue" pitchFamily="34" charset="-120"/>
              </a:rPr>
              <a:t>  </a:t>
            </a:r>
            <a:r>
              <a:rPr lang="en-US" altLang="zh-CN" i="1" dirty="0">
                <a:solidFill>
                  <a:srgbClr val="CADCFC"/>
                </a:solidFill>
                <a:latin typeface="PingFang HK" panose="020B0400000000000000" pitchFamily="34" charset="-120"/>
                <a:ea typeface="PingFang HK" panose="020B0400000000000000" pitchFamily="34" charset="-120"/>
                <a:cs typeface="Helvetica Neue" pitchFamily="34" charset="-120"/>
              </a:rPr>
              <a:t>《</a:t>
            </a:r>
            <a:r>
              <a:rPr lang="zh-CN" altLang="en-US" i="1" dirty="0">
                <a:solidFill>
                  <a:srgbClr val="CADCFC"/>
                </a:solidFill>
                <a:latin typeface="PingFang HK" panose="020B0400000000000000" pitchFamily="34" charset="-120"/>
                <a:ea typeface="PingFang HK" panose="020B0400000000000000" pitchFamily="34" charset="-120"/>
                <a:cs typeface="Helvetica Neue" pitchFamily="34" charset="-120"/>
              </a:rPr>
              <a:t>语言类型学</a:t>
            </a:r>
            <a:r>
              <a:rPr lang="en-US" altLang="zh-CN" i="1" dirty="0">
                <a:solidFill>
                  <a:srgbClr val="CADCFC"/>
                </a:solidFill>
                <a:latin typeface="PingFang HK" panose="020B0400000000000000" pitchFamily="34" charset="-120"/>
                <a:ea typeface="PingFang HK" panose="020B0400000000000000" pitchFamily="34" charset="-120"/>
                <a:cs typeface="Helvetica Neue" pitchFamily="34" charset="-120"/>
              </a:rPr>
              <a:t>》</a:t>
            </a:r>
            <a:r>
              <a:rPr lang="zh-CN" altLang="en-US" i="1" dirty="0">
                <a:solidFill>
                  <a:srgbClr val="CADCFC"/>
                </a:solidFill>
                <a:latin typeface="PingFang HK" panose="020B0400000000000000" pitchFamily="34" charset="-120"/>
                <a:ea typeface="PingFang HK" panose="020B0400000000000000" pitchFamily="34" charset="-120"/>
                <a:cs typeface="Helvetica Neue" pitchFamily="34" charset="-120"/>
              </a:rPr>
              <a:t>。上海：中西书局。</a:t>
            </a:r>
            <a:endParaRPr lang="en-US" altLang="zh-CN" i="1" dirty="0">
              <a:solidFill>
                <a:srgbClr val="CADCFC"/>
              </a:solidFill>
              <a:latin typeface="PingFang HK" panose="020B0400000000000000" pitchFamily="34" charset="-120"/>
              <a:ea typeface="PingFang HK" panose="020B0400000000000000" pitchFamily="34" charset="-120"/>
              <a:cs typeface="Helvetica Neue" pitchFamily="34" charset="-120"/>
            </a:endParaRPr>
          </a:p>
          <a:p>
            <a:endParaRPr lang="en-US" altLang="zh-CN" i="1" dirty="0">
              <a:solidFill>
                <a:srgbClr val="CADCFC"/>
              </a:solidFill>
              <a:latin typeface="Helvetica Neue" pitchFamily="34" charset="0"/>
              <a:ea typeface="Helvetica Neue" pitchFamily="34" charset="-122"/>
              <a:cs typeface="Helvetica Neue" pitchFamily="34" charset="-12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40080" y="5989320"/>
            <a:ext cx="2011680" cy="0"/>
          </a:xfrm>
          <a:prstGeom prst="line">
            <a:avLst/>
          </a:prstGeom>
          <a:noFill/>
          <a:ln w="25400">
            <a:solidFill>
              <a:srgbClr val="C9A24B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8741</TotalTime>
  <Words>2924</Words>
  <Application>Microsoft Macintosh PowerPoint</Application>
  <PresentationFormat>Widescreen</PresentationFormat>
  <Paragraphs>536</Paragraphs>
  <Slides>38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6" baseType="lpstr">
      <vt:lpstr>Microsoft YaHei</vt:lpstr>
      <vt:lpstr>Microsoft YaHei UI</vt:lpstr>
      <vt:lpstr>PingFang HK</vt:lpstr>
      <vt:lpstr>Arial</vt:lpstr>
      <vt:lpstr>Calibri</vt:lpstr>
      <vt:lpstr>Helvetica</vt:lpstr>
      <vt:lpstr>Helvetica Neue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Yu Li</cp:lastModifiedBy>
  <cp:revision>84</cp:revision>
  <dcterms:created xsi:type="dcterms:W3CDTF">2026-09-20T08:32:25Z</dcterms:created>
  <dcterms:modified xsi:type="dcterms:W3CDTF">2026-10-15T09:38:05Z</dcterms:modified>
</cp:coreProperties>
</file>