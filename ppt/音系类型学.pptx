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0" r:id="rId3"/>
    <p:sldId id="257" r:id="rId4"/>
    <p:sldId id="258" r:id="rId5"/>
    <p:sldId id="259" r:id="rId6"/>
    <p:sldId id="271" r:id="rId7"/>
    <p:sldId id="272" r:id="rId8"/>
    <p:sldId id="273" r:id="rId9"/>
    <p:sldId id="260" r:id="rId10"/>
    <p:sldId id="261" r:id="rId11"/>
    <p:sldId id="262" r:id="rId12"/>
    <p:sldId id="263" r:id="rId13"/>
    <p:sldId id="264" r:id="rId14"/>
    <p:sldId id="274" r:id="rId15"/>
    <p:sldId id="275" r:id="rId16"/>
    <p:sldId id="265" r:id="rId17"/>
    <p:sldId id="266" r:id="rId18"/>
    <p:sldId id="267" r:id="rId19"/>
    <p:sldId id="269" r:id="rId20"/>
    <p:sldId id="268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564"/>
  </p:normalViewPr>
  <p:slideViewPr>
    <p:cSldViewPr snapToGrid="0" snapToObjects="1">
      <p:cViewPr varScale="1">
        <p:scale>
          <a:sx n="122" d="100"/>
          <a:sy n="122" d="100"/>
        </p:scale>
        <p:origin x="4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zh-CN" altLang="en-US" sz="1300" b="0" i="0" u="none" strike="noStrike">
                <a:solidFill>
                  <a:srgbClr val="1E2761"/>
                </a:solidFill>
                <a:latin typeface="Arial"/>
              </a:rPr>
              <a:t>辅音库藏规模分布（</a:t>
            </a:r>
            <a:r>
              <a:rPr lang="en-US" altLang="zh-CN" sz="1300" b="0" i="0" u="none" strike="noStrike">
                <a:solidFill>
                  <a:srgbClr val="1E2761"/>
                </a:solidFill>
                <a:latin typeface="Arial"/>
              </a:rPr>
              <a:t>563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Arial"/>
              </a:rPr>
              <a:t>种语言）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语言数量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小型
6-14</c:v>
                </c:pt>
                <c:pt idx="1">
                  <c:v>中小型
15-18</c:v>
                </c:pt>
                <c:pt idx="2">
                  <c:v>中等
19-25</c:v>
                </c:pt>
                <c:pt idx="3">
                  <c:v>中大型
26-33</c:v>
                </c:pt>
                <c:pt idx="4">
                  <c:v>大型
&gt;33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</c:v>
                </c:pt>
                <c:pt idx="1">
                  <c:v>122</c:v>
                </c:pt>
                <c:pt idx="2">
                  <c:v>201</c:v>
                </c:pt>
                <c:pt idx="3">
                  <c:v>94</c:v>
                </c:pt>
                <c:pt idx="4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5A-2946-A04A-9779564FC7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4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42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32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52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internationalphoneticassociation.org/IPAcharts/IPA_charts_TI/IPA_charts_TI.html#eng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7" Type="http://schemas.openxmlformats.org/officeDocument/2006/relationships/image" Target="../media/image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4.mp3"/><Relationship Id="rId7" Type="http://schemas.openxmlformats.org/officeDocument/2006/relationships/image" Target="../media/image5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4.mp3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mp3"/><Relationship Id="rId3" Type="http://schemas.microsoft.com/office/2007/relationships/media" Target="../media/media6.mp3"/><Relationship Id="rId7" Type="http://schemas.microsoft.com/office/2007/relationships/media" Target="../media/media8.mp3"/><Relationship Id="rId12" Type="http://schemas.openxmlformats.org/officeDocument/2006/relationships/image" Target="../media/image5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audio" Target="../media/media7.mp3"/><Relationship Id="rId11" Type="http://schemas.openxmlformats.org/officeDocument/2006/relationships/image" Target="../media/image13.png"/><Relationship Id="rId5" Type="http://schemas.microsoft.com/office/2007/relationships/media" Target="../media/media7.mp3"/><Relationship Id="rId10" Type="http://schemas.openxmlformats.org/officeDocument/2006/relationships/notesSlide" Target="../notesSlides/notesSlide10.xml"/><Relationship Id="rId4" Type="http://schemas.openxmlformats.org/officeDocument/2006/relationships/audio" Target="../media/media6.mp3"/><Relationship Id="rId9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thony_Traill_(linguist)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chive.org/details/xdictionary00anth/page/23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222B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语言类型学  ·  LINGUISTIC TYPOLOGY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音系类型学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Phonological Typology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人类语言的语音库藏——辅音、元音与声调系统的跨语言分布规律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WHU 语言类型学  ·  LinType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D7861E8F-5DA7-55DE-EB1C-5A61F19C4141}"/>
              </a:ext>
            </a:extLst>
          </p:cNvPr>
          <p:cNvSpPr/>
          <p:nvPr/>
        </p:nvSpPr>
        <p:spPr>
          <a:xfrm>
            <a:off x="673210" y="430612"/>
            <a:ext cx="2805486" cy="5996775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lstStyle/>
          <a:p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音段成分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endParaRPr lang="en-US" altLang="zh-CN" sz="28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元音</a:t>
            </a:r>
            <a:endParaRPr lang="en-US" altLang="zh-CN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辅音</a:t>
            </a:r>
            <a:endParaRPr lang="en-US" altLang="zh-CN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sz="3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超音段成分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:</a:t>
            </a:r>
          </a:p>
          <a:p>
            <a:r>
              <a:rPr lang="zh-CN" alt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声调</a:t>
            </a:r>
            <a:endParaRPr lang="en-US" altLang="zh-CN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重音</a:t>
            </a:r>
            <a:endParaRPr lang="en-US" altLang="zh-CN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语调</a:t>
            </a:r>
            <a:endParaRPr lang="en-US" altLang="zh-CN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国际音标（</a:t>
            </a:r>
            <a:r>
              <a:rPr lang="en-US" altLang="zh-CN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IPA)</a:t>
            </a:r>
          </a:p>
          <a:p>
            <a:r>
              <a:rPr lang="en-US" altLang="zh-CN" sz="16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hlinkClick r:id="rId2"/>
              </a:rPr>
              <a:t>https://www.internationalphoneticassociation.org/IPAcharts/IPA_charts_TI/IPA_charts_TI.html#eng</a:t>
            </a:r>
            <a:endParaRPr lang="en-US" altLang="zh-CN" sz="1600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sz="1600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Helvetica Neue" panose="02000503000000020004" pitchFamily="2" charset="0"/>
              </a:rPr>
              <a:t>APP</a:t>
            </a:r>
            <a:r>
              <a:rPr lang="zh-CN" altLang="en-US" sz="1600" b="1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Helvetica Neue" panose="02000503000000020004" pitchFamily="2" charset="0"/>
              </a:rPr>
              <a:t>“</a:t>
            </a:r>
            <a:r>
              <a:rPr lang="en-US" sz="16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AV phonetics”</a:t>
            </a:r>
          </a:p>
          <a:p>
            <a:endParaRPr lang="en-US" sz="16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E0B52-6303-F2C9-6BB0-F5EB61870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96" y="5278037"/>
            <a:ext cx="1206500" cy="1149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73184C-4695-DC49-404E-5C2B31266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818" y="382691"/>
            <a:ext cx="7772400" cy="3046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51FE8C-0ADD-710D-EF11-F57D36E2F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117" y="3684362"/>
            <a:ext cx="3546764" cy="2894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B81F37-E92C-B9E5-2B10-F5EBF8148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0021" y="3932088"/>
            <a:ext cx="3091341" cy="264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5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辅音系统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辅音库藏的大小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人类语言的辅音数量差异极大，跨语言分布呈明显的正偏态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6–</a:t>
            </a:r>
            <a:r>
              <a:rPr lang="en-US" altLang="zh-CN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78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个辅音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07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跨语言辅音数量范围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（个别语言如!Xóõ达122个）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22.7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61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个/语言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9087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平均库藏大小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（Maddieson 2013，563种语言）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657600" y="1783080"/>
          <a:ext cx="78638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486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 </a:t>
            </a:r>
            <a:r>
              <a:rPr lang="en-US" sz="12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英语约 24 个辅音、汉语普通话约 22 个辅音，都接近跨语言的平均水平；辅音数量最少的语言集中在南美、太平洋和北美东部，最多的集中在非洲南部（科伊桑语系）。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vs 最大辅音库藏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最小库藏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146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个辅音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罗卡托斯语  Rotokas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巴布亚新几内亚，布干维尔语系（中部方言）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977640"/>
            <a:ext cx="4526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仅有 6 个塞音辅音：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/p, t, k, b, d, g/ ——是已知最小的辅音库藏之一。
</a:t>
            </a:r>
            <a:r>
              <a:rPr lang="en-US" sz="1600" b="1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语言中最先使用的</a:t>
            </a:r>
            <a:r>
              <a:rPr lang="zh-CN" alt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“简单”辅音</a:t>
            </a: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
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p,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t,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k,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ʔ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d,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g,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f, s, h, </a:t>
            </a:r>
            <a:r>
              <a:rPr lang="en-US" altLang="zh-CN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tʃ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m, n, l, r, w, j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57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最大库藏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5146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88-122</a:t>
            </a: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个辅音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154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塔语</a:t>
            </a:r>
            <a:r>
              <a:rPr lang="en-US" sz="1600" i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i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i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!</a:t>
            </a:r>
            <a:r>
              <a:rPr lang="en-US" sz="1600" i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Xóõ</a:t>
            </a:r>
            <a:endParaRPr lang="en-US" sz="1600" i="1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83680" y="35204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博茨瓦纳，柯依桑语系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977640"/>
            <a:ext cx="4526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构成方式（Tr</a:t>
            </a:r>
            <a:r>
              <a:rPr lang="en-US" altLang="zh-CN" sz="13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aill</a:t>
            </a: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199</a:t>
            </a:r>
            <a:r>
              <a:rPr lang="en-US" altLang="zh-CN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zh-CN" alt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，东部方言</a:t>
            </a: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）：
</a:t>
            </a:r>
            <a:r>
              <a:rPr lang="en-US" sz="13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</a:t>
            </a:r>
            <a:r>
              <a:rPr lang="en-US" altLang="zh-CN" sz="13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3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00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个非搭嘴辅音</a:t>
            </a:r>
            <a:r>
              <a:rPr lang="en-US" sz="13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• 5</a:t>
            </a:r>
            <a:r>
              <a:rPr lang="en-US" altLang="zh-CN" sz="13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3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个搭嘴音（clicks）
</a:t>
            </a:r>
            <a:r>
              <a:rPr lang="en-US" sz="1300" i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搭嘴音的数量本身，占了全部辅音库藏的一半以上——可能是世界上辅音数量最多的语言之一。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罕见特征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罕见辅音类型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Maddieson (2013)，56</a:t>
            </a:r>
            <a:r>
              <a:rPr lang="en-US" altLang="zh-CN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种语言样本中的分布比例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10/56</a:t>
            </a:r>
            <a:r>
              <a:rPr lang="en-US" altLang="zh-CN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搭嘴音 Clicks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404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集中于非洲南部科伊桑语系（如桑达韦语，坦桑尼亚，三组搭嘴音）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45/56</a:t>
            </a:r>
            <a:r>
              <a:rPr lang="en-US" altLang="zh-CN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双唇-软腭塞音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labial-velar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plosive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8404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[k͡p]，主要分布于西非-中非（埃维语、约鲁巴语）及新几内亚东端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24/56</a:t>
            </a:r>
            <a:r>
              <a:rPr lang="en-US" altLang="zh-CN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咽音</a:t>
            </a:r>
            <a:r>
              <a:rPr lang="zh-CN" alt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pharyngeals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8404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跨语言分布同样十分有限的罕见辅音类型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43/56</a:t>
            </a:r>
            <a:r>
              <a:rPr lang="en-US" altLang="zh-CN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齿间擦音</a:t>
            </a:r>
            <a:r>
              <a:rPr lang="zh-CN" alt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dental</a:t>
            </a:r>
            <a:r>
              <a:rPr lang="zh-CN" alt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fricatives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38404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</a:t>
            </a: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</a:t>
            </a: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’/</a:t>
            </a: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</a:t>
            </a: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ð</a:t>
            </a: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e.g. this [</a:t>
            </a: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ð</a:t>
            </a: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], thin [</a:t>
            </a: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</a:t>
            </a: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常见于印欧语系部分语言，但跨语言总体比例不高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罕见特征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双唇</a:t>
            </a:r>
            <a:r>
              <a:rPr lang="en-US" altLang="zh-CN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软腭塞音（</a:t>
            </a:r>
            <a:r>
              <a:rPr lang="en-US" altLang="zh-CN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labial-velar</a:t>
            </a:r>
            <a:r>
              <a:rPr lang="zh-CN" alt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plosive</a:t>
            </a:r>
            <a:r>
              <a:rPr lang="zh-CN" alt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埃维语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(Ewe) (</a:t>
            </a:r>
            <a:r>
              <a:rPr lang="en-US" sz="13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非洲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，尼日尔</a:t>
            </a:r>
            <a:r>
              <a:rPr lang="en-US" altLang="zh-CN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刚果语系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84911" y="248538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双唇-软腭塞音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9F9534-34F6-CD5D-8929-C17CE6309870}"/>
              </a:ext>
            </a:extLst>
          </p:cNvPr>
          <p:cNvSpPr txBox="1"/>
          <p:nvPr/>
        </p:nvSpPr>
        <p:spPr>
          <a:xfrm>
            <a:off x="774123" y="2053828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双唇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-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软腭塞音</a:t>
            </a:r>
            <a:r>
              <a:rPr lang="en-US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endParaRPr 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1DA57D3-91D2-9898-5672-44FF21B42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850217"/>
              </p:ext>
            </p:extLst>
          </p:nvPr>
        </p:nvGraphicFramePr>
        <p:xfrm>
          <a:off x="838199" y="2557995"/>
          <a:ext cx="10515601" cy="3138739"/>
        </p:xfrm>
        <a:graphic>
          <a:graphicData uri="http://schemas.openxmlformats.org/drawingml/2006/table">
            <a:tbl>
              <a:tblPr/>
              <a:tblGrid>
                <a:gridCol w="2231748">
                  <a:extLst>
                    <a:ext uri="{9D8B030D-6E8A-4147-A177-3AD203B41FA5}">
                      <a16:colId xmlns:a16="http://schemas.microsoft.com/office/drawing/2014/main" val="935298402"/>
                    </a:ext>
                  </a:extLst>
                </a:gridCol>
                <a:gridCol w="2237245">
                  <a:extLst>
                    <a:ext uri="{9D8B030D-6E8A-4147-A177-3AD203B41FA5}">
                      <a16:colId xmlns:a16="http://schemas.microsoft.com/office/drawing/2014/main" val="2474069279"/>
                    </a:ext>
                  </a:extLst>
                </a:gridCol>
                <a:gridCol w="3023304">
                  <a:extLst>
                    <a:ext uri="{9D8B030D-6E8A-4147-A177-3AD203B41FA5}">
                      <a16:colId xmlns:a16="http://schemas.microsoft.com/office/drawing/2014/main" val="159574905"/>
                    </a:ext>
                  </a:extLst>
                </a:gridCol>
                <a:gridCol w="3023304">
                  <a:extLst>
                    <a:ext uri="{9D8B030D-6E8A-4147-A177-3AD203B41FA5}">
                      <a16:colId xmlns:a16="http://schemas.microsoft.com/office/drawing/2014/main" val="3696671665"/>
                    </a:ext>
                  </a:extLst>
                </a:gridCol>
              </a:tblGrid>
              <a:tr h="780562">
                <a:tc>
                  <a:txBody>
                    <a:bodyPr/>
                    <a:lstStyle/>
                    <a:p>
                      <a:br>
                        <a:rPr lang="en-US" sz="2400">
                          <a:effectLst/>
                          <a:latin typeface="Helvetica" pitchFamily="2" charset="0"/>
                        </a:rPr>
                      </a:br>
                      <a:endParaRPr lang="en-US" sz="2400">
                        <a:effectLst/>
                        <a:latin typeface="Helvetica" pitchFamily="2" charset="0"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双唇</a:t>
                      </a:r>
                      <a:endParaRPr lang="zh-CN" alt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软腭</a:t>
                      </a:r>
                      <a:endParaRPr lang="zh-CN" alt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双唇</a:t>
                      </a:r>
                      <a:r>
                        <a:rPr lang="en-US" altLang="zh-CN" sz="24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</a:t>
                      </a: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软腭</a:t>
                      </a:r>
                      <a:endParaRPr lang="zh-CN" altLang="en-US" sz="2400" dirty="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501308"/>
                  </a:ext>
                </a:extLst>
              </a:tr>
              <a:tr h="78605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清</a:t>
                      </a:r>
                      <a:endParaRPr lang="zh-CN" alt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pàpá ‘father’</a:t>
                      </a:r>
                      <a:endParaRPr 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kú ‘to die’</a:t>
                      </a:r>
                      <a:endParaRPr 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k͡pè ‘heavy’</a:t>
                      </a:r>
                      <a:endParaRPr 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131115"/>
                  </a:ext>
                </a:extLst>
              </a:tr>
              <a:tr h="786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pé ‘chisel’</a:t>
                      </a:r>
                      <a:endParaRPr 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kɔ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́ ‘tall’</a:t>
                      </a:r>
                      <a:endParaRPr lang="en-US" sz="2400" dirty="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k͡pɔ́ ‘to see’</a:t>
                      </a:r>
                      <a:endParaRPr 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153365"/>
                  </a:ext>
                </a:extLst>
              </a:tr>
              <a:tr h="786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浊</a:t>
                      </a:r>
                      <a:endParaRPr lang="zh-CN" alt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biá ‘to ask’</a:t>
                      </a:r>
                      <a:endParaRPr 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gà ‘money’</a:t>
                      </a:r>
                      <a:endParaRPr lang="en-US" sz="240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g͡be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̀ ‘voice’</a:t>
                      </a:r>
                      <a:endParaRPr lang="en-US" sz="2400" dirty="0">
                        <a:effectLst/>
                      </a:endParaRPr>
                    </a:p>
                    <a:p>
                      <a:pPr algn="ctr"/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g͡bɔ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́ ‘side, vicinity’</a:t>
                      </a:r>
                      <a:endParaRPr lang="en-US" sz="2400" dirty="0">
                        <a:effectLst/>
                      </a:endParaRPr>
                    </a:p>
                  </a:txBody>
                  <a:tcPr marL="21988" marR="21988" marT="21988" marB="2198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98481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B83AFB11-9C3D-E0EA-9958-98DF32AB5E28}"/>
              </a:ext>
            </a:extLst>
          </p:cNvPr>
          <p:cNvSpPr txBox="1"/>
          <p:nvPr/>
        </p:nvSpPr>
        <p:spPr>
          <a:xfrm>
            <a:off x="2239240" y="5869207"/>
            <a:ext cx="8047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search.bilibili.com</a:t>
            </a:r>
            <a:r>
              <a:rPr lang="en-US" dirty="0"/>
              <a:t>/</a:t>
            </a:r>
            <a:r>
              <a:rPr lang="en-US" dirty="0" err="1"/>
              <a:t>all?vt</a:t>
            </a:r>
            <a:r>
              <a:rPr lang="en-US" dirty="0"/>
              <a:t>=78515065&amp;keyword=</a:t>
            </a:r>
            <a:r>
              <a:rPr lang="en-US" dirty="0" err="1"/>
              <a:t>埃维语字母歌&amp;from_source</a:t>
            </a:r>
            <a:r>
              <a:rPr lang="en-US" dirty="0"/>
              <a:t>=</a:t>
            </a:r>
            <a:r>
              <a:rPr lang="en-US" dirty="0" err="1"/>
              <a:t>web_search&amp;spm_id_from</a:t>
            </a:r>
            <a:r>
              <a:rPr lang="en-US" dirty="0"/>
              <a:t>=333.788&amp;search_source=5</a:t>
            </a:r>
          </a:p>
        </p:txBody>
      </p:sp>
      <p:pic>
        <p:nvPicPr>
          <p:cNvPr id="32" name="Voiced_labial-velar_plosive.mp3">
            <a:hlinkClick r:id="" action="ppaction://media"/>
            <a:extLst>
              <a:ext uri="{FF2B5EF4-FFF2-40B4-BE49-F238E27FC236}">
                <a16:creationId xmlns:a16="http://schemas.microsoft.com/office/drawing/2014/main" id="{A16C2838-384D-F720-6022-771DCB6F2A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47771" y="1444098"/>
            <a:ext cx="812800" cy="8128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F93885F-2D5B-7B4E-1837-ED023D6980FC}"/>
              </a:ext>
            </a:extLst>
          </p:cNvPr>
          <p:cNvSpPr txBox="1"/>
          <p:nvPr/>
        </p:nvSpPr>
        <p:spPr>
          <a:xfrm>
            <a:off x="5418858" y="1665832"/>
            <a:ext cx="1304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g͡b</a:t>
            </a:r>
            <a:r>
              <a:rPr lang="en-US" sz="24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endParaRPr lang="en-US" sz="2400" dirty="0"/>
          </a:p>
        </p:txBody>
      </p:sp>
      <p:pic>
        <p:nvPicPr>
          <p:cNvPr id="36" name="Voiceless_labial-velar_plosive.mp3">
            <a:hlinkClick r:id="" action="ppaction://media"/>
            <a:extLst>
              <a:ext uri="{FF2B5EF4-FFF2-40B4-BE49-F238E27FC236}">
                <a16:creationId xmlns:a16="http://schemas.microsoft.com/office/drawing/2014/main" id="{E19A68E9-83BF-71C2-E331-08B165E4BCC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644024" y="1417320"/>
            <a:ext cx="812800" cy="8128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C7253F4-E72D-FBF2-AECC-F4F682D882E6}"/>
              </a:ext>
            </a:extLst>
          </p:cNvPr>
          <p:cNvSpPr txBox="1"/>
          <p:nvPr/>
        </p:nvSpPr>
        <p:spPr>
          <a:xfrm>
            <a:off x="9942368" y="1665832"/>
            <a:ext cx="867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k͡p</a:t>
            </a:r>
            <a:r>
              <a:rPr lang="en-US" sz="24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8310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968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9652E2-A401-FCE8-313C-71E88BE9654A}"/>
              </a:ext>
            </a:extLst>
          </p:cNvPr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罕见特征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85931E-846A-888D-5041-11A40EBF45E5}"/>
              </a:ext>
            </a:extLst>
          </p:cNvPr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咽音（</a:t>
            </a:r>
            <a:r>
              <a:rPr lang="en-US" altLang="zh-CN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pharyngeals</a:t>
            </a:r>
            <a:r>
              <a:rPr lang="zh-CN" alt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5DD901-29B2-E3E8-B9FA-0145AD70A184}"/>
              </a:ext>
            </a:extLst>
          </p:cNvPr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Ingush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</a:t>
            </a:r>
            <a:r>
              <a:rPr lang="en-US" sz="13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俄罗斯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，高加索语系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6C59B-2BB0-CE34-CDED-F4034EAA3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053" y="461356"/>
            <a:ext cx="7772400" cy="597952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365A16-48A2-01CF-262B-29019C2CEE1B}"/>
              </a:ext>
            </a:extLst>
          </p:cNvPr>
          <p:cNvSpPr/>
          <p:nvPr/>
        </p:nvSpPr>
        <p:spPr>
          <a:xfrm>
            <a:off x="10328564" y="457200"/>
            <a:ext cx="1122218" cy="47902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pic>
        <p:nvPicPr>
          <p:cNvPr id="8" name="Epiglottal_stop.mp3">
            <a:hlinkClick r:id="" action="ppaction://media"/>
            <a:extLst>
              <a:ext uri="{FF2B5EF4-FFF2-40B4-BE49-F238E27FC236}">
                <a16:creationId xmlns:a16="http://schemas.microsoft.com/office/drawing/2014/main" id="{CF5E1E73-CBB2-7B11-0538-258B9D0AA7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62558" y="3978741"/>
            <a:ext cx="812800" cy="81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46ECE9-C532-0866-2513-6382912E8B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1227" y="1817257"/>
            <a:ext cx="1987723" cy="19665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619AF1-05D9-220E-4EA5-0D8C69E44E1D}"/>
              </a:ext>
            </a:extLst>
          </p:cNvPr>
          <p:cNvSpPr txBox="1"/>
          <p:nvPr/>
        </p:nvSpPr>
        <p:spPr>
          <a:xfrm>
            <a:off x="961305" y="4154308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  <a:r>
              <a:rPr lang="en-US" sz="2400" dirty="0" err="1"/>
              <a:t>ʡ</a:t>
            </a:r>
            <a:r>
              <a:rPr lang="en-US" sz="2400" dirty="0"/>
              <a:t>/</a:t>
            </a:r>
          </a:p>
        </p:txBody>
      </p:sp>
      <p:pic>
        <p:nvPicPr>
          <p:cNvPr id="14" name="Voiceless_pharyngeal_fricative.mp3">
            <a:hlinkClick r:id="" action="ppaction://media"/>
            <a:extLst>
              <a:ext uri="{FF2B5EF4-FFF2-40B4-BE49-F238E27FC236}">
                <a16:creationId xmlns:a16="http://schemas.microsoft.com/office/drawing/2014/main" id="{BAAA0AF2-2D77-A6F3-D656-4831235029D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16167" y="5302674"/>
            <a:ext cx="812800" cy="812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A1DE2E-706A-B9C7-2549-9A812784DA36}"/>
              </a:ext>
            </a:extLst>
          </p:cNvPr>
          <p:cNvSpPr txBox="1"/>
          <p:nvPr/>
        </p:nvSpPr>
        <p:spPr>
          <a:xfrm>
            <a:off x="935657" y="5434754"/>
            <a:ext cx="585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  <a:r>
              <a:rPr lang="en-US" sz="2400" dirty="0" err="1"/>
              <a:t>ħ</a:t>
            </a:r>
            <a:r>
              <a:rPr lang="en-US" sz="24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6192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35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FEA184-B38D-A976-ED60-D6C382280EAB}"/>
              </a:ext>
            </a:extLst>
          </p:cNvPr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罕见特征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84721-6FFB-F9C6-E0BB-71B5D9769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64" y="1653142"/>
            <a:ext cx="4733644" cy="49243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B91BBB-0DB5-DA89-3ECD-E7044571A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8" y="2254827"/>
            <a:ext cx="6575100" cy="334587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4222157-5EB4-843F-9BC9-855F08E5189E}"/>
              </a:ext>
            </a:extLst>
          </p:cNvPr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罕见辅音分布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079AC-4DB4-0CCA-AE85-C0FABF5737A3}"/>
              </a:ext>
            </a:extLst>
          </p:cNvPr>
          <p:cNvSpPr txBox="1"/>
          <p:nvPr/>
        </p:nvSpPr>
        <p:spPr>
          <a:xfrm>
            <a:off x="3527714" y="1030525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Maddieson</a:t>
            </a:r>
            <a:r>
              <a:rPr lang="en-US" sz="18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(2013)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10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缺位模式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常见辅音的缺位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有些语言恰恰缺少跨语言最常见的辅音类型——Maddieson (2013)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5/567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0" cy="868680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20665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无双唇音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4871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如维奇塔语（Wichita，卡多语系，美国）——世界上仅约 1% 的语言完全没有双唇辅音。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7530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879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49/567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3593592"/>
            <a:ext cx="0" cy="868680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35570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无擦音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77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缺乏任何擦音的语言比例明显高于缺乏双唇音或鼻辅音的语言。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01184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6577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6784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12/567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8920" y="5084064"/>
            <a:ext cx="0" cy="868680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63240" y="50474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无鼻辅音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546811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如罗卡托斯语（Rotokas）。</a:t>
            </a:r>
            <a:r>
              <a:rPr lang="en-US" sz="14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大多数缺乏鼻辅音的语言，都以口元音／鼻化元音的对立作为补偿</a:t>
            </a:r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元音系统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元音库藏：从 2 到 14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人类语言中的元音音素数量在 2–14 个之间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40138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8966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个元音（最小）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85232"/>
            <a:ext cx="39111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西北高加索语系语言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（卡尔巴德语、阿布哈兹语、阿巴扎语）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95307" y="408415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6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4807529" y="4945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个元音（52%）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0778" y="5341921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简单元音数量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略低于</a:t>
            </a: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 </a:t>
            </a:r>
            <a:r>
              <a:rPr lang="en-US" sz="16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个的语言比例最高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27032" y="410295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8487296" y="4937055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个元音（最大）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513618" y="5320455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日耳曼语族语言（德语）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部分方言对立数可能更多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C168567-7AB7-9E0D-579B-FB1FEBFF4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562" y="347537"/>
            <a:ext cx="5386991" cy="370737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D8110F2-DEBB-E7E3-D145-CAB45EF20DF1}"/>
              </a:ext>
            </a:extLst>
          </p:cNvPr>
          <p:cNvSpPr txBox="1"/>
          <p:nvPr/>
        </p:nvSpPr>
        <p:spPr>
          <a:xfrm>
            <a:off x="640080" y="2623261"/>
            <a:ext cx="44707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</a:t>
            </a:r>
            <a:r>
              <a:rPr lang="en-US" sz="2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 [e] [a] [o] [u]</a:t>
            </a:r>
            <a:r>
              <a:rPr lang="en-US" sz="18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8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是跨语言最常见的</a:t>
            </a:r>
            <a:r>
              <a:rPr lang="en-US" sz="18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 </a:t>
            </a:r>
            <a:r>
              <a:rPr lang="en-US" sz="18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个元音（Ladefoged</a:t>
            </a:r>
            <a:r>
              <a:rPr lang="en-US" sz="18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&amp; </a:t>
            </a:r>
            <a:r>
              <a:rPr lang="en-US" sz="18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Disner</a:t>
            </a:r>
            <a:r>
              <a:rPr lang="en-US" sz="18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2001）。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元音库藏的两极：阿巴扎语 vs 德语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783080"/>
            <a:ext cx="5334001" cy="4325112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0752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阿巴扎语  Abaza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57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西北高加索语系  ·  Arkadiev (2020)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4740333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/a/–/ə/ </a:t>
            </a:r>
            <a:r>
              <a:rPr lang="en-US" sz="14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两个元音音位构成对立，是已知最小的元音库藏之一</a:t>
            </a: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ẑə</a:t>
            </a:r>
            <a:r>
              <a:rPr lang="en-US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- ‘nine’   vs. </a:t>
            </a:r>
            <a:r>
              <a:rPr lang="en-US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ẑa</a:t>
            </a:r>
            <a:r>
              <a:rPr lang="en-US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- ‘ten’</a:t>
            </a: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但实际发音中，通过与滑音组合产生更丰富的语音表现：
</a:t>
            </a: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[a]+[j] → [e]</a:t>
            </a:r>
            <a:endParaRPr lang="en-US" dirty="0"/>
          </a:p>
          <a:p>
            <a:pPr marL="0" indent="0">
              <a:lnSpc>
                <a:spcPct val="14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[a]+[w] → [o]</a:t>
            </a:r>
            <a:endParaRPr lang="en-US" dirty="0"/>
          </a:p>
          <a:p>
            <a:pPr marL="0" indent="0">
              <a:lnSpc>
                <a:spcPct val="14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[ə]+[j] → [i]</a:t>
            </a:r>
            <a:endParaRPr lang="en-US" dirty="0"/>
          </a:p>
          <a:p>
            <a:pPr marL="0" indent="0">
              <a:lnSpc>
                <a:spcPct val="14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[ə]+[w] → [u]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2" y="1783080"/>
            <a:ext cx="5257798" cy="4325112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德语  German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103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日耳曼语族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68880"/>
            <a:ext cx="4782312" cy="35343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个单元音</a:t>
            </a: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4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是规模最大的元音库藏之一。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EDDA86-5B49-C349-8755-467DD6AD7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964" y="2880360"/>
            <a:ext cx="3421711" cy="3506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罕见元音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罕见元音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罕见元音  [ɞ] 与 [ɜ]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79192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[ɞ]  半开、央、圆唇元音
</a:t>
            </a:r>
            <a:r>
              <a:rPr lang="en-US" sz="16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德语上萨克森方言（Upper Saxon）中存在这一元音，是该方言 5 个非咽化短元音之一；非重读时会弱化为 [ə]。
</a:t>
            </a: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[ɜ]  半开、央、非圆唇元音
</a:t>
            </a:r>
            <a:r>
              <a:rPr lang="en-US" sz="16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多作为 [ɨ] 或 [ə] 的变体存在；作为独立音位出现在巴西卡内拉语（Canela，让语系）方言中。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31EDA-A442-6B5B-D3AA-3B364127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02" y="1572768"/>
            <a:ext cx="6272509" cy="2270362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59632ECB-5B9A-94E7-9B5C-4C35E40D5E9E}"/>
              </a:ext>
            </a:extLst>
          </p:cNvPr>
          <p:cNvSpPr txBox="1"/>
          <p:nvPr/>
        </p:nvSpPr>
        <p:spPr>
          <a:xfrm>
            <a:off x="6096000" y="116128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德语上萨克森方言</a:t>
            </a:r>
            <a:r>
              <a:rPr lang="en-US" altLang="zh-CN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/</a:t>
            </a:r>
            <a:r>
              <a:rPr lang="en-US" sz="17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ɞ</a:t>
            </a:r>
            <a:r>
              <a:rPr lang="en-US" altLang="zh-CN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/</a:t>
            </a:r>
            <a:endParaRPr lang="en-US" sz="17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B846B453-4919-B430-EB8D-7394A1991AF7}"/>
              </a:ext>
            </a:extLst>
          </p:cNvPr>
          <p:cNvSpPr txBox="1"/>
          <p:nvPr/>
        </p:nvSpPr>
        <p:spPr>
          <a:xfrm>
            <a:off x="6096000" y="341289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卡内拉语</a:t>
            </a:r>
            <a:r>
              <a:rPr lang="en-US" altLang="zh-CN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/</a:t>
            </a:r>
            <a:r>
              <a:rPr lang="en-US" sz="1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ɜ</a:t>
            </a:r>
            <a:r>
              <a:rPr lang="en-US" altLang="zh-CN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/</a:t>
            </a:r>
            <a:endParaRPr lang="en-US" sz="17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786E918-0146-AFBC-B968-2D11B12C6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25551"/>
              </p:ext>
            </p:extLst>
          </p:nvPr>
        </p:nvGraphicFramePr>
        <p:xfrm>
          <a:off x="6096000" y="3843130"/>
          <a:ext cx="5818633" cy="2572835"/>
        </p:xfrm>
        <a:graphic>
          <a:graphicData uri="http://schemas.openxmlformats.org/drawingml/2006/table">
            <a:tbl>
              <a:tblPr/>
              <a:tblGrid>
                <a:gridCol w="848139">
                  <a:extLst>
                    <a:ext uri="{9D8B030D-6E8A-4147-A177-3AD203B41FA5}">
                      <a16:colId xmlns:a16="http://schemas.microsoft.com/office/drawing/2014/main" val="1657347584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2825265447"/>
                    </a:ext>
                  </a:extLst>
                </a:gridCol>
                <a:gridCol w="1762540">
                  <a:extLst>
                    <a:ext uri="{9D8B030D-6E8A-4147-A177-3AD203B41FA5}">
                      <a16:colId xmlns:a16="http://schemas.microsoft.com/office/drawing/2014/main" val="3699542463"/>
                    </a:ext>
                  </a:extLst>
                </a:gridCol>
                <a:gridCol w="1736963">
                  <a:extLst>
                    <a:ext uri="{9D8B030D-6E8A-4147-A177-3AD203B41FA5}">
                      <a16:colId xmlns:a16="http://schemas.microsoft.com/office/drawing/2014/main" val="590735109"/>
                    </a:ext>
                  </a:extLst>
                </a:gridCol>
              </a:tblGrid>
              <a:tr h="465419">
                <a:tc>
                  <a:txBody>
                    <a:bodyPr/>
                    <a:lstStyle/>
                    <a:p>
                      <a:pPr algn="ctr"/>
                      <a:br>
                        <a:rPr lang="en-US" sz="1400" dirty="0">
                          <a:effectLst/>
                          <a:latin typeface="Helvetica" pitchFamily="2" charset="0"/>
                        </a:rPr>
                      </a:b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央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后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465941"/>
                  </a:ext>
                </a:extLst>
              </a:tr>
              <a:tr h="465419">
                <a:tc>
                  <a:txBody>
                    <a:bodyPr/>
                    <a:lstStyle/>
                    <a:p>
                      <a:pPr algn="ctr"/>
                      <a:br>
                        <a:rPr lang="en-US" sz="1400" dirty="0">
                          <a:effectLst/>
                          <a:latin typeface="Helvetica" pitchFamily="2" charset="0"/>
                        </a:rPr>
                      </a:b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不圆唇</a:t>
                      </a:r>
                      <a:endParaRPr lang="zh-CN" alt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不圆唇</a:t>
                      </a:r>
                      <a:endParaRPr lang="zh-CN" alt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圆唇</a:t>
                      </a:r>
                      <a:endParaRPr lang="zh-CN" alt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93202"/>
                  </a:ext>
                </a:extLst>
              </a:tr>
              <a:tr h="2804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闭</a:t>
                      </a:r>
                      <a:endParaRPr lang="zh-CN" alt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]: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protti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‘frog’</a:t>
                      </a:r>
                      <a:endParaRPr lang="en-US" sz="1400" dirty="0">
                        <a:effectLst/>
                      </a:endParaRPr>
                    </a:p>
                  </a:txBody>
                  <a:tcPr marL="29497" marR="29497" marT="29497" marB="29497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[ɨ]: kukrɨt ‘tapir’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[u]: mut ‘neck’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177184"/>
                  </a:ext>
                </a:extLst>
              </a:tr>
              <a:tr h="4176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半闭</a:t>
                      </a:r>
                      <a:endParaRPr lang="zh-CN" alt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[e]: pi ‘to bend’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[ə]: kʰwər ‘manioc’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[o]: kokoj ‘monkey’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109593"/>
                  </a:ext>
                </a:extLst>
              </a:tr>
              <a:tr h="4176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半开</a:t>
                      </a:r>
                      <a:endParaRPr lang="zh-CN" alt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[ɛ]: tɛp ‘fish’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6000E"/>
                          </a:solidFill>
                          <a:effectLst/>
                          <a:latin typeface="Helvetica Neue" panose="02000503000000020004" pitchFamily="2" charset="0"/>
                        </a:rPr>
                        <a:t>[ɜ]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: pɜt ‘anteater’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[ɔ]: rɔʔti ‘anaconda’</a:t>
                      </a:r>
                      <a:endParaRPr 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348198"/>
                  </a:ext>
                </a:extLst>
              </a:tr>
              <a:tr h="4654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  <a:latin typeface="PingFang SC" panose="020B0400000000000000" pitchFamily="34" charset="-122"/>
                          <a:ea typeface="PingFang SC" panose="020B0400000000000000" pitchFamily="34" charset="-122"/>
                        </a:rPr>
                        <a:t>开</a:t>
                      </a:r>
                      <a:endParaRPr lang="zh-CN" altLang="en-US" sz="140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400" dirty="0">
                          <a:effectLst/>
                          <a:latin typeface="Helvetica" pitchFamily="2" charset="0"/>
                        </a:rPr>
                      </a:b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9497" marR="29497" marT="29497" marB="29497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[a]: ma ‘liver’</a:t>
                      </a:r>
                      <a:endParaRPr lang="en-US" sz="1400" dirty="0">
                        <a:effectLst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400" dirty="0">
                          <a:effectLst/>
                          <a:latin typeface="Helvetica" pitchFamily="2" charset="0"/>
                        </a:rPr>
                      </a:b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9497" marR="29497" marT="29497" marB="294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08702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声调类型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全球约 40% 的语言使用声调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9079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声调通过音高的高低、升降来区别词汇或语法意义，跨语言可归纳为三种基本类型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4528268" cy="3703320"/>
          </a:xfrm>
          <a:prstGeom prst="roundRect">
            <a:avLst>
              <a:gd name="adj" fmla="val 2727"/>
            </a:avLst>
          </a:prstGeom>
          <a:solidFill>
            <a:srgbClr val="2630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971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平调 / 水平调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14399" y="3611879"/>
            <a:ext cx="4002157" cy="22190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起始与结束音高相同：高调、低调等。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例：Ibibio 语（非洲，大西洋-刚果语系）；苗瑶、藏缅语言中普遍存在。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A3890D-477B-C8BD-4401-98BE387551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9042" y="732141"/>
            <a:ext cx="5858395" cy="4753637"/>
          </a:xfrm>
          <a:prstGeom prst="rect">
            <a:avLst/>
          </a:prstGeom>
        </p:spPr>
      </p:pic>
      <p:pic>
        <p:nvPicPr>
          <p:cNvPr id="17" name="HH.mp3">
            <a:hlinkClick r:id="" action="ppaction://media"/>
            <a:extLst>
              <a:ext uri="{FF2B5EF4-FFF2-40B4-BE49-F238E27FC236}">
                <a16:creationId xmlns:a16="http://schemas.microsoft.com/office/drawing/2014/main" id="{1D266621-5845-27A7-FFC9-027AD0AB05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65273" y="5542280"/>
            <a:ext cx="812800" cy="812800"/>
          </a:xfrm>
          <a:prstGeom prst="rect">
            <a:avLst/>
          </a:prstGeom>
        </p:spPr>
      </p:pic>
      <p:pic>
        <p:nvPicPr>
          <p:cNvPr id="18" name="LL.mp3">
            <a:hlinkClick r:id="" action="ppaction://media"/>
            <a:extLst>
              <a:ext uri="{FF2B5EF4-FFF2-40B4-BE49-F238E27FC236}">
                <a16:creationId xmlns:a16="http://schemas.microsoft.com/office/drawing/2014/main" id="{F54E786E-38CF-CBFF-F453-69FFC2033E3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796897" y="5514029"/>
            <a:ext cx="812800" cy="812800"/>
          </a:xfrm>
          <a:prstGeom prst="rect">
            <a:avLst/>
          </a:prstGeom>
        </p:spPr>
      </p:pic>
      <p:pic>
        <p:nvPicPr>
          <p:cNvPr id="19" name="HL.mp3">
            <a:hlinkClick r:id="" action="ppaction://media"/>
            <a:extLst>
              <a:ext uri="{FF2B5EF4-FFF2-40B4-BE49-F238E27FC236}">
                <a16:creationId xmlns:a16="http://schemas.microsoft.com/office/drawing/2014/main" id="{702A741C-B611-0C08-D746-D5A4C1F572A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572905" y="5514029"/>
            <a:ext cx="812800" cy="812800"/>
          </a:xfrm>
          <a:prstGeom prst="rect">
            <a:avLst/>
          </a:prstGeom>
        </p:spPr>
      </p:pic>
      <p:pic>
        <p:nvPicPr>
          <p:cNvPr id="20" name="LH.mp3">
            <a:hlinkClick r:id="" action="ppaction://media"/>
            <a:extLst>
              <a:ext uri="{FF2B5EF4-FFF2-40B4-BE49-F238E27FC236}">
                <a16:creationId xmlns:a16="http://schemas.microsoft.com/office/drawing/2014/main" id="{0565E5A5-5CDE-3F95-0EB1-50019A13B38A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294304" y="5514029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9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79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53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79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声调类型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全球约 40% 的语言使用声调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79" y="1965960"/>
            <a:ext cx="54559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声调通过音高的高低、升降来区别词汇或语法意义，跨语言可归纳为三种基本类型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77239" y="2788920"/>
            <a:ext cx="3904905" cy="3063240"/>
          </a:xfrm>
          <a:prstGeom prst="roundRect">
            <a:avLst>
              <a:gd name="adj" fmla="val 2727"/>
            </a:avLst>
          </a:prstGeom>
          <a:solidFill>
            <a:srgbClr val="2630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000895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单一调式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019695" y="379476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音高整体上升（升调）或下降（降调）的声调，往往也与平调并存于同一系统中。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9B9731-8F71-B988-312F-9977B1815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498" y="1005840"/>
            <a:ext cx="5231262" cy="4846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54E32B-5F40-2EFE-5EC1-925B20801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058" y="3549535"/>
            <a:ext cx="1172788" cy="200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14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3433" y="-1051559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声调类型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全球约 40% 的语言使用声调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曲拱调（</a:t>
            </a: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contour tone)： </a:t>
            </a:r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单一调式</a:t>
            </a:r>
            <a:r>
              <a:rPr lang="en-US" altLang="zh-CN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起伏调式</a:t>
            </a:r>
            <a:r>
              <a:rPr lang="en-US" altLang="zh-CN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; </a:t>
            </a:r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层级调（</a:t>
            </a: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register tone）：</a:t>
            </a:r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平调</a:t>
            </a:r>
          </a:p>
        </p:txBody>
      </p:sp>
      <p:sp>
        <p:nvSpPr>
          <p:cNvPr id="12" name="Shape 10"/>
          <p:cNvSpPr/>
          <p:nvPr/>
        </p:nvSpPr>
        <p:spPr>
          <a:xfrm>
            <a:off x="6118813" y="2652810"/>
            <a:ext cx="5366873" cy="3880511"/>
          </a:xfrm>
          <a:prstGeom prst="roundRect">
            <a:avLst>
              <a:gd name="adj" fmla="val 2727"/>
            </a:avLst>
          </a:prstGeom>
          <a:solidFill>
            <a:srgbClr val="C9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3200" y="2796209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起伏调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84843" y="3344849"/>
            <a:ext cx="5100843" cy="26371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轮廓包含升、降两个部分</a:t>
            </a:r>
            <a:r>
              <a:rPr 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2000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先升后降为峰调</a:t>
            </a:r>
            <a:r>
              <a:rPr lang="en-US" altLang="zh-CN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(peaking</a:t>
            </a:r>
            <a:r>
              <a:rPr lang="zh-CN" alt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tone)</a:t>
            </a:r>
            <a:endParaRPr lang="en-US" sz="2000" dirty="0">
              <a:solidFill>
                <a:srgbClr val="3A2E1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2000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先降后升为谷调</a:t>
            </a:r>
            <a:r>
              <a:rPr lang="en-US" altLang="zh-CN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(dipping</a:t>
            </a:r>
            <a:r>
              <a:rPr lang="zh-CN" alt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tone)</a:t>
            </a:r>
          </a:p>
          <a:p>
            <a:pPr marL="0" indent="0">
              <a:lnSpc>
                <a:spcPct val="135000"/>
              </a:lnSpc>
              <a:buNone/>
            </a:pP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例：汉语普通话上声 [²¹⁴]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2000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毛南语</a:t>
            </a:r>
            <a:r>
              <a:rPr 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 </a:t>
            </a:r>
            <a:r>
              <a:rPr lang="en-US" sz="2000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峰调</a:t>
            </a:r>
            <a:r>
              <a:rPr 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[²³¹]</a:t>
            </a:r>
            <a:r>
              <a:rPr lang="zh-CN" alt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ma²³¹‘</a:t>
            </a:r>
            <a:r>
              <a:rPr lang="zh-CN" alt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舌头</a:t>
            </a:r>
            <a:r>
              <a:rPr lang="en-US" altLang="zh-CN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’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</a:t>
            </a:r>
            <a:r>
              <a:rPr lang="en-US" sz="2000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谷调</a:t>
            </a:r>
            <a:r>
              <a:rPr 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[²¹³]</a:t>
            </a:r>
            <a:r>
              <a:rPr lang="zh-CN" alt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ma²¹³</a:t>
            </a:r>
            <a:r>
              <a:rPr lang="zh-CN" altLang="en-US" sz="2000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‘喂养’</a:t>
            </a:r>
            <a:endParaRPr lang="en-US" sz="2000" dirty="0">
              <a:solidFill>
                <a:srgbClr val="3A2E1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46A88207-74A9-B2E6-ECBE-F59FB10DA9C8}"/>
              </a:ext>
            </a:extLst>
          </p:cNvPr>
          <p:cNvSpPr/>
          <p:nvPr/>
        </p:nvSpPr>
        <p:spPr>
          <a:xfrm>
            <a:off x="675367" y="2634589"/>
            <a:ext cx="4874616" cy="3880511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0987E9-CA75-2929-B545-C4DA9836507F}"/>
              </a:ext>
            </a:extLst>
          </p:cNvPr>
          <p:cNvSpPr txBox="1"/>
          <p:nvPr/>
        </p:nvSpPr>
        <p:spPr>
          <a:xfrm>
            <a:off x="882162" y="2928865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泰语兼具单一调式与起伏调式</a:t>
            </a:r>
            <a:endParaRPr lang="en-US" sz="20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BDA654-2878-9B6E-0025-EB591E268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17" y="3416486"/>
            <a:ext cx="2138767" cy="955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102EB1E-3800-81DD-7D27-771DEDF46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675" y="3414984"/>
            <a:ext cx="2130665" cy="9559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37A9C79-21A4-6D7F-BFF4-3094F1F9D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753" y="4111032"/>
            <a:ext cx="2138767" cy="9640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DE3CA18-CAD0-623E-07EA-8273DE6A39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8381" y="4125786"/>
            <a:ext cx="2466741" cy="99005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F09A1DB-5286-F07E-F05B-E5B6B8F6B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79" y="4820332"/>
            <a:ext cx="2148722" cy="9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声调系统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声调声调数量：从</a:t>
            </a: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 个到 15 个以上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声调系统中的声调数量在 2–15 之间，个别语言可能超过 14 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纳瓦霍语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71650" y="2336292"/>
            <a:ext cx="182880" cy="219456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8" name="Shape 6"/>
          <p:cNvSpPr/>
          <p:nvPr/>
        </p:nvSpPr>
        <p:spPr>
          <a:xfrm>
            <a:off x="195453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00025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约鲁巴语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7540" y="2336292"/>
            <a:ext cx="182880" cy="219456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>
            <a:off x="336042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0614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汉语普通话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83430" y="2336292"/>
            <a:ext cx="182880" cy="219456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6631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1203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泰语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2336292"/>
            <a:ext cx="182880" cy="219456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1792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粤语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95210" y="2336292"/>
            <a:ext cx="182880" cy="219456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7809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62381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绿苗语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01100" y="2336292"/>
            <a:ext cx="182880" cy="219456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8398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02970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黑苗语</a:t>
            </a: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206990" y="2336292"/>
            <a:ext cx="182880" cy="219456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89870" y="1965960"/>
            <a:ext cx="1223010" cy="960120"/>
          </a:xfrm>
          <a:prstGeom prst="roundRect">
            <a:avLst>
              <a:gd name="adj" fmla="val 7619"/>
            </a:avLst>
          </a:prstGeom>
          <a:solidFill>
            <a:srgbClr val="C9A24B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435590" y="1965960"/>
            <a:ext cx="113157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侗语</a:t>
            </a:r>
            <a:r>
              <a:rPr lang="zh-CN" alt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246120"/>
            <a:ext cx="10881360" cy="2862072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9640" y="3246120"/>
            <a:ext cx="10332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调型构成举例
</a:t>
            </a:r>
            <a:r>
              <a:rPr lang="en-US" sz="16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r>
              <a:rPr lang="zh-CN" alt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、三声调系统（纳瓦霍语、约鲁巴语）：</a:t>
            </a:r>
            <a:r>
              <a:rPr lang="en-US" sz="16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平调</a:t>
            </a:r>
            <a:endParaRPr lang="en-US" sz="16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四声调系统（汉语普通话</a:t>
            </a: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）：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一个平调、两个单一调、一个起伏调
</a:t>
            </a: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六声调系统（粤语）：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三个平调、三个单一调
</a:t>
            </a: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七声调系统（绿苗语）：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四个平调、两个单一调、一个起伏调</a:t>
            </a:r>
            <a:endParaRPr lang="en-US" sz="1600" dirty="0">
              <a:solidFill>
                <a:srgbClr val="1B1F2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八声调系统</a:t>
            </a:r>
            <a:r>
              <a:rPr lang="zh-CN" alt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（黑苗语）：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四个平调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、四个单一调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九声调系统（侗语）：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三个平调、四个单一调、两个起伏调（非入声音节）
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i="1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利比里亚及科特迪瓦沃布语、亚马逊图库纳语、墨西哥南部查蒂诺语等，声调数量可能超过</a:t>
            </a:r>
            <a:r>
              <a:rPr 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14 </a:t>
            </a:r>
            <a:r>
              <a:rPr lang="en-US" sz="1600" i="1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从二声调到九声调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二声调系统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963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纳瓦霍语  Navajo  ·  德内-叶尼塞语系（美国）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1752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词干上有两个声调：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高调 [⁵⁵] – 低调 [¹¹]，其中低调是无标记分布，屈折词缀不带声调。
</a:t>
            </a: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最小对比对：
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na-  ‘about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’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[¹¹]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ná-  ‘upward’[⁵⁵]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ba̜a̜s  ‘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处理（非完整体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）’[¹¹]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bá̜á̜s  ‘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处理（完整体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）’   [⁵⁵]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九声调系统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963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侗语  Kam  ·  侗台语族（中国）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017520"/>
            <a:ext cx="478231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共有 9 个单字调（Gerner 2019）：
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[pa⁵⁵]‘</a:t>
            </a:r>
            <a:r>
              <a:rPr lang="en-US" sz="2000" b="1" dirty="0" err="1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鱼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’[pa³³]</a:t>
            </a:r>
            <a:r>
              <a:rPr lang="en-US" altLang="zh-CN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糠</a:t>
            </a:r>
            <a:r>
              <a:rPr lang="en-US" altLang="zh-CN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’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[pa¹¹]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‘游泳’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</a:t>
            </a:r>
            <a:r>
              <a:rPr lang="en-US" altLang="zh-CN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³⁵]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‘来’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[pa⁵³]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‘翅膀’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[</a:t>
            </a:r>
            <a:r>
              <a:rPr lang="en-US" altLang="zh-CN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¹³]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‘弓箭’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[pa³¹]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‘蝗虫’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</a:t>
            </a:r>
            <a:r>
              <a:rPr lang="en-US" altLang="zh-CN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⁴⁵³]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‘浸泡’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[ma³²³]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</a:t>
            </a:r>
            <a:r>
              <a:rPr lang="en-US" altLang="zh-CN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’</a:t>
            </a:r>
            <a:r>
              <a:rPr lang="zh-CN" alt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000" b="1" dirty="0">
                <a:solidFill>
                  <a:srgbClr val="3A2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小结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音系库藏的类型学启示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828799"/>
            <a:ext cx="3505201" cy="3856383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正态分布是常态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8999"/>
            <a:ext cx="2788920" cy="19778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辅音、元音库藏规模都呈正态分布：多数语言接近平均值，规模极小或极大的案例（6 或 88 个辅音；2 或 14 个元音）都是少数。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399" y="1828800"/>
            <a:ext cx="3505201" cy="3856382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罕见特征高度集中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663439" y="3429000"/>
            <a:ext cx="2987039" cy="1977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搭嘴音、双唇-软腭塞音等罕见音段的跨语言分布并不均匀，往往集中在特定语系或地理区域，提示语言接触、历时演变的作用。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19" y="1828799"/>
            <a:ext cx="3505201" cy="3856381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889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蕴含性规律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429000"/>
            <a:ext cx="2865120" cy="1977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音系特征之间也存在蕴含性关系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：单一调和起伏调蕴含水平调；</a:t>
            </a:r>
            <a:endParaRPr lang="en-US" altLang="zh-CN" sz="1600" dirty="0">
              <a:solidFill>
                <a:srgbClr val="5A647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库藏规模越大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，该语言在类型学分布中就越“特殊”，越有标记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参考文献与资源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延伸阅读与数据库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67512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190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Maddieson, I. (2013). Consonant Inventories / Vowel Quality Inventories. In WALS Online.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67512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51760"/>
            <a:ext cx="667512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2491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Ladefoged, P. &amp; Disner, S. F. (2001). Vowels and Consonants (2nd ed.).</a:t>
            </a:r>
            <a:r>
              <a:rPr lang="zh-CN" alt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Oxford</a:t>
            </a:r>
            <a:r>
              <a:rPr lang="zh-CN" alt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Blackwell.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667512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57600"/>
            <a:ext cx="667512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27831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Arkadiev, P. (2020). Abaza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r>
              <a:rPr lang="zh-CN" alt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zh-CN" alt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grammatical</a:t>
            </a:r>
            <a:r>
              <a:rPr lang="zh-CN" alt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Sketch.</a:t>
            </a:r>
            <a:r>
              <a:rPr lang="zh-CN" alt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(https://</a:t>
            </a:r>
            <a:r>
              <a:rPr lang="en-US" altLang="zh-CN" sz="115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doi.org</a:t>
            </a:r>
            <a:r>
              <a:rPr lang="en-US" altLang="zh-CN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/10.13140/RG.2.2.1.13434.31683)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667512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8503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Gerner, M. (2019). Kam tone system revisited.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164592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1920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在线音系类型学资源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UPSID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862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加州大学洛杉矶分校语音实验室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31272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r>
              <a:rPr lang="en-US" altLang="zh-CN" sz="1400" i="1" dirty="0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s://</a:t>
            </a:r>
            <a:r>
              <a:rPr lang="en-US" sz="1400" i="1" dirty="0" err="1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phonetics.linguistics.ucla.edu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PHOIBLE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867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马克斯·普朗克世界语音资料馆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133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i="1" dirty="0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</a:t>
            </a:r>
            <a:r>
              <a:rPr lang="en-US" sz="1400" i="1" dirty="0" err="1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phoible.org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VoxClamantis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873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语音数据库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5148072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i="1" dirty="0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</a:t>
            </a:r>
            <a:r>
              <a:rPr lang="en-US" sz="1400" i="1" dirty="0" err="1">
                <a:solidFill>
                  <a:srgbClr val="97A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voxclamantisproject.github.io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WHU 语言类型学  ·  LinType  ·  2026 秋季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070A3F-2B39-0246-9040-DAED6D2AA2F2}"/>
              </a:ext>
            </a:extLst>
          </p:cNvPr>
          <p:cNvSpPr txBox="1"/>
          <p:nvPr/>
        </p:nvSpPr>
        <p:spPr>
          <a:xfrm>
            <a:off x="640080" y="2187195"/>
            <a:ext cx="66751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hlinkClick r:id="rId3" tooltip="Anthony Traill (linguist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Traill, Anthony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 (1994). 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ǃXóõ Dictionary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. (</a:t>
            </a:r>
            <a:r>
              <a:rPr lang="en-US" sz="115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Quellen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sz="115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zur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 Khoisan-</a:t>
            </a:r>
            <a:r>
              <a:rPr lang="en-US" sz="115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Forschung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, vol. 9). Köln: </a:t>
            </a:r>
            <a:r>
              <a:rPr lang="en-US" sz="115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Rüdiger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sz="115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Köppe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</a:rPr>
              <a:t>. pp. </a:t>
            </a:r>
            <a:r>
              <a:rPr lang="en-US" sz="115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</a:t>
            </a:r>
            <a:endParaRPr lang="en-US" sz="1150" dirty="0">
              <a:solidFill>
                <a:srgbClr val="1B1F2A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22783" y="393192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思考与练习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请查阅白语、傈僳语的辅音、元音数量，与本讲列举的极端案例（Rotokas 6 </a:t>
            </a:r>
            <a:r>
              <a:rPr lang="en-US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辅音；阿巴扎语</a:t>
            </a: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 元音、德语 14 元音）比较，它们各自落在分布的哪个区间？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" y="3817621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35324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声调库藏从 2 个扩展到 9 个及以上，是否也可能存在类似“蕴含共性”的层级关系？请尝试设想一条可能的蕴含链，并说明哪一端更有标记。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4EC0BA-FEE5-3D8D-2D0E-EA8A1315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572768"/>
            <a:ext cx="10591800" cy="4749284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A7184D3-9B1A-8A7F-A6BF-3ED6B645E76C}"/>
              </a:ext>
            </a:extLst>
          </p:cNvPr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白语剑川方言的音系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777439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7D8AF48-3023-2F52-B86A-D29D6C368474}"/>
              </a:ext>
            </a:extLst>
          </p:cNvPr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白语剑川方言的音系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45F6D3-3101-7D46-18F3-D3BEDDEF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547117"/>
            <a:ext cx="9981160" cy="1803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1325E7-8793-05B0-F9DD-2BD9E67EA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590" y="3507566"/>
            <a:ext cx="4058479" cy="33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95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1553</Words>
  <Application>Microsoft Macintosh PowerPoint</Application>
  <PresentationFormat>Widescreen</PresentationFormat>
  <Paragraphs>288</Paragraphs>
  <Slides>22</Slides>
  <Notes>17</Notes>
  <HiddenSlides>0</HiddenSlides>
  <MMClips>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Microsoft YaHei</vt:lpstr>
      <vt:lpstr>PingFang SC</vt:lpstr>
      <vt:lpstr>Arial</vt:lpstr>
      <vt:lpstr>Calibri</vt:lpstr>
      <vt:lpstr>Helvetica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 Li</cp:lastModifiedBy>
  <cp:revision>27</cp:revision>
  <dcterms:created xsi:type="dcterms:W3CDTF">2026-09-15T23:38:50Z</dcterms:created>
  <dcterms:modified xsi:type="dcterms:W3CDTF">2026-10-15T09:37:34Z</dcterms:modified>
</cp:coreProperties>
</file>