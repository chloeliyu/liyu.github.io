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7" r:id="rId5"/>
    <p:sldId id="268" r:id="rId6"/>
    <p:sldId id="259" r:id="rId7"/>
    <p:sldId id="274" r:id="rId8"/>
    <p:sldId id="273" r:id="rId9"/>
    <p:sldId id="269" r:id="rId10"/>
    <p:sldId id="270" r:id="rId11"/>
    <p:sldId id="272" r:id="rId12"/>
    <p:sldId id="275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7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0238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00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98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97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91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07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52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195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1038" y="-1188720"/>
            <a:ext cx="5486400" cy="54864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222B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语言类型学  ·  LINGUISTIC TYPOLOGY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蕴含共性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Implicational Universals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5989320"/>
            <a:ext cx="20116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1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WHU 语言类型学  ·  LinType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D81242-5C9F-BE4D-42E5-5A3667EB4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312" y="2184689"/>
            <a:ext cx="2896204" cy="36041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E08BDA-6146-4F65-B3B6-2A3D8F193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131" y="1737360"/>
            <a:ext cx="3032712" cy="45384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0AB9C2-5802-2328-9766-2350B075405B}"/>
              </a:ext>
            </a:extLst>
          </p:cNvPr>
          <p:cNvSpPr txBox="1"/>
          <p:nvPr/>
        </p:nvSpPr>
        <p:spPr>
          <a:xfrm>
            <a:off x="777240" y="54511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李昱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语言共性的分类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语言共性有哪些类型？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语言共性（language universals）可以从两个独立的维度交叉分类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25856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绝对共性  Absolute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831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无例外地适用于所有已知语言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6722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所有语言都有元音和辅音的区分</a:t>
            </a:r>
            <a:endParaRPr lang="en-US" sz="1400" i="1" dirty="0">
              <a:solidFill>
                <a:srgbClr val="CADCFC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35040" y="20574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225856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统计共性  Statistical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71576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以远高于偶然的概率出现，允许例外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45643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例：SOV 语序的语言绝大多数使用后置词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54456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无限制共性  Unrestricted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0176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直接断言某特征在语言中普遍存在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495544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每种语言都有指称人称的代词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43434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C9A24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09360" y="454456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蕴含共性  Implicational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500176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以“若……则……”形式关联两个特征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574243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例：若有擦音，则必有塞音</a:t>
            </a:r>
            <a:endParaRPr lang="en-US" sz="1600" i="1" dirty="0">
              <a:solidFill>
                <a:srgbClr val="5B4A1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zh-CN" altLang="en-US" sz="1600" i="1" dirty="0">
                <a:solidFill>
                  <a:srgbClr val="5B4A16"/>
                </a:solidFill>
                <a:latin typeface="Microsoft YaHei" pitchFamily="34" charset="0"/>
                <a:ea typeface="Microsoft YaHei" pitchFamily="34" charset="-122"/>
              </a:rPr>
              <a:t>       若有舌根塞音，必有双唇塞音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E654313D-91D3-F6B6-373B-D5C8F896C52D}"/>
              </a:ext>
            </a:extLst>
          </p:cNvPr>
          <p:cNvSpPr txBox="1"/>
          <p:nvPr/>
        </p:nvSpPr>
        <p:spPr>
          <a:xfrm>
            <a:off x="914400" y="328461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所有语言都有擦音</a:t>
            </a:r>
            <a:endParaRPr lang="en-US" sz="1400" i="1" dirty="0">
              <a:solidFill>
                <a:srgbClr val="CADCFC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B86DB7A7-1716-DF13-C363-2DF514571EDC}"/>
              </a:ext>
            </a:extLst>
          </p:cNvPr>
          <p:cNvSpPr txBox="1"/>
          <p:nvPr/>
        </p:nvSpPr>
        <p:spPr>
          <a:xfrm>
            <a:off x="914400" y="3577226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所有语言都有表达疑问的手段</a:t>
            </a:r>
            <a:endParaRPr lang="en-US" sz="1400" i="1" dirty="0">
              <a:solidFill>
                <a:srgbClr val="CADCFC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823AB584-EB0D-ABC6-A5FA-642A11716144}"/>
              </a:ext>
            </a:extLst>
          </p:cNvPr>
          <p:cNvSpPr txBox="1"/>
          <p:nvPr/>
        </p:nvSpPr>
        <p:spPr>
          <a:xfrm>
            <a:off x="2948940" y="329184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所有语言都有三个人称的代词</a:t>
            </a:r>
            <a:endParaRPr lang="en-US" sz="1400" i="1" dirty="0">
              <a:solidFill>
                <a:srgbClr val="CADCFC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7A393B-C4F3-A844-AF7D-78E1F822A072}"/>
              </a:ext>
            </a:extLst>
          </p:cNvPr>
          <p:cNvSpPr txBox="1"/>
          <p:nvPr/>
        </p:nvSpPr>
        <p:spPr>
          <a:xfrm>
            <a:off x="3485321" y="2995786"/>
            <a:ext cx="383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√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26C2B2-024F-50A1-05E1-E1E98BFCD897}"/>
              </a:ext>
            </a:extLst>
          </p:cNvPr>
          <p:cNvSpPr txBox="1"/>
          <p:nvPr/>
        </p:nvSpPr>
        <p:spPr>
          <a:xfrm>
            <a:off x="2511825" y="3345251"/>
            <a:ext cx="383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203F2-D9C2-6E67-32D0-1ED3C409C8D9}"/>
              </a:ext>
            </a:extLst>
          </p:cNvPr>
          <p:cNvSpPr txBox="1"/>
          <p:nvPr/>
        </p:nvSpPr>
        <p:spPr>
          <a:xfrm>
            <a:off x="3309992" y="3653400"/>
            <a:ext cx="383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√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AED724-3DE0-5C15-15D8-509905E991C8}"/>
              </a:ext>
            </a:extLst>
          </p:cNvPr>
          <p:cNvSpPr txBox="1"/>
          <p:nvPr/>
        </p:nvSpPr>
        <p:spPr>
          <a:xfrm>
            <a:off x="5358288" y="3336469"/>
            <a:ext cx="383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X</a:t>
            </a: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30EC04D2-82E8-16EF-AC01-BB31B4F0E3AA}"/>
              </a:ext>
            </a:extLst>
          </p:cNvPr>
          <p:cNvSpPr txBox="1"/>
          <p:nvPr/>
        </p:nvSpPr>
        <p:spPr>
          <a:xfrm>
            <a:off x="914400" y="5833209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每种语言都有鼻辅音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F598A8-352B-2209-01E3-1A29356E0A59}"/>
              </a:ext>
            </a:extLst>
          </p:cNvPr>
          <p:cNvSpPr txBox="1"/>
          <p:nvPr/>
        </p:nvSpPr>
        <p:spPr>
          <a:xfrm>
            <a:off x="3501748" y="5546305"/>
            <a:ext cx="383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B5668B-D636-1137-517E-E551F9F59B1F}"/>
              </a:ext>
            </a:extLst>
          </p:cNvPr>
          <p:cNvSpPr txBox="1"/>
          <p:nvPr/>
        </p:nvSpPr>
        <p:spPr>
          <a:xfrm>
            <a:off x="2840008" y="5907024"/>
            <a:ext cx="383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核心定义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什么是“蕴含共性”？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蕴含共性（implicational universal）</a:t>
            </a:r>
            <a:r>
              <a:rPr lang="en-US" sz="2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是一种以条件句形式表述的跨语言规律：</a:t>
            </a:r>
            <a:endParaRPr lang="en-US" sz="2000" dirty="0"/>
          </a:p>
          <a:p>
            <a:pPr marL="0" indent="0">
              <a:lnSpc>
                <a:spcPct val="135000"/>
              </a:lnSpc>
              <a:buNone/>
            </a:pPr>
            <a:endParaRPr lang="en-US" sz="2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若一种语言具有特征 X，那么它也（必然或倾向于）具有特征 Y。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r>
              <a:rPr lang="zh-CN" altLang="en-US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！</a:t>
            </a:r>
            <a:r>
              <a:rPr lang="en-US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蕴含关系是单向的：断言 “有 X 就有 Y”，并不断言 “有 Y 就有 X”。因此 X 是比 Y 更“强”的条件，Y 的分布范围通常更广。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040880" y="1737360"/>
            <a:ext cx="4480560" cy="3749040"/>
          </a:xfrm>
          <a:prstGeom prst="roundRect">
            <a:avLst>
              <a:gd name="adj" fmla="val 243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06640" y="2057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形式化表达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0" y="260604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2A3474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0" y="26060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 X（前项 / antecedent）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079992" y="3493008"/>
            <a:ext cx="402336" cy="502920"/>
          </a:xfrm>
          <a:prstGeom prst="downArrow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0" y="3520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若……则……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40690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C9A2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0" y="40690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 Y（后项 / consequent）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4983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蕴含 Y，记作 X ⊃ 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核心定义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两类规律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6035040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一般性规律</a:t>
            </a:r>
            <a:endParaRPr lang="en-US" sz="2000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5381" y="2146554"/>
            <a:ext cx="5009322" cy="498348"/>
          </a:xfrm>
          <a:prstGeom prst="roundRect">
            <a:avLst>
              <a:gd name="adj" fmla="val 9412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17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世纪以前，欧洲只发现了白色的天鹅</a:t>
            </a:r>
            <a:endParaRPr lang="en-US" altLang="zh-CN" sz="2000" dirty="0">
              <a:solidFill>
                <a:srgbClr val="000000"/>
              </a:solidFill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 </a:t>
            </a:r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52A6AA9-6671-162F-B959-DFCA0ECF6F7A}"/>
              </a:ext>
            </a:extLst>
          </p:cNvPr>
          <p:cNvSpPr txBox="1"/>
          <p:nvPr/>
        </p:nvSpPr>
        <p:spPr>
          <a:xfrm>
            <a:off x="6926910" y="2146554"/>
            <a:ext cx="3886863" cy="49834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algn="ctr"/>
            <a:endParaRPr lang="en-US" altLang="zh-CN" sz="2000" dirty="0">
              <a:solidFill>
                <a:schemeClr val="bg1"/>
              </a:solidFill>
              <a:effectLst/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所有的天鹅都是白色的</a:t>
            </a: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C3DB2B92-52C6-FC10-B4AE-A0A165AEECFF}"/>
              </a:ext>
            </a:extLst>
          </p:cNvPr>
          <p:cNvSpPr/>
          <p:nvPr/>
        </p:nvSpPr>
        <p:spPr>
          <a:xfrm>
            <a:off x="640080" y="2831211"/>
            <a:ext cx="5009322" cy="498348"/>
          </a:xfrm>
          <a:prstGeom prst="roundRect">
            <a:avLst>
              <a:gd name="adj" fmla="val 9412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zh-CN" altLang="en-US" sz="200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澳大利亚发现了第一只黑天鹅</a:t>
            </a:r>
          </a:p>
          <a:p>
            <a:endParaRPr lang="en-US" altLang="zh-CN" dirty="0">
              <a:solidFill>
                <a:srgbClr val="000000"/>
              </a:solidFill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 </a:t>
            </a:r>
          </a:p>
          <a:p>
            <a:endParaRPr lang="en-US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7C77CAF0-C427-6B85-2827-A8383707668F}"/>
              </a:ext>
            </a:extLst>
          </p:cNvPr>
          <p:cNvSpPr/>
          <p:nvPr/>
        </p:nvSpPr>
        <p:spPr>
          <a:xfrm rot="16200000">
            <a:off x="6089971" y="1974938"/>
            <a:ext cx="402336" cy="937591"/>
          </a:xfrm>
          <a:prstGeom prst="downArrow">
            <a:avLst/>
          </a:prstGeom>
          <a:solidFill>
            <a:srgbClr val="C9A24B"/>
          </a:solidFill>
          <a:ln/>
        </p:spPr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DC610CD7-501F-E129-23F7-321023E158E7}"/>
              </a:ext>
            </a:extLst>
          </p:cNvPr>
          <p:cNvSpPr txBox="1"/>
          <p:nvPr/>
        </p:nvSpPr>
        <p:spPr>
          <a:xfrm>
            <a:off x="6926910" y="2831211"/>
            <a:ext cx="3886863" cy="49834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algn="ctr"/>
            <a:endParaRPr lang="en-US" altLang="zh-CN" sz="2000" dirty="0">
              <a:solidFill>
                <a:schemeClr val="bg1"/>
              </a:solidFill>
              <a:effectLst/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effectLst/>
                <a:latin typeface="Apple Color Emoji" pitchFamily="2" charset="0"/>
              </a:rPr>
              <a:t>❎ </a:t>
            </a:r>
            <a:r>
              <a:rPr lang="zh-CN" altLang="en-US" sz="2000" dirty="0">
                <a:solidFill>
                  <a:schemeClr val="bg1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所有的天鹅都是白色的</a:t>
            </a: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74C1A569-ABEB-EAC4-7483-A349FB844BF5}"/>
              </a:ext>
            </a:extLst>
          </p:cNvPr>
          <p:cNvSpPr/>
          <p:nvPr/>
        </p:nvSpPr>
        <p:spPr>
          <a:xfrm rot="16200000">
            <a:off x="6107199" y="2618878"/>
            <a:ext cx="402336" cy="937591"/>
          </a:xfrm>
          <a:prstGeom prst="downArrow">
            <a:avLst/>
          </a:prstGeom>
          <a:solidFill>
            <a:srgbClr val="C9A24B"/>
          </a:solidFill>
          <a:ln/>
        </p:spPr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3F37C2DF-01D3-6D8D-0B6D-5FAE066E4BBC}"/>
              </a:ext>
            </a:extLst>
          </p:cNvPr>
          <p:cNvSpPr/>
          <p:nvPr/>
        </p:nvSpPr>
        <p:spPr>
          <a:xfrm>
            <a:off x="640080" y="3603201"/>
            <a:ext cx="5009322" cy="498348"/>
          </a:xfrm>
          <a:prstGeom prst="roundRect">
            <a:avLst>
              <a:gd name="adj" fmla="val 9412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2001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年前，美国本土上空从未发生过空袭</a:t>
            </a:r>
            <a:endParaRPr lang="en-US" altLang="zh-CN" sz="2000" dirty="0">
              <a:solidFill>
                <a:srgbClr val="000000"/>
              </a:solidFill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 </a:t>
            </a: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EAAD06B6-7C15-5B46-9F3A-96190A9C283A}"/>
              </a:ext>
            </a:extLst>
          </p:cNvPr>
          <p:cNvSpPr txBox="1"/>
          <p:nvPr/>
        </p:nvSpPr>
        <p:spPr>
          <a:xfrm>
            <a:off x="6926910" y="3603201"/>
            <a:ext cx="3886863" cy="49834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algn="ctr"/>
            <a:endParaRPr lang="en-US" altLang="zh-CN" sz="2000" dirty="0">
              <a:solidFill>
                <a:schemeClr val="bg1"/>
              </a:solidFill>
              <a:effectLst/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美国本土上空不会发生空袭</a:t>
            </a:r>
            <a:endParaRPr lang="zh-CN" altLang="en-US" sz="2000" dirty="0">
              <a:solidFill>
                <a:schemeClr val="bg1"/>
              </a:solidFill>
              <a:effectLst/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10C38CB8-25D9-877D-067E-C8D047BCF6FB}"/>
              </a:ext>
            </a:extLst>
          </p:cNvPr>
          <p:cNvSpPr/>
          <p:nvPr/>
        </p:nvSpPr>
        <p:spPr>
          <a:xfrm>
            <a:off x="640080" y="4375191"/>
            <a:ext cx="5009322" cy="498348"/>
          </a:xfrm>
          <a:prstGeom prst="roundRect">
            <a:avLst>
              <a:gd name="adj" fmla="val 9412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2001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年前，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911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恐怖袭击</a:t>
            </a:r>
            <a:endParaRPr lang="en-US" altLang="zh-CN" sz="2000" dirty="0">
              <a:solidFill>
                <a:srgbClr val="000000"/>
              </a:solidFill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 </a:t>
            </a: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A9D73585-F0C5-5DFD-E042-7EB91B20A322}"/>
              </a:ext>
            </a:extLst>
          </p:cNvPr>
          <p:cNvSpPr txBox="1"/>
          <p:nvPr/>
        </p:nvSpPr>
        <p:spPr>
          <a:xfrm>
            <a:off x="6926910" y="4375191"/>
            <a:ext cx="3886863" cy="49834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algn="ctr"/>
            <a:endParaRPr lang="en-US" altLang="zh-CN" sz="2000" dirty="0">
              <a:solidFill>
                <a:schemeClr val="bg1"/>
              </a:solidFill>
              <a:effectLst/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effectLst/>
                <a:latin typeface="Apple Color Emoji" pitchFamily="2" charset="0"/>
              </a:rPr>
              <a:t>❎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Apple Color Emoji" pitchFamily="2" charset="0"/>
              </a:rPr>
              <a:t> </a:t>
            </a:r>
            <a:r>
              <a:rPr lang="zh-CN" alt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美国本土上空不会发生空袭</a:t>
            </a:r>
            <a:endParaRPr lang="zh-CN" altLang="en-US" sz="2000" dirty="0">
              <a:solidFill>
                <a:schemeClr val="bg1"/>
              </a:solidFill>
              <a:effectLst/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F75EE30C-582D-B625-B703-005C41567A6C}"/>
              </a:ext>
            </a:extLst>
          </p:cNvPr>
          <p:cNvSpPr/>
          <p:nvPr/>
        </p:nvSpPr>
        <p:spPr>
          <a:xfrm rot="16200000">
            <a:off x="6116476" y="3383579"/>
            <a:ext cx="402336" cy="937591"/>
          </a:xfrm>
          <a:prstGeom prst="downArrow">
            <a:avLst/>
          </a:prstGeom>
          <a:solidFill>
            <a:srgbClr val="C9A24B"/>
          </a:solidFill>
          <a:ln/>
        </p:spPr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78A38AE0-C66C-1F5A-E5F1-3D17BE121CA1}"/>
              </a:ext>
            </a:extLst>
          </p:cNvPr>
          <p:cNvSpPr/>
          <p:nvPr/>
        </p:nvSpPr>
        <p:spPr>
          <a:xfrm rot="16200000">
            <a:off x="6116477" y="4148279"/>
            <a:ext cx="402336" cy="937591"/>
          </a:xfrm>
          <a:prstGeom prst="downArrow">
            <a:avLst/>
          </a:prstGeom>
          <a:solidFill>
            <a:srgbClr val="C9A24B"/>
          </a:solidFill>
          <a:ln/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4CB9D4-D137-24F2-12E6-FB30DF5BAB88}"/>
              </a:ext>
            </a:extLst>
          </p:cNvPr>
          <p:cNvSpPr txBox="1"/>
          <p:nvPr/>
        </p:nvSpPr>
        <p:spPr>
          <a:xfrm>
            <a:off x="4238783" y="1223573"/>
            <a:ext cx="3801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规则并不依赖经验存在</a:t>
            </a:r>
            <a:endParaRPr lang="en-US" sz="2800" b="1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263C4B0C-E518-3B5E-1640-7F7A443C5AD0}"/>
              </a:ext>
            </a:extLst>
          </p:cNvPr>
          <p:cNvSpPr/>
          <p:nvPr/>
        </p:nvSpPr>
        <p:spPr>
          <a:xfrm>
            <a:off x="666585" y="5147181"/>
            <a:ext cx="5009322" cy="498348"/>
          </a:xfrm>
          <a:prstGeom prst="roundRect">
            <a:avLst>
              <a:gd name="adj" fmla="val 9412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所有有声语言都有元音和辅音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 </a:t>
            </a:r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52AA76F7-B79B-B867-883D-F7CA31F3EE45}"/>
              </a:ext>
            </a:extLst>
          </p:cNvPr>
          <p:cNvSpPr/>
          <p:nvPr/>
        </p:nvSpPr>
        <p:spPr>
          <a:xfrm rot="16200000">
            <a:off x="6152588" y="4900509"/>
            <a:ext cx="402336" cy="937591"/>
          </a:xfrm>
          <a:prstGeom prst="downArrow">
            <a:avLst/>
          </a:prstGeom>
          <a:solidFill>
            <a:srgbClr val="C9A24B"/>
          </a:solidFill>
          <a:ln/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8983BA-D46D-4E81-210D-E00B7C772B50}"/>
              </a:ext>
            </a:extLst>
          </p:cNvPr>
          <p:cNvSpPr txBox="1"/>
          <p:nvPr/>
        </p:nvSpPr>
        <p:spPr>
          <a:xfrm>
            <a:off x="6926910" y="519912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Apple Color Emoji" pitchFamily="2" charset="0"/>
              </a:rPr>
              <a:t>✅</a:t>
            </a:r>
            <a:endParaRPr lang="en-US" sz="20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4DB98D5A-5AEB-1294-1D17-9B86316E48CC}"/>
              </a:ext>
            </a:extLst>
          </p:cNvPr>
          <p:cNvSpPr/>
          <p:nvPr/>
        </p:nvSpPr>
        <p:spPr>
          <a:xfrm>
            <a:off x="666585" y="5925564"/>
            <a:ext cx="5009322" cy="498348"/>
          </a:xfrm>
          <a:prstGeom prst="roundRect">
            <a:avLst>
              <a:gd name="adj" fmla="val 9412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所有有声语言都有鼻辅音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 </a:t>
            </a:r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8F8202F1-EAE2-E2FB-63EC-3C50156D6D22}"/>
              </a:ext>
            </a:extLst>
          </p:cNvPr>
          <p:cNvSpPr/>
          <p:nvPr/>
        </p:nvSpPr>
        <p:spPr>
          <a:xfrm rot="16200000">
            <a:off x="6170643" y="5709524"/>
            <a:ext cx="402336" cy="937591"/>
          </a:xfrm>
          <a:prstGeom prst="downArrow">
            <a:avLst/>
          </a:prstGeom>
          <a:solidFill>
            <a:srgbClr val="C9A24B"/>
          </a:solidFill>
          <a:ln/>
        </p:spPr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BFB0D707-CF41-CFB4-1BF4-FFDB2B6BD511}"/>
              </a:ext>
            </a:extLst>
          </p:cNvPr>
          <p:cNvSpPr txBox="1"/>
          <p:nvPr/>
        </p:nvSpPr>
        <p:spPr>
          <a:xfrm>
            <a:off x="6926909" y="5924811"/>
            <a:ext cx="4228771" cy="49834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algn="ctr"/>
            <a:endParaRPr lang="en-US" altLang="zh-CN" sz="2000" dirty="0">
              <a:solidFill>
                <a:schemeClr val="bg1"/>
              </a:solidFill>
              <a:effectLst/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effectLst/>
                <a:latin typeface="Apple Color Emoji" pitchFamily="2" charset="0"/>
              </a:rPr>
              <a:t>❎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Apple Color Emoji" pitchFamily="2" charset="0"/>
              </a:rPr>
              <a:t> </a:t>
            </a:r>
            <a:r>
              <a:rPr lang="zh-CN" alt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全球至少</a:t>
            </a:r>
            <a:r>
              <a:rPr lang="en-US" altLang="zh-CN" sz="2000" dirty="0">
                <a:solidFill>
                  <a:schemeClr val="bg1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10</a:t>
            </a:r>
            <a:r>
              <a:rPr lang="zh-CN" alt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个语言缺乏鼻辅音</a:t>
            </a:r>
            <a:endParaRPr lang="zh-CN" altLang="en-US" sz="2000" dirty="0">
              <a:solidFill>
                <a:schemeClr val="bg1"/>
              </a:solidFill>
              <a:effectLst/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pPr marL="0" indent="0" algn="ctr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50330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2" grpId="0" animBg="1"/>
      <p:bldP spid="26" grpId="0" animBg="1"/>
      <p:bldP spid="27" grpId="0" animBg="1"/>
      <p:bldP spid="28" grpId="0" animBg="1"/>
      <p:bldP spid="29" grpId="0" animBg="1"/>
      <p:bldP spid="32" grpId="0"/>
      <p:bldP spid="33" grpId="0" animBg="1"/>
      <p:bldP spid="36" grpId="0"/>
      <p:bldP spid="37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核心定义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两类规律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6035040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endParaRPr lang="en-US" sz="2000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5381" y="2146554"/>
            <a:ext cx="5009322" cy="498348"/>
          </a:xfrm>
          <a:prstGeom prst="roundRect">
            <a:avLst>
              <a:gd name="adj" fmla="val 9412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如果存在黑天鹅，那么一定存在白天鹅</a:t>
            </a:r>
            <a:endParaRPr lang="en-US" altLang="zh-CN" sz="2000" dirty="0">
              <a:solidFill>
                <a:srgbClr val="000000"/>
              </a:solidFill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 </a:t>
            </a:r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C3DB2B92-52C6-FC10-B4AE-A0A165AEECFF}"/>
              </a:ext>
            </a:extLst>
          </p:cNvPr>
          <p:cNvSpPr/>
          <p:nvPr/>
        </p:nvSpPr>
        <p:spPr>
          <a:xfrm>
            <a:off x="640079" y="2879217"/>
            <a:ext cx="6145033" cy="498348"/>
          </a:xfrm>
          <a:prstGeom prst="roundRect">
            <a:avLst>
              <a:gd name="adj" fmla="val 9412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如果美国会发生空袭，那么伊朗也会发生空袭</a:t>
            </a:r>
            <a:endParaRPr lang="zh-CN" altLang="en-US" sz="2000" dirty="0">
              <a:solidFill>
                <a:srgbClr val="000000"/>
              </a:solidFill>
              <a:effectLst/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endParaRPr lang="en-US" altLang="zh-CN" dirty="0">
              <a:solidFill>
                <a:srgbClr val="000000"/>
              </a:solidFill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 </a:t>
            </a:r>
          </a:p>
          <a:p>
            <a:endParaRPr lang="en-US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6F11DC1-694F-587D-D84B-2B70AEEA3B7B}"/>
              </a:ext>
            </a:extLst>
          </p:cNvPr>
          <p:cNvSpPr txBox="1"/>
          <p:nvPr/>
        </p:nvSpPr>
        <p:spPr>
          <a:xfrm>
            <a:off x="640080" y="1572768"/>
            <a:ext cx="6035040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蕴含性规律</a:t>
            </a:r>
            <a:r>
              <a:rPr lang="zh-CN" alt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r>
              <a:rPr lang="zh-CN" altLang="en-US" sz="2000" b="1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</a:t>
            </a:r>
            <a:r>
              <a:rPr lang="en-US" altLang="zh-CN" sz="2000" b="1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r>
              <a:rPr lang="zh-CN" altLang="en-US" sz="2000" b="1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则</a:t>
            </a:r>
            <a:r>
              <a:rPr lang="en-US" altLang="zh-CN" sz="2000" b="1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…”</a:t>
            </a:r>
            <a:endParaRPr lang="en-US" sz="2000" b="1" i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4FCB6A0B-F624-AD94-1F0A-093FD7B7C14E}"/>
              </a:ext>
            </a:extLst>
          </p:cNvPr>
          <p:cNvSpPr/>
          <p:nvPr/>
        </p:nvSpPr>
        <p:spPr>
          <a:xfrm>
            <a:off x="640079" y="3626739"/>
            <a:ext cx="8000338" cy="498348"/>
          </a:xfrm>
          <a:prstGeom prst="roundRect">
            <a:avLst>
              <a:gd name="adj" fmla="val 9412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如果一个语言存在擦音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(e.g.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/f,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s/)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，那么一定存在塞音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(e.g.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/p,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t/)</a:t>
            </a:r>
            <a:endParaRPr lang="zh-CN" altLang="en-US" sz="2000" dirty="0">
              <a:solidFill>
                <a:srgbClr val="000000"/>
              </a:solidFill>
              <a:effectLst/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endParaRPr lang="en-US" altLang="zh-CN" dirty="0">
              <a:solidFill>
                <a:srgbClr val="000000"/>
              </a:solidFill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 </a:t>
            </a:r>
          </a:p>
          <a:p>
            <a:endParaRPr lang="en-US" dirty="0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91D4C9B1-2319-E6B0-AF8B-2509524EAE0A}"/>
              </a:ext>
            </a:extLst>
          </p:cNvPr>
          <p:cNvSpPr/>
          <p:nvPr/>
        </p:nvSpPr>
        <p:spPr>
          <a:xfrm>
            <a:off x="640078" y="4374261"/>
            <a:ext cx="8464164" cy="498348"/>
          </a:xfrm>
          <a:prstGeom prst="roundRect">
            <a:avLst>
              <a:gd name="adj" fmla="val 9412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如果一个语言存在舌根塞音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(e.g.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/g,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k/)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，那么一定存在双唇塞音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(e.g.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/b,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p/)</a:t>
            </a:r>
            <a:endParaRPr lang="zh-CN" altLang="en-US" sz="2000" dirty="0">
              <a:solidFill>
                <a:srgbClr val="000000"/>
              </a:solidFill>
              <a:effectLst/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endParaRPr lang="en-US" altLang="zh-CN" dirty="0">
              <a:solidFill>
                <a:srgbClr val="000000"/>
              </a:solidFill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 </a:t>
            </a:r>
          </a:p>
          <a:p>
            <a:endParaRPr lang="en-US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378A0DD1-5F84-F673-CD76-BF1E0B051297}"/>
              </a:ext>
            </a:extLst>
          </p:cNvPr>
          <p:cNvSpPr/>
          <p:nvPr/>
        </p:nvSpPr>
        <p:spPr>
          <a:xfrm>
            <a:off x="640077" y="5121783"/>
            <a:ext cx="8464165" cy="498348"/>
          </a:xfrm>
          <a:prstGeom prst="roundRect">
            <a:avLst>
              <a:gd name="adj" fmla="val 9412"/>
            </a:avLst>
          </a:prstGeom>
          <a:solidFill>
            <a:srgbClr val="C9A24B"/>
          </a:solidFill>
          <a:ln/>
        </p:spPr>
        <p:txBody>
          <a:bodyPr/>
          <a:lstStyle/>
          <a:p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如果一个语言存在浊塞音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(e.g.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/b,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d,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g/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，那么一定存在清塞音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(e.g.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/p,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t,</a:t>
            </a:r>
            <a:r>
              <a:rPr lang="zh-CN" altLang="en-US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k/)</a:t>
            </a:r>
            <a:endParaRPr lang="zh-CN" altLang="en-US" sz="2000" dirty="0">
              <a:solidFill>
                <a:srgbClr val="000000"/>
              </a:solidFill>
              <a:effectLst/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endParaRPr lang="en-US" altLang="zh-CN" dirty="0">
              <a:solidFill>
                <a:srgbClr val="000000"/>
              </a:solidFill>
              <a:latin typeface="Helvetica Neue" panose="02000503000000020004" pitchFamily="2" charset="0"/>
              <a:ea typeface="PingFang SC" panose="020B0400000000000000" pitchFamily="34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PingFang SC" panose="020B0400000000000000" pitchFamily="34" charset="-122"/>
              </a:rPr>
              <a:t> 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A127F1-2CBC-53E0-B523-4190877EE9A1}"/>
              </a:ext>
            </a:extLst>
          </p:cNvPr>
          <p:cNvSpPr txBox="1"/>
          <p:nvPr/>
        </p:nvSpPr>
        <p:spPr>
          <a:xfrm>
            <a:off x="6262172" y="745335"/>
            <a:ext cx="59298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一般性规律是基于经验的</a:t>
            </a:r>
            <a:r>
              <a:rPr lang="en-US" sz="2800" b="1" dirty="0" err="1">
                <a:solidFill>
                  <a:srgbClr val="FF000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归纳</a:t>
            </a:r>
            <a:r>
              <a:rPr lang="zh-CN" altLang="en-US" sz="28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，是对</a:t>
            </a:r>
            <a:endParaRPr lang="en-US" altLang="zh-CN" sz="2800" b="1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zh-CN" altLang="en-US" sz="28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单一事实的陈述</a:t>
            </a:r>
            <a:endParaRPr lang="en-US" sz="2800" b="1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A7FD59-3E02-4585-03F9-0F38B8E0C023}"/>
              </a:ext>
            </a:extLst>
          </p:cNvPr>
          <p:cNvSpPr txBox="1"/>
          <p:nvPr/>
        </p:nvSpPr>
        <p:spPr>
          <a:xfrm>
            <a:off x="6262172" y="1875961"/>
            <a:ext cx="59298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蕴含性规律是基于经验的</a:t>
            </a:r>
            <a:r>
              <a:rPr lang="en-US" sz="2800" b="1" dirty="0" err="1">
                <a:solidFill>
                  <a:srgbClr val="FF000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预测</a:t>
            </a:r>
            <a:r>
              <a:rPr lang="zh-CN" altLang="en-US" sz="28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，预测</a:t>
            </a:r>
            <a:endParaRPr lang="en-US" altLang="zh-CN" sz="2800" b="1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zh-CN" altLang="en-US" sz="28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现象之间的关联</a:t>
            </a:r>
            <a:endParaRPr lang="en-US" altLang="zh-CN" sz="2800" b="1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956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  <p:bldP spid="7" grpId="0" animBg="1"/>
      <p:bldP spid="8" grpId="0" animBg="1"/>
      <p:bldP spid="9" grpId="0" animBg="1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学术源起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格林伯格与语序共性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Joseph H. Greenberg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3991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《语言要素次序普遍性特论》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Some Universals of Grammar with Particular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to the Order of Meaningful Elements (1963/1966)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50792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基于对约 30 种语言语序特征的系统比较
</a:t>
            </a:r>
            <a:r>
              <a:rPr lang="en-US" sz="16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提出了 45 条跨语言共性，其中大部分是蕴含共性
</a:t>
            </a:r>
            <a:r>
              <a:rPr lang="en-US" sz="1600" b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开创了以大规模跨语言取样为基础的类型学方法
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经典范例：语序的相关性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2585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VSO 语序  ⊃  前置词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1576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动词居首的语言，倾向使用前置词（e.g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</a:t>
            </a: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介词in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22783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例：威尔士语、圣经希伯来语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397764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3A45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41788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SOV 语序  ⊃  后置词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6360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动词居末的语言，倾向使用后置词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51480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例：日语、土耳其语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学术源起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格林伯格与语序共性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79" y="1600200"/>
            <a:ext cx="5288281" cy="4800600"/>
          </a:xfrm>
          <a:prstGeom prst="roundRect">
            <a:avLst>
              <a:gd name="adj" fmla="val 2273"/>
            </a:avLst>
          </a:prstGeom>
          <a:solidFill>
            <a:srgbClr val="F4F6FB"/>
          </a:solidFill>
          <a:ln/>
        </p:spPr>
        <p:txBody>
          <a:bodyPr/>
          <a:lstStyle/>
          <a:p>
            <a:r>
              <a:rPr lang="en-US" b="1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前项</a:t>
            </a:r>
            <a:r>
              <a:rPr lang="zh-CN" altLang="en-US" b="1" dirty="0">
                <a:latin typeface="PingFang HK" panose="020B0400000000000000" pitchFamily="34" charset="-120"/>
                <a:ea typeface="PingFang HK" panose="020B0400000000000000" pitchFamily="34" charset="-120"/>
              </a:rPr>
              <a:t>：基本语序</a:t>
            </a:r>
            <a:endParaRPr lang="en-US" b="1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I型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：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VSO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（爱尔兰语）</a:t>
            </a:r>
            <a:endParaRPr lang="en-US" altLang="zh-CN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tógann</a:t>
            </a:r>
            <a:r>
              <a:rPr 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 	  </a:t>
            </a:r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Máire</a:t>
            </a:r>
            <a:r>
              <a:rPr 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	an	cat</a:t>
            </a:r>
          </a:p>
          <a:p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lift.PRES</a:t>
            </a:r>
            <a:r>
              <a:rPr 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  PN      ART      cat</a:t>
            </a:r>
          </a:p>
          <a:p>
            <a:r>
              <a:rPr 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V	  S        O</a:t>
            </a:r>
          </a:p>
          <a:p>
            <a:r>
              <a:rPr 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‘</a:t>
            </a:r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玛丽拎起了猫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。</a:t>
            </a:r>
            <a:r>
              <a:rPr 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’</a:t>
            </a:r>
          </a:p>
          <a:p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II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型：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SVO</a:t>
            </a:r>
          </a:p>
          <a:p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I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   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met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 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John</a:t>
            </a:r>
          </a:p>
          <a:p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S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  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V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    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O</a:t>
            </a:r>
          </a:p>
          <a:p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III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型：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SOV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（艾依努语，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Ainu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）</a:t>
            </a:r>
            <a:endParaRPr lang="en-US" altLang="zh-CN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kamuy	</a:t>
            </a:r>
            <a:r>
              <a:rPr lang="en-US" altLang="zh-CN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aynu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	</a:t>
            </a:r>
            <a:r>
              <a:rPr lang="en-US" altLang="zh-CN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rayke</a:t>
            </a:r>
            <a:endParaRPr lang="en-US" altLang="zh-CN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bear	person	kill</a:t>
            </a:r>
          </a:p>
          <a:p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S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       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	O	V</a:t>
            </a:r>
          </a:p>
          <a:p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‘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熊杀了人。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’	</a:t>
            </a:r>
          </a:p>
          <a:p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2636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经典范例：语序的相关性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2585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VSO 语序  ⊃  前置词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1576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动词居首的语言，倾向使用前置词（e.g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</a:t>
            </a: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介词in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22783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例：威尔士语、圣经希伯来语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397764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3A45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41788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SOV 语序  ⊃  后置词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6360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动词居末的语言，倾向使用后置词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51480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例：日语、土耳其语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846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学术源起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格林伯格与语序共性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4880" y="1783080"/>
            <a:ext cx="4462007" cy="4023360"/>
          </a:xfrm>
          <a:prstGeom prst="roundRect">
            <a:avLst>
              <a:gd name="adj" fmla="val 2273"/>
            </a:avLst>
          </a:prstGeom>
          <a:solidFill>
            <a:srgbClr val="F4F6FB"/>
          </a:solidFill>
          <a:ln/>
        </p:spPr>
        <p:txBody>
          <a:bodyPr/>
          <a:lstStyle/>
          <a:p>
            <a:r>
              <a:rPr lang="en-US" b="1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后项</a:t>
            </a:r>
            <a:r>
              <a:rPr lang="zh-CN" altLang="en-US" b="1" dirty="0">
                <a:latin typeface="PingFang HK" panose="020B0400000000000000" pitchFamily="34" charset="-120"/>
                <a:ea typeface="PingFang HK" panose="020B0400000000000000" pitchFamily="34" charset="-120"/>
              </a:rPr>
              <a:t>：介词</a:t>
            </a:r>
            <a:endParaRPr lang="en-US" altLang="zh-CN" b="1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前置词：</a:t>
            </a:r>
            <a:endParaRPr lang="en-US" altLang="zh-CN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dirty="0" err="1">
                <a:solidFill>
                  <a:srgbClr val="FF000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在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[</a:t>
            </a:r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桌子上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]</a:t>
            </a:r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dirty="0" err="1">
                <a:solidFill>
                  <a:srgbClr val="FF000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给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[</a:t>
            </a:r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我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]</a:t>
            </a:r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做饭</a:t>
            </a:r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dirty="0">
                <a:solidFill>
                  <a:srgbClr val="FF000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On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 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[the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 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table]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 </a:t>
            </a:r>
            <a:endParaRPr lang="en-US" altLang="zh-CN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From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 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home</a:t>
            </a:r>
          </a:p>
          <a:p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后置词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：</a:t>
            </a:r>
            <a:endParaRPr lang="en-US" altLang="zh-CN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艾依努语，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Ainu</a:t>
            </a:r>
          </a:p>
          <a:p>
            <a:r>
              <a:rPr lang="en-US" altLang="zh-CN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c</a:t>
            </a:r>
            <a:r>
              <a:rPr lang="en-US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ise</a:t>
            </a:r>
            <a:r>
              <a:rPr 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ta</a:t>
            </a:r>
          </a:p>
          <a:p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home	at</a:t>
            </a:r>
          </a:p>
          <a:p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‘</a:t>
            </a:r>
            <a:r>
              <a:rPr lang="zh-CN" altLang="en-US" dirty="0">
                <a:latin typeface="PingFang HK" panose="020B0400000000000000" pitchFamily="34" charset="-120"/>
                <a:ea typeface="PingFang HK" panose="020B0400000000000000" pitchFamily="34" charset="-120"/>
              </a:rPr>
              <a:t>在家</a:t>
            </a:r>
            <a:r>
              <a:rPr lang="en-US" altLang="zh-CN" dirty="0">
                <a:latin typeface="PingFang HK" panose="020B0400000000000000" pitchFamily="34" charset="-120"/>
                <a:ea typeface="PingFang HK" panose="020B0400000000000000" pitchFamily="34" charset="-120"/>
              </a:rPr>
              <a:t>’</a:t>
            </a:r>
            <a:endParaRPr lang="en-US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2636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经典范例：语序的相关性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2585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VSO 语序  ⊃  前置词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1576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动词居首的语言，倾向使用前置词（e.g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</a:t>
            </a: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介词in</a:t>
            </a: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22783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例：威尔士语、圣经希伯来语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397764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3A45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41788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SOV 语序  ⊃  后置词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6360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动词居末的语言，倾向使用后置词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51480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例：日语、土耳其语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33245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0BB4B7-9EDD-F616-EB15-5612D3FBDE2D}"/>
              </a:ext>
            </a:extLst>
          </p:cNvPr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altLang="zh-CN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分析工具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DC9248-C364-1D94-9D17-408F0E6C5709}"/>
              </a:ext>
            </a:extLst>
          </p:cNvPr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逻辑四分表</a:t>
            </a:r>
            <a:endParaRPr lang="en-US" sz="3000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D8426318-98E7-64A0-75F6-3D6AEC97DFE0}"/>
              </a:ext>
            </a:extLst>
          </p:cNvPr>
          <p:cNvSpPr/>
          <p:nvPr/>
        </p:nvSpPr>
        <p:spPr>
          <a:xfrm>
            <a:off x="792480" y="1759623"/>
            <a:ext cx="5303520" cy="1434415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If X, then </a:t>
            </a:r>
            <a:r>
              <a:rPr lang="en-US" altLang="zh-CN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Y</a:t>
            </a:r>
            <a:r>
              <a:rPr lang="en-US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     </a:t>
            </a:r>
            <a:r>
              <a:rPr lang="en-US" sz="2400" dirty="0" err="1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若X</a:t>
            </a:r>
            <a:r>
              <a:rPr lang="en-US" altLang="zh-CN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.</a:t>
            </a:r>
            <a:r>
              <a:rPr lang="zh-CN" altLang="en-US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 则</a:t>
            </a:r>
            <a:r>
              <a:rPr lang="en-US" altLang="zh-CN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Y</a:t>
            </a:r>
          </a:p>
          <a:p>
            <a:endParaRPr lang="en-US" sz="2400" dirty="0">
              <a:solidFill>
                <a:schemeClr val="bg1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en-US" altLang="zh-CN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X</a:t>
            </a:r>
            <a:r>
              <a:rPr lang="zh-CN" altLang="en-US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implies</a:t>
            </a:r>
            <a:r>
              <a:rPr lang="zh-CN" altLang="en-US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Y</a:t>
            </a:r>
            <a:r>
              <a:rPr lang="zh-CN" altLang="en-US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 （</a:t>
            </a:r>
            <a:r>
              <a:rPr lang="en-US" sz="2400" dirty="0">
                <a:solidFill>
                  <a:srgbClr val="CADCFC"/>
                </a:solidFill>
                <a:latin typeface="PingFang HK" panose="020B0400000000000000" pitchFamily="34" charset="-120"/>
                <a:ea typeface="PingFang HK" panose="020B0400000000000000" pitchFamily="34" charset="-120"/>
                <a:cs typeface="Microsoft YaHei" pitchFamily="34" charset="-120"/>
              </a:rPr>
              <a:t> X ⊃ Y </a:t>
            </a:r>
            <a:r>
              <a:rPr lang="zh-CN" altLang="en-US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） </a:t>
            </a:r>
            <a:r>
              <a:rPr lang="en-US" altLang="zh-CN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X</a:t>
            </a:r>
            <a:r>
              <a:rPr lang="zh-CN" altLang="en-US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蕴含</a:t>
            </a:r>
            <a:r>
              <a:rPr lang="en-US" altLang="zh-CN" sz="2400" dirty="0">
                <a:solidFill>
                  <a:schemeClr val="bg1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Y</a:t>
            </a:r>
            <a:endParaRPr lang="en-US" sz="2400" dirty="0">
              <a:solidFill>
                <a:schemeClr val="bg1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0239680-ED4C-5F46-B0FE-05AD9C1A8460}"/>
              </a:ext>
            </a:extLst>
          </p:cNvPr>
          <p:cNvSpPr/>
          <p:nvPr/>
        </p:nvSpPr>
        <p:spPr>
          <a:xfrm>
            <a:off x="731519" y="3546944"/>
            <a:ext cx="5616271" cy="1833439"/>
          </a:xfrm>
          <a:prstGeom prst="roundRect">
            <a:avLst>
              <a:gd name="adj" fmla="val 2273"/>
            </a:avLst>
          </a:prstGeom>
          <a:solidFill>
            <a:srgbClr val="F4F6FB"/>
          </a:solidFill>
          <a:ln/>
        </p:spPr>
        <p:txBody>
          <a:bodyPr/>
          <a:lstStyle/>
          <a:p>
            <a:r>
              <a:rPr lang="en-US" sz="2400" dirty="0">
                <a:latin typeface="PingFang HK" panose="020B0400000000000000" pitchFamily="34" charset="-120"/>
                <a:ea typeface="PingFang HK" panose="020B0400000000000000" pitchFamily="34" charset="-120"/>
              </a:rPr>
              <a:t>“</a:t>
            </a:r>
            <a:r>
              <a:rPr lang="en-US" sz="2400" dirty="0" err="1">
                <a:latin typeface="PingFang HK" panose="020B0400000000000000" pitchFamily="34" charset="-120"/>
                <a:ea typeface="PingFang HK" panose="020B0400000000000000" pitchFamily="34" charset="-120"/>
              </a:rPr>
              <a:t>黑天鹅假说</a:t>
            </a:r>
            <a:r>
              <a:rPr lang="en-US" sz="2400" dirty="0">
                <a:latin typeface="PingFang HK" panose="020B0400000000000000" pitchFamily="34" charset="-120"/>
                <a:ea typeface="PingFang HK" panose="020B0400000000000000" pitchFamily="34" charset="-120"/>
              </a:rPr>
              <a:t>”</a:t>
            </a:r>
            <a:r>
              <a:rPr lang="zh-CN" altLang="en-US" sz="2400" dirty="0">
                <a:latin typeface="PingFang HK" panose="020B0400000000000000" pitchFamily="34" charset="-120"/>
                <a:ea typeface="PingFang HK" panose="020B0400000000000000" pitchFamily="34" charset="-120"/>
              </a:rPr>
              <a:t>：</a:t>
            </a:r>
            <a:endParaRPr lang="en-US" altLang="zh-CN" sz="2400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endParaRPr lang="en-US" altLang="zh-CN" sz="2400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  <a:p>
            <a:r>
              <a:rPr lang="zh-CN" altLang="en-US" sz="2400" i="1" dirty="0">
                <a:latin typeface="PingFang HK" panose="020B0400000000000000" pitchFamily="34" charset="-120"/>
                <a:ea typeface="PingFang HK" panose="020B0400000000000000" pitchFamily="34" charset="-120"/>
              </a:rPr>
              <a:t>如果存在黑天鹅，那么一定存在白天鹅</a:t>
            </a:r>
            <a:endParaRPr lang="en-US" sz="2400" i="1" dirty="0"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151569-5683-81A3-F75A-61D773474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638129"/>
              </p:ext>
            </p:extLst>
          </p:nvPr>
        </p:nvGraphicFramePr>
        <p:xfrm>
          <a:off x="6828348" y="1360117"/>
          <a:ext cx="4571172" cy="1833440"/>
        </p:xfrm>
        <a:graphic>
          <a:graphicData uri="http://schemas.openxmlformats.org/drawingml/2006/table">
            <a:tbl>
              <a:tblPr/>
              <a:tblGrid>
                <a:gridCol w="2285586">
                  <a:extLst>
                    <a:ext uri="{9D8B030D-6E8A-4147-A177-3AD203B41FA5}">
                      <a16:colId xmlns:a16="http://schemas.microsoft.com/office/drawing/2014/main" val="62874418"/>
                    </a:ext>
                  </a:extLst>
                </a:gridCol>
                <a:gridCol w="2285586">
                  <a:extLst>
                    <a:ext uri="{9D8B030D-6E8A-4147-A177-3AD203B41FA5}">
                      <a16:colId xmlns:a16="http://schemas.microsoft.com/office/drawing/2014/main" val="1988233806"/>
                    </a:ext>
                  </a:extLst>
                </a:gridCol>
              </a:tblGrid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[X, Y]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*[X, ~Y]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706059"/>
                  </a:ext>
                </a:extLst>
              </a:tr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[~X, Y]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[~X, ~Y]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34433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03447F-49AC-380C-C864-8EE85C065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025731"/>
              </p:ext>
            </p:extLst>
          </p:nvPr>
        </p:nvGraphicFramePr>
        <p:xfrm>
          <a:off x="6783290" y="3600642"/>
          <a:ext cx="4677190" cy="2276717"/>
        </p:xfrm>
        <a:graphic>
          <a:graphicData uri="http://schemas.openxmlformats.org/drawingml/2006/table">
            <a:tbl>
              <a:tblPr/>
              <a:tblGrid>
                <a:gridCol w="2338595">
                  <a:extLst>
                    <a:ext uri="{9D8B030D-6E8A-4147-A177-3AD203B41FA5}">
                      <a16:colId xmlns:a16="http://schemas.microsoft.com/office/drawing/2014/main" val="44879621"/>
                    </a:ext>
                  </a:extLst>
                </a:gridCol>
                <a:gridCol w="2338595">
                  <a:extLst>
                    <a:ext uri="{9D8B030D-6E8A-4147-A177-3AD203B41FA5}">
                      <a16:colId xmlns:a16="http://schemas.microsoft.com/office/drawing/2014/main" val="3074971316"/>
                    </a:ext>
                  </a:extLst>
                </a:gridCol>
              </a:tblGrid>
              <a:tr h="114219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黑天鹅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, 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白天鹅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*[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黑天鹅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, 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~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白天鹅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3120472"/>
                  </a:ext>
                </a:extLst>
              </a:tr>
              <a:tr h="113452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~</a:t>
                      </a:r>
                      <a:r>
                        <a:rPr lang="zh-CN" alt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黑天鹅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, 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白天鹅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~</a:t>
                      </a:r>
                      <a:r>
                        <a:rPr lang="zh-CN" alt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黑天鹅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, 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~</a:t>
                      </a:r>
                      <a:r>
                        <a:rPr lang="zh-CN" alt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白天鹅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2637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949E7E6-62C7-AC14-5E51-56AB6BAB524D}"/>
              </a:ext>
            </a:extLst>
          </p:cNvPr>
          <p:cNvSpPr txBox="1"/>
          <p:nvPr/>
        </p:nvSpPr>
        <p:spPr>
          <a:xfrm>
            <a:off x="348533" y="6084452"/>
            <a:ext cx="8898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满足四分表中</a:t>
            </a:r>
            <a:r>
              <a:rPr lang="zh-CN" altLang="en-US" sz="2800" b="1" dirty="0">
                <a:solidFill>
                  <a:srgbClr val="002060"/>
                </a:solidFill>
                <a:latin typeface="PingFang HK" panose="020B0400000000000000" pitchFamily="34" charset="-120"/>
                <a:ea typeface="PingFang HK" panose="020B0400000000000000" pitchFamily="34" charset="-120"/>
              </a:rPr>
              <a:t>“四缺一”分布的共性满足“蕴含共性”条件</a:t>
            </a:r>
            <a:endParaRPr lang="en-US" sz="2800" b="1" dirty="0">
              <a:solidFill>
                <a:srgbClr val="002060"/>
              </a:solidFill>
              <a:latin typeface="PingFang HK" panose="020B0400000000000000" pitchFamily="34" charset="-120"/>
              <a:ea typeface="PingFang HK" panose="020B04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257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altLang="zh-CN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语序蕴含共性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3220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经典范例：语序的相关性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076351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84025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VSO 语序  ⊃ 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前置词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(Preposition,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641225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动词居首的语言</a:t>
            </a:r>
            <a:r>
              <a:rPr lang="en-US" sz="13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倾向使用前置词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119297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例：威尔士语、圣经希伯来语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069743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3A45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225191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SOV 语序  ⊃ 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后置词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(Postposition, Po)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6634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动词居末的语言，倾向使用后置词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1206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例：日语、土耳其语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53B3739-CD81-8972-1BCA-4962DEC5D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06214"/>
              </p:ext>
            </p:extLst>
          </p:nvPr>
        </p:nvGraphicFramePr>
        <p:xfrm>
          <a:off x="6828348" y="1360117"/>
          <a:ext cx="4571172" cy="1833440"/>
        </p:xfrm>
        <a:graphic>
          <a:graphicData uri="http://schemas.openxmlformats.org/drawingml/2006/table">
            <a:tbl>
              <a:tblPr/>
              <a:tblGrid>
                <a:gridCol w="2285586">
                  <a:extLst>
                    <a:ext uri="{9D8B030D-6E8A-4147-A177-3AD203B41FA5}">
                      <a16:colId xmlns:a16="http://schemas.microsoft.com/office/drawing/2014/main" val="62874418"/>
                    </a:ext>
                  </a:extLst>
                </a:gridCol>
                <a:gridCol w="2285586">
                  <a:extLst>
                    <a:ext uri="{9D8B030D-6E8A-4147-A177-3AD203B41FA5}">
                      <a16:colId xmlns:a16="http://schemas.microsoft.com/office/drawing/2014/main" val="1988233806"/>
                    </a:ext>
                  </a:extLst>
                </a:gridCol>
              </a:tblGrid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[VSO, 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Pr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*[VSO, 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~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Pr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706059"/>
                  </a:ext>
                </a:extLst>
              </a:tr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[~VSO, 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Pr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[~VSO, 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~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P</a:t>
                      </a:r>
                      <a:r>
                        <a:rPr lang="en-US" altLang="zh-CN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r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34433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B163379-5042-8594-0FDC-95F4C17CF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388075"/>
              </p:ext>
            </p:extLst>
          </p:nvPr>
        </p:nvGraphicFramePr>
        <p:xfrm>
          <a:off x="6843588" y="4069743"/>
          <a:ext cx="4571172" cy="1833440"/>
        </p:xfrm>
        <a:graphic>
          <a:graphicData uri="http://schemas.openxmlformats.org/drawingml/2006/table">
            <a:tbl>
              <a:tblPr/>
              <a:tblGrid>
                <a:gridCol w="2285586">
                  <a:extLst>
                    <a:ext uri="{9D8B030D-6E8A-4147-A177-3AD203B41FA5}">
                      <a16:colId xmlns:a16="http://schemas.microsoft.com/office/drawing/2014/main" val="62874418"/>
                    </a:ext>
                  </a:extLst>
                </a:gridCol>
                <a:gridCol w="2285586">
                  <a:extLst>
                    <a:ext uri="{9D8B030D-6E8A-4147-A177-3AD203B41FA5}">
                      <a16:colId xmlns:a16="http://schemas.microsoft.com/office/drawing/2014/main" val="1988233806"/>
                    </a:ext>
                  </a:extLst>
                </a:gridCol>
              </a:tblGrid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[SOV, P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o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*[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SOV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, 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~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Po]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706059"/>
                  </a:ext>
                </a:extLst>
              </a:tr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[~SO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V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, P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o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[~SOV, 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~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P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o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344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94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altLang="zh-CN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语序蕴含共性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93957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经典范例：语序的相关性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641225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837821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VSO 语序  ⊃ 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前置词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(Preposition,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37095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动词居首的语言</a:t>
            </a:r>
            <a:r>
              <a:rPr lang="en-US" sz="13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6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倾向使用前置词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0529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例：威尔士语、圣经希伯来语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53B3739-CD81-8972-1BCA-4962DEC5DE02}"/>
              </a:ext>
            </a:extLst>
          </p:cNvPr>
          <p:cNvGraphicFramePr>
            <a:graphicFrameLocks noGrp="1"/>
          </p:cNvGraphicFramePr>
          <p:nvPr/>
        </p:nvGraphicFramePr>
        <p:xfrm>
          <a:off x="6480313" y="1360117"/>
          <a:ext cx="5434320" cy="1833440"/>
        </p:xfrm>
        <a:graphic>
          <a:graphicData uri="http://schemas.openxmlformats.org/drawingml/2006/table">
            <a:tbl>
              <a:tblPr/>
              <a:tblGrid>
                <a:gridCol w="2717160">
                  <a:extLst>
                    <a:ext uri="{9D8B030D-6E8A-4147-A177-3AD203B41FA5}">
                      <a16:colId xmlns:a16="http://schemas.microsoft.com/office/drawing/2014/main" val="62874418"/>
                    </a:ext>
                  </a:extLst>
                </a:gridCol>
                <a:gridCol w="2717160">
                  <a:extLst>
                    <a:ext uri="{9D8B030D-6E8A-4147-A177-3AD203B41FA5}">
                      <a16:colId xmlns:a16="http://schemas.microsoft.com/office/drawing/2014/main" val="1988233806"/>
                    </a:ext>
                  </a:extLst>
                </a:gridCol>
              </a:tblGrid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[VSO, 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Pr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*[VSO, Po]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706059"/>
                  </a:ext>
                </a:extLst>
              </a:tr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S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VO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/SOV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, 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Pr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[SVO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/SOV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, Po]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34433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67109E-A2AF-77A6-F093-D6F75955AE49}"/>
              </a:ext>
            </a:extLst>
          </p:cNvPr>
          <p:cNvGraphicFramePr>
            <a:graphicFrameLocks noGrp="1"/>
          </p:cNvGraphicFramePr>
          <p:nvPr/>
        </p:nvGraphicFramePr>
        <p:xfrm>
          <a:off x="6794820" y="4049648"/>
          <a:ext cx="4571172" cy="1833440"/>
        </p:xfrm>
        <a:graphic>
          <a:graphicData uri="http://schemas.openxmlformats.org/drawingml/2006/table">
            <a:tbl>
              <a:tblPr/>
              <a:tblGrid>
                <a:gridCol w="2285586">
                  <a:extLst>
                    <a:ext uri="{9D8B030D-6E8A-4147-A177-3AD203B41FA5}">
                      <a16:colId xmlns:a16="http://schemas.microsoft.com/office/drawing/2014/main" val="62874418"/>
                    </a:ext>
                  </a:extLst>
                </a:gridCol>
                <a:gridCol w="2285586">
                  <a:extLst>
                    <a:ext uri="{9D8B030D-6E8A-4147-A177-3AD203B41FA5}">
                      <a16:colId xmlns:a16="http://schemas.microsoft.com/office/drawing/2014/main" val="1988233806"/>
                    </a:ext>
                  </a:extLst>
                </a:gridCol>
              </a:tblGrid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6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0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706059"/>
                  </a:ext>
                </a:extLst>
              </a:tr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10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14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3443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1C2DD8-A65C-3D90-DA4C-D11787E76521}"/>
              </a:ext>
            </a:extLst>
          </p:cNvPr>
          <p:cNvSpPr txBox="1"/>
          <p:nvPr/>
        </p:nvSpPr>
        <p:spPr>
          <a:xfrm>
            <a:off x="6824870" y="3591339"/>
            <a:ext cx="3264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Greenberg的</a:t>
            </a:r>
            <a:r>
              <a:rPr lang="en-US" altLang="zh-CN" dirty="0"/>
              <a:t>30</a:t>
            </a:r>
            <a:r>
              <a:rPr lang="zh-CN" altLang="en-US" dirty="0"/>
              <a:t>个语言样本中：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12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altLang="zh-CN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语序蕴含共性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50879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经典范例：语序的相关性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53B3739-CD81-8972-1BCA-4962DEC5D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929180"/>
              </p:ext>
            </p:extLst>
          </p:nvPr>
        </p:nvGraphicFramePr>
        <p:xfrm>
          <a:off x="6480313" y="1360117"/>
          <a:ext cx="5434320" cy="1833440"/>
        </p:xfrm>
        <a:graphic>
          <a:graphicData uri="http://schemas.openxmlformats.org/drawingml/2006/table">
            <a:tbl>
              <a:tblPr/>
              <a:tblGrid>
                <a:gridCol w="2717160">
                  <a:extLst>
                    <a:ext uri="{9D8B030D-6E8A-4147-A177-3AD203B41FA5}">
                      <a16:colId xmlns:a16="http://schemas.microsoft.com/office/drawing/2014/main" val="62874418"/>
                    </a:ext>
                  </a:extLst>
                </a:gridCol>
                <a:gridCol w="2717160">
                  <a:extLst>
                    <a:ext uri="{9D8B030D-6E8A-4147-A177-3AD203B41FA5}">
                      <a16:colId xmlns:a16="http://schemas.microsoft.com/office/drawing/2014/main" val="1988233806"/>
                    </a:ext>
                  </a:extLst>
                </a:gridCol>
              </a:tblGrid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[SOV, P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o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*[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SOV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, 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Pr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706059"/>
                  </a:ext>
                </a:extLst>
              </a:tr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[VSO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/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S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VO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, P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o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[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VSO/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SV</a:t>
                      </a:r>
                      <a:r>
                        <a:rPr lang="en-US" altLang="zh-CN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O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, </a:t>
                      </a:r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P</a:t>
                      </a:r>
                      <a:r>
                        <a:rPr lang="en-US" altLang="zh-CN" sz="2800" dirty="0" err="1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r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]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34433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67109E-A2AF-77A6-F093-D6F75955A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390498"/>
              </p:ext>
            </p:extLst>
          </p:nvPr>
        </p:nvGraphicFramePr>
        <p:xfrm>
          <a:off x="6794820" y="4049648"/>
          <a:ext cx="4571172" cy="1833440"/>
        </p:xfrm>
        <a:graphic>
          <a:graphicData uri="http://schemas.openxmlformats.org/drawingml/2006/table">
            <a:tbl>
              <a:tblPr/>
              <a:tblGrid>
                <a:gridCol w="2285586">
                  <a:extLst>
                    <a:ext uri="{9D8B030D-6E8A-4147-A177-3AD203B41FA5}">
                      <a16:colId xmlns:a16="http://schemas.microsoft.com/office/drawing/2014/main" val="62874418"/>
                    </a:ext>
                  </a:extLst>
                </a:gridCol>
                <a:gridCol w="2285586">
                  <a:extLst>
                    <a:ext uri="{9D8B030D-6E8A-4147-A177-3AD203B41FA5}">
                      <a16:colId xmlns:a16="http://schemas.microsoft.com/office/drawing/2014/main" val="1988233806"/>
                    </a:ext>
                  </a:extLst>
                </a:gridCol>
              </a:tblGrid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11</a:t>
                      </a:r>
                      <a:endParaRPr lang="en-US" sz="2800" dirty="0"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0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PingFang HK" panose="020B0400000000000000" pitchFamily="34" charset="-120"/>
                        <a:ea typeface="PingFang HK" panose="020B0400000000000000" pitchFamily="34" charset="-12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706059"/>
                  </a:ext>
                </a:extLst>
              </a:tr>
              <a:tr h="91672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3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/>
                          <a:latin typeface="PingFang HK" panose="020B0400000000000000" pitchFamily="34" charset="-120"/>
                          <a:ea typeface="PingFang HK" panose="020B0400000000000000" pitchFamily="34" charset="-120"/>
                        </a:rPr>
                        <a:t>16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3443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1C2DD8-A65C-3D90-DA4C-D11787E76521}"/>
              </a:ext>
            </a:extLst>
          </p:cNvPr>
          <p:cNvSpPr txBox="1"/>
          <p:nvPr/>
        </p:nvSpPr>
        <p:spPr>
          <a:xfrm>
            <a:off x="6824870" y="3591339"/>
            <a:ext cx="3264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Greenberg的</a:t>
            </a:r>
            <a:r>
              <a:rPr lang="en-US" altLang="zh-CN" dirty="0"/>
              <a:t>30</a:t>
            </a:r>
            <a:r>
              <a:rPr lang="zh-CN" altLang="en-US" dirty="0"/>
              <a:t>个语言样本中：</a:t>
            </a:r>
            <a:endParaRPr lang="en-US" dirty="0"/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8DCB4FC2-9F64-7B92-8CD9-C587BE35E11E}"/>
              </a:ext>
            </a:extLst>
          </p:cNvPr>
          <p:cNvSpPr/>
          <p:nvPr/>
        </p:nvSpPr>
        <p:spPr>
          <a:xfrm>
            <a:off x="568303" y="3004227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3A4593"/>
          </a:solidFill>
          <a:ln/>
        </p:spPr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FFB4B9F8-FC9E-FF36-747A-CACFE7D8724A}"/>
              </a:ext>
            </a:extLst>
          </p:cNvPr>
          <p:cNvSpPr txBox="1"/>
          <p:nvPr/>
        </p:nvSpPr>
        <p:spPr>
          <a:xfrm>
            <a:off x="777240" y="3193557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SOV 语序  ⊃ 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后置词</a:t>
            </a: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(Postposition, PO)</a:t>
            </a:r>
            <a:endParaRPr lang="en-US" sz="20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1B2B0791-4200-5ED8-45A1-1D2102BCFF26}"/>
              </a:ext>
            </a:extLst>
          </p:cNvPr>
          <p:cNvSpPr txBox="1"/>
          <p:nvPr/>
        </p:nvSpPr>
        <p:spPr>
          <a:xfrm>
            <a:off x="914400" y="3709745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动词居末的语言，倾向使用后置词</a:t>
            </a:r>
            <a:endParaRPr lang="en-US" sz="1600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595DA5C3-BBE8-A509-9B12-A0360384372A}"/>
              </a:ext>
            </a:extLst>
          </p:cNvPr>
          <p:cNvSpPr txBox="1"/>
          <p:nvPr/>
        </p:nvSpPr>
        <p:spPr>
          <a:xfrm>
            <a:off x="914400" y="4121225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例：日语、土耳其语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6600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数范畴层级（Number Hierarchy）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蕴含关系：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若一种语言在语法上区分“三数”，则它必然也区分“双数”；若区分“双数”，则必然也区分“复数”；若区分“复数”，则必然区分“单数”。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22174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651760"/>
            <a:ext cx="20711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单数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Singular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 rot="10800000">
            <a:off x="3040380" y="3035808"/>
            <a:ext cx="548640" cy="237744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8" name="Shape 6"/>
          <p:cNvSpPr/>
          <p:nvPr/>
        </p:nvSpPr>
        <p:spPr>
          <a:xfrm>
            <a:off x="3589020" y="2651760"/>
            <a:ext cx="22174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62172" y="2651760"/>
            <a:ext cx="20711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复数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Plural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 rot="10800000">
            <a:off x="5806440" y="3035808"/>
            <a:ext cx="548640" cy="237744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651760"/>
            <a:ext cx="22174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28232" y="2651760"/>
            <a:ext cx="20711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双数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Dual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 rot="10800000">
            <a:off x="8572500" y="3035808"/>
            <a:ext cx="548640" cy="237744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4" name="Shape 12"/>
          <p:cNvSpPr/>
          <p:nvPr/>
        </p:nvSpPr>
        <p:spPr>
          <a:xfrm>
            <a:off x="9121140" y="2651760"/>
            <a:ext cx="2217420" cy="1005840"/>
          </a:xfrm>
          <a:prstGeom prst="roundRect">
            <a:avLst>
              <a:gd name="adj" fmla="val 7273"/>
            </a:avLst>
          </a:prstGeom>
          <a:solidFill>
            <a:srgbClr val="C9A24B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94292" y="2651760"/>
            <a:ext cx="20711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三数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Trial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箭头方向表示“蕴含存在”：</a:t>
            </a:r>
            <a:r>
              <a:rPr lang="en-US" sz="1600" i="1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右侧范畴的存在以左侧范畴的存在为前提</a:t>
            </a:r>
            <a:r>
              <a:rPr lang="zh-CN" altLang="en-US" sz="1600" i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，右侧范畴蕴含左侧范畴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跨语言例证  </a:t>
            </a:r>
            <a:r>
              <a:rPr lang="en-US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斯洛文尼亚语等区分单数、复数、双数</a:t>
            </a:r>
            <a:r>
              <a:rPr lang="zh-CN" altLang="en-US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altLang="zh-CN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=2</a:t>
            </a:r>
            <a:r>
              <a:rPr lang="zh-CN" altLang="en-US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r>
              <a:rPr lang="en-US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三套形式；许多大洋洲语言（如斐济语的部分方言）进一步区分三数</a:t>
            </a:r>
            <a:r>
              <a:rPr lang="zh-CN" altLang="en-US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altLang="zh-CN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=3</a:t>
            </a:r>
            <a:r>
              <a:rPr lang="zh-CN" altLang="en-US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r>
              <a:rPr lang="en-US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；而绝大多数语言只区分单、复数——层级越靠右的范畴，跨语言分布越受限、标记性也越强。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altLang="zh-CN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1200" b="1" kern="0" spc="200" dirty="0" err="1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名词短语可及性层级（NPAH）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Keenan &amp; Comrie (1977)：关系从句的形成能力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21792" y="2057400"/>
            <a:ext cx="1453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主语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 rot="10800000">
            <a:off x="2148840" y="2464308"/>
            <a:ext cx="292608" cy="237744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8" name="Shape 6"/>
          <p:cNvSpPr/>
          <p:nvPr/>
        </p:nvSpPr>
        <p:spPr>
          <a:xfrm>
            <a:off x="2441448" y="20574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14600" y="2057400"/>
            <a:ext cx="1453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直接宾语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 rot="10800000">
            <a:off x="4041648" y="2464308"/>
            <a:ext cx="292608" cy="237744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1" name="Shape 9"/>
          <p:cNvSpPr/>
          <p:nvPr/>
        </p:nvSpPr>
        <p:spPr>
          <a:xfrm>
            <a:off x="4334256" y="20574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07408" y="2057400"/>
            <a:ext cx="1453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间接宾语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 rot="10800000">
            <a:off x="5934456" y="2464308"/>
            <a:ext cx="292608" cy="237744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27064" y="20574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00216" y="2057400"/>
            <a:ext cx="1453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旁语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OBL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 rot="10800000">
            <a:off x="7827264" y="2464308"/>
            <a:ext cx="292608" cy="237744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9872" y="20574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193024" y="2057400"/>
            <a:ext cx="1453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属格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 rot="10800000">
            <a:off x="9720072" y="2464308"/>
            <a:ext cx="292608" cy="237744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12680" y="20574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C9A24B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085832" y="2057400"/>
            <a:ext cx="1453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比较宾语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OCOMP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290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蕴含关系：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若一种语言能够对层级中某一位置进行关系化（构造关系从句），则它必然也能对该位置左侧的所有位置进行关系化。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343400"/>
            <a:ext cx="10972800" cy="2196548"/>
          </a:xfrm>
          <a:prstGeom prst="roundRect">
            <a:avLst>
              <a:gd name="adj" fmla="val 4324"/>
            </a:avLst>
          </a:prstGeom>
          <a:solidFill>
            <a:srgbClr val="F4F6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526280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  </a:t>
            </a:r>
            <a:r>
              <a:rPr lang="en-US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英语可以对层级中几乎所有位置关系化（“the man [who wears a hat] / the book [that I read] /the student [whom Mary gave a book to] / the man [whom Mary spoke with]/ the friend [whose car broke]/ ?? The man [who John is older than]”）；</a:t>
            </a:r>
            <a:endParaRPr lang="en-US" dirty="0"/>
          </a:p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而有些语言（如部分马来—波利尼西亚语言）只能对主语位置关系化，宾语等位置需借助其他策略（如代词复指）来表达对应的语义关系。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altLang="zh-CN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蕴含的方向性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单向蕴含 与 双向蕴含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单向蕴含  Unidirectional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060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⊃ Y，但 Y 不必然蕴含 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6324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绝大多数蕴含共性属于这一类型：前项是比后项更“强”、分布更受限的特征。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11480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例：有双数 ⊃ 有复数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（有复数的语言未必有双数）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5074920" cy="3931920"/>
          </a:xfrm>
          <a:prstGeom prst="roundRect">
            <a:avLst>
              <a:gd name="adj" fmla="val 2326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21031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双向蕴含  Bidirectional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6060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6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⊃ Y 且 Y ⊃ X（X ⟺ Y）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06324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较为少见、更强的断言：两个特征互为条件，几乎总是同现或同缺。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97764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双向蕴含相当于把两条单向蕴含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合并在一起，跨语言验证的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门槛也更高，需要更谨慎地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检验反例</a:t>
            </a: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lnSpc>
                <a:spcPct val="135000"/>
              </a:lnSpc>
              <a:buNone/>
            </a:pPr>
            <a:endParaRPr lang="en-US" sz="1300" dirty="0">
              <a:solidFill>
                <a:srgbClr val="5A647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</a:t>
            </a:r>
            <a:r>
              <a:rPr lang="zh-CN" alt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：黑天鹅 </a:t>
            </a: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⊃</a:t>
            </a:r>
            <a:r>
              <a:rPr lang="zh-CN" alt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sz="1300" dirty="0" err="1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白天鹅</a:t>
            </a:r>
            <a:r>
              <a:rPr lang="zh-CN" alt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且 白天鹅 </a:t>
            </a:r>
            <a:r>
              <a:rPr 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⊃</a:t>
            </a:r>
            <a:r>
              <a:rPr lang="zh-CN" alt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zh-CN" altLang="en-US" sz="13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黑天鹅</a:t>
            </a:r>
            <a:endParaRPr lang="en-US" sz="1300" dirty="0">
              <a:solidFill>
                <a:srgbClr val="5A6472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>
              <a:lnSpc>
                <a:spcPct val="135000"/>
              </a:lnSpc>
              <a:buNone/>
            </a:pPr>
            <a:endParaRPr lang="en-US" sz="1300" dirty="0">
              <a:solidFill>
                <a:srgbClr val="5A6472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altLang="zh-CN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解释视角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蕴含共性从何而来？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功能／认知解释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375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语言结构服务于交际效率：象似性（iconicity）、加工经济性等原则，使某些特征组合更容易被习得和使用。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7889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历时／语法化解释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3375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许多共现模式源于共同的历史演变路径——某一特征往往是另一特征语法化过程中的必经阶段。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7889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概率／分布解释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3375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蕴含共性描述的是跨语言分布上的强烈倾向，反映语言系统在可能的结构空间中并非均匀分布。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919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三种解释并不互斥——大多数蕴含共性可以同时从功能动因和历时来源两个角度获得支持。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r>
              <a:rPr lang="en-US" sz="1200" b="1" kern="0" spc="200" dirty="0">
                <a:solidFill>
                  <a:srgbClr val="C9A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相关概念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蕴含共性与标记性（Markedness）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43285" y="1572768"/>
            <a:ext cx="1136639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 err="1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在许多蕴含链中，</a:t>
            </a:r>
            <a:r>
              <a:rPr lang="en-US" sz="15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位于蕴含链“右侧”的范畴往往是更有标记的（marked</a:t>
            </a: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r>
              <a:rPr lang="zh-CN" altLang="en-US" sz="1500" b="1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但在双项蕴含式中，右侧范畴更无标记（</a:t>
            </a:r>
            <a:r>
              <a:rPr lang="en-US" altLang="zh-CN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unmarked)</a:t>
            </a:r>
            <a:r>
              <a:rPr lang="zh-CN" alt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</a:rPr>
              <a:t>：</a:t>
            </a:r>
            <a:endParaRPr lang="en-US" sz="1500" b="1" dirty="0">
              <a:solidFill>
                <a:srgbClr val="1E2761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分布更受限、习得更晚、形式上往往更复杂或更长。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0515600" cy="82296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743200"/>
            <a:ext cx="2628900" cy="822960"/>
          </a:xfrm>
          <a:prstGeom prst="roundRect">
            <a:avLst>
              <a:gd name="adj" fmla="val 50000"/>
            </a:avLst>
          </a:prstGeom>
          <a:solidFill>
            <a:srgbClr val="E9EDF7"/>
          </a:solidFill>
          <a:ln/>
        </p:spPr>
      </p:sp>
      <p:sp>
        <p:nvSpPr>
          <p:cNvPr id="7" name="Shape 5"/>
          <p:cNvSpPr/>
          <p:nvPr/>
        </p:nvSpPr>
        <p:spPr>
          <a:xfrm>
            <a:off x="3451860" y="2743200"/>
            <a:ext cx="2628900" cy="822960"/>
          </a:xfrm>
          <a:prstGeom prst="rect">
            <a:avLst/>
          </a:prstGeom>
          <a:solidFill>
            <a:srgbClr val="C3CFEA"/>
          </a:solidFill>
          <a:ln/>
        </p:spPr>
      </p:sp>
      <p:sp>
        <p:nvSpPr>
          <p:cNvPr id="8" name="Shape 6"/>
          <p:cNvSpPr/>
          <p:nvPr/>
        </p:nvSpPr>
        <p:spPr>
          <a:xfrm>
            <a:off x="6080760" y="2743200"/>
            <a:ext cx="2628900" cy="822960"/>
          </a:xfrm>
          <a:prstGeom prst="rect">
            <a:avLst/>
          </a:prstGeom>
          <a:solidFill>
            <a:srgbClr val="8FA2D6"/>
          </a:solidFill>
          <a:ln/>
        </p:spPr>
      </p:sp>
      <p:sp>
        <p:nvSpPr>
          <p:cNvPr id="9" name="Shape 7"/>
          <p:cNvSpPr/>
          <p:nvPr/>
        </p:nvSpPr>
        <p:spPr>
          <a:xfrm>
            <a:off x="8709660" y="2743200"/>
            <a:ext cx="26289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743200"/>
            <a:ext cx="10515600" cy="822960"/>
          </a:xfrm>
          <a:prstGeom prst="roundRect">
            <a:avLst>
              <a:gd name="adj" fmla="val 50000"/>
            </a:avLst>
          </a:prstGeom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743200"/>
            <a:ext cx="26289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单数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2743200"/>
            <a:ext cx="26289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复数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2743200"/>
            <a:ext cx="26289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双数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8709660" y="2743200"/>
            <a:ext cx="26289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三数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850392" y="393411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标记性递增 →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46634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  </a:t>
            </a:r>
            <a:r>
              <a:rPr lang="en-US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蕴含共性不仅是一条统计规律，也为“标记性”这一类型学核心概念提供了可操作的跨语言检验标准：无标记范畴应处于蕴含链的起点，且在语言库中分布更广。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49C805-617B-0B0B-2BAD-83BA8A53AFA3}"/>
              </a:ext>
            </a:extLst>
          </p:cNvPr>
          <p:cNvSpPr txBox="1"/>
          <p:nvPr/>
        </p:nvSpPr>
        <p:spPr>
          <a:xfrm>
            <a:off x="1261506" y="3840480"/>
            <a:ext cx="1935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无标记</a:t>
            </a:r>
            <a:r>
              <a:rPr lang="zh-CN" altLang="en-US" dirty="0"/>
              <a:t>  </a:t>
            </a:r>
            <a:r>
              <a:rPr lang="en-US" altLang="zh-CN" dirty="0"/>
              <a:t>unmarked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2BF7FD-2187-2DD8-C6EE-9FD475970C21}"/>
              </a:ext>
            </a:extLst>
          </p:cNvPr>
          <p:cNvSpPr txBox="1"/>
          <p:nvPr/>
        </p:nvSpPr>
        <p:spPr>
          <a:xfrm>
            <a:off x="9291327" y="3855979"/>
            <a:ext cx="1639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有标记</a:t>
            </a:r>
            <a:r>
              <a:rPr lang="zh-CN" altLang="en-US" dirty="0"/>
              <a:t> </a:t>
            </a:r>
            <a:r>
              <a:rPr lang="en-US" altLang="zh-CN" dirty="0"/>
              <a:t>marked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小结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07592" y="2258568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蕴含共性用来描写语言特征之间的相关性</a:t>
            </a:r>
            <a:endParaRPr lang="en-US" sz="2400" dirty="0">
              <a:solidFill>
                <a:srgbClr val="CADCFC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2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401568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构成蕴含关系的特征可以是两个</a:t>
            </a:r>
            <a:r>
              <a:rPr lang="zh-CN" alt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（基本语序与介词），也可以是多个（构成类型学层级）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544568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蕴含关系可以是单向的</a:t>
            </a:r>
            <a:r>
              <a:rPr lang="zh-CN" alt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</a:rPr>
              <a:t>，也可以是双向的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延伸阅读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01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Greenberg, J. H. (1963). Some Universals of Grammar with Particular Reference to the Order of Meaningful Elements. In J</a:t>
            </a:r>
            <a:r>
              <a:rPr lang="en-US" altLang="zh-CN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r>
              <a:rPr lang="zh-CN" alt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H.</a:t>
            </a:r>
            <a:r>
              <a:rPr lang="zh-CN" alt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Greenberg</a:t>
            </a:r>
            <a:r>
              <a:rPr lang="zh-CN" alt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(ed)</a:t>
            </a:r>
            <a:r>
              <a:rPr lang="zh-CN" alt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Universals of Language</a:t>
            </a:r>
            <a:r>
              <a:rPr lang="en-US" altLang="zh-CN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</a:t>
            </a:r>
            <a:r>
              <a:rPr lang="zh-CN" alt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73-113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r>
              <a:rPr lang="zh-CN" alt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London:</a:t>
            </a:r>
            <a:r>
              <a:rPr lang="zh-CN" alt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</a:t>
            </a:r>
            <a:r>
              <a:rPr lang="zh-CN" alt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press.</a:t>
            </a:r>
            <a:r>
              <a:rPr lang="zh-CN" alt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88136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7157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Keenan, E. L. &amp; Comrie, B. (1977). Noun Phrase Accessibility and Universal Grammar. Linguistic Inquiry 8(1)</a:t>
            </a:r>
            <a:r>
              <a:rPr lang="en-US" altLang="zh-CN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</a:t>
            </a:r>
            <a:r>
              <a:rPr lang="zh-CN" alt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63-99</a:t>
            </a: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088136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6301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Comrie, B. (1989). Language Universals and Linguistic Typology (2nd ed.). Blackwell.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088136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5445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Croft, W. (2003). Typology and Universals (2nd ed.). Cambridge University Press.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WHU 语言类型学  ·  LinType  ·  2026 秋季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2514</TotalTime>
  <Words>1525</Words>
  <Application>Microsoft Macintosh PowerPoint</Application>
  <PresentationFormat>Widescreen</PresentationFormat>
  <Paragraphs>334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Microsoft YaHei</vt:lpstr>
      <vt:lpstr>PingFang HK</vt:lpstr>
      <vt:lpstr>Apple Color Emoji</vt:lpstr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 Li</cp:lastModifiedBy>
  <cp:revision>25</cp:revision>
  <dcterms:created xsi:type="dcterms:W3CDTF">2026-09-14T08:19:47Z</dcterms:created>
  <dcterms:modified xsi:type="dcterms:W3CDTF">2026-09-18T05:37:25Z</dcterms:modified>
</cp:coreProperties>
</file>